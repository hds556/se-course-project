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49c16b90d54b9f" /><Relationship Type="http://schemas.openxmlformats.org/officeDocument/2006/relationships/extended-properties" Target="/docProps/app.xml" Id="Rfafa429bbed645c5" /><Relationship Type="http://schemas.openxmlformats.org/officeDocument/2006/relationships/officeDocument" Target="/ppt/presentation.xml" Id="Rf4702e3fc482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b8280ccd0422d"/>
  </p:sldMasterIdLst>
  <p:notesMasterIdLst>
    <p:notesMasterId xmlns:r="http://schemas.openxmlformats.org/officeDocument/2006/relationships" r:id="R713792bc34e44061"/>
  </p:notesMasterIdLst>
  <p:sldIdLst>
    <p:sldId xmlns:r="http://schemas.openxmlformats.org/officeDocument/2006/relationships" id="256" r:id="Rec927a7dfd024aa7"/>
    <p:sldId xmlns:r="http://schemas.openxmlformats.org/officeDocument/2006/relationships" id="257" r:id="R10e4b662ee884e54"/>
    <p:sldId xmlns:r="http://schemas.openxmlformats.org/officeDocument/2006/relationships" id="258" r:id="R055e1bf96442498b"/>
    <p:sldId xmlns:r="http://schemas.openxmlformats.org/officeDocument/2006/relationships" id="259" r:id="R621a004b34284337"/>
    <p:sldId xmlns:r="http://schemas.openxmlformats.org/officeDocument/2006/relationships" id="260" r:id="Rac0cd2f48ae24d7e"/>
    <p:sldId xmlns:r="http://schemas.openxmlformats.org/officeDocument/2006/relationships" id="261" r:id="Rb6e8c2ce0cad42bb"/>
    <p:sldId xmlns:r="http://schemas.openxmlformats.org/officeDocument/2006/relationships" id="262" r:id="Ra7d480454e1e4493"/>
    <p:sldId xmlns:r="http://schemas.openxmlformats.org/officeDocument/2006/relationships" id="263" r:id="Rd4fd8e0d1ec24eee"/>
    <p:sldId xmlns:r="http://schemas.openxmlformats.org/officeDocument/2006/relationships" id="264" r:id="R08ec5450cb4d4de6"/>
    <p:sldId xmlns:r="http://schemas.openxmlformats.org/officeDocument/2006/relationships" id="265" r:id="Rfd999138609e468b"/>
    <p:sldId xmlns:r="http://schemas.openxmlformats.org/officeDocument/2006/relationships" id="266" r:id="R1b85be6b75444232"/>
    <p:sldId xmlns:r="http://schemas.openxmlformats.org/officeDocument/2006/relationships" id="267" r:id="R1c13bc963bdb41d2"/>
    <p:sldId xmlns:r="http://schemas.openxmlformats.org/officeDocument/2006/relationships" id="268" r:id="R5b530ebb4fae474d"/>
    <p:sldId xmlns:r="http://schemas.openxmlformats.org/officeDocument/2006/relationships" id="269" r:id="Rc5633505f17c4f6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73528087a44319" /><Relationship Type="http://schemas.openxmlformats.org/officeDocument/2006/relationships/slideMaster" Target="/ppt/slideMasters/slideMaster1.xml" Id="Ra90b8280ccd0422d" /><Relationship Type="http://schemas.openxmlformats.org/officeDocument/2006/relationships/notesMaster" Target="/ppt/notesMasters/notesMaster1.xml" Id="R713792bc34e44061" /><Relationship Type="http://schemas.openxmlformats.org/officeDocument/2006/relationships/presProps" Target="/ppt/presProps.xml" Id="Rd117a60a90564a7a" /><Relationship Type="http://schemas.openxmlformats.org/officeDocument/2006/relationships/tableStyles" Target="/ppt/tableStyles.xml" Id="Rabc8031f6b8b485a" /><Relationship Type="http://schemas.openxmlformats.org/officeDocument/2006/relationships/slide" Target="/ppt/slides/slide1.xml" Id="Rec927a7dfd024aa7" /><Relationship Type="http://schemas.openxmlformats.org/officeDocument/2006/relationships/slide" Target="/ppt/slides/slide2.xml" Id="R10e4b662ee884e54" /><Relationship Type="http://schemas.openxmlformats.org/officeDocument/2006/relationships/slide" Target="/ppt/slides/slide3.xml" Id="R055e1bf96442498b" /><Relationship Type="http://schemas.openxmlformats.org/officeDocument/2006/relationships/slide" Target="/ppt/slides/slide4.xml" Id="R621a004b34284337" /><Relationship Type="http://schemas.openxmlformats.org/officeDocument/2006/relationships/slide" Target="/ppt/slides/slide5.xml" Id="Rac0cd2f48ae24d7e" /><Relationship Type="http://schemas.openxmlformats.org/officeDocument/2006/relationships/slide" Target="/ppt/slides/slide6.xml" Id="Rb6e8c2ce0cad42bb" /><Relationship Type="http://schemas.openxmlformats.org/officeDocument/2006/relationships/slide" Target="/ppt/slides/slide7.xml" Id="Ra7d480454e1e4493" /><Relationship Type="http://schemas.openxmlformats.org/officeDocument/2006/relationships/slide" Target="/ppt/slides/slide8.xml" Id="Rd4fd8e0d1ec24eee" /><Relationship Type="http://schemas.openxmlformats.org/officeDocument/2006/relationships/slide" Target="/ppt/slides/slide9.xml" Id="R08ec5450cb4d4de6" /><Relationship Type="http://schemas.openxmlformats.org/officeDocument/2006/relationships/slide" Target="/ppt/slides/slide10.xml" Id="Rfd999138609e468b" /><Relationship Type="http://schemas.openxmlformats.org/officeDocument/2006/relationships/slide" Target="/ppt/slides/slide11.xml" Id="R1b85be6b75444232" /><Relationship Type="http://schemas.openxmlformats.org/officeDocument/2006/relationships/slide" Target="/ppt/slides/slide12.xml" Id="R1c13bc963bdb41d2" /><Relationship Type="http://schemas.openxmlformats.org/officeDocument/2006/relationships/slide" Target="/ppt/slides/slide13.xml" Id="R5b530ebb4fae474d" /><Relationship Type="http://schemas.openxmlformats.org/officeDocument/2006/relationships/slide" Target="/ppt/slides/slide14.xml" Id="Rc5633505f17c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da9ec85b0d48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cd42e93d514d82" /><Relationship Type="http://schemas.openxmlformats.org/officeDocument/2006/relationships/notesMaster" Target="/ppt/notesMasters/notesMaster1.xml" Id="R666f5f78da9e47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6ca7b5f0b74367" /><Relationship Type="http://schemas.openxmlformats.org/officeDocument/2006/relationships/notesMaster" Target="/ppt/notesMasters/notesMaster1.xml" Id="R5125db496fbc4c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cc2bbdf83546b2" /><Relationship Type="http://schemas.openxmlformats.org/officeDocument/2006/relationships/notesMaster" Target="/ppt/notesMasters/notesMaster1.xml" Id="R24dc89a78b7d40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9829a4c74a4729" /><Relationship Type="http://schemas.openxmlformats.org/officeDocument/2006/relationships/notesMaster" Target="/ppt/notesMasters/notesMaster1.xml" Id="R25474553b8ff4f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df61da39434d49" /><Relationship Type="http://schemas.openxmlformats.org/officeDocument/2006/relationships/notesMaster" Target="/ppt/notesMasters/notesMaster1.xml" Id="Rf45495182b2e49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cd3dbb14b54a21" /><Relationship Type="http://schemas.openxmlformats.org/officeDocument/2006/relationships/notesMaster" Target="/ppt/notesMasters/notesMaster1.xml" Id="Rcbf3b77ae2f74e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158e06624b4645" /><Relationship Type="http://schemas.openxmlformats.org/officeDocument/2006/relationships/notesMaster" Target="/ppt/notesMasters/notesMaster1.xml" Id="R522d8b3d80b644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cbf6cdc544afc" /><Relationship Type="http://schemas.openxmlformats.org/officeDocument/2006/relationships/notesMaster" Target="/ppt/notesMasters/notesMaster1.xml" Id="R6017eaa7768b42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54f497bec24f0e" /><Relationship Type="http://schemas.openxmlformats.org/officeDocument/2006/relationships/notesMaster" Target="/ppt/notesMasters/notesMaster1.xml" Id="R25e8f73b6cbb4b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c0aa119dc24842" /><Relationship Type="http://schemas.openxmlformats.org/officeDocument/2006/relationships/notesMaster" Target="/ppt/notesMasters/notesMaster1.xml" Id="Rbc33806a210045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3afd234fec48bc" /><Relationship Type="http://schemas.openxmlformats.org/officeDocument/2006/relationships/notesMaster" Target="/ppt/notesMasters/notesMaster1.xml" Id="Rddef4b609a7842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6162b2eaa44f1c" /><Relationship Type="http://schemas.openxmlformats.org/officeDocument/2006/relationships/notesMaster" Target="/ppt/notesMasters/notesMaster1.xml" Id="R5322767f0d8249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ee64820fdb48eb" /><Relationship Type="http://schemas.openxmlformats.org/officeDocument/2006/relationships/notesMaster" Target="/ppt/notesMasters/notesMaster1.xml" Id="Rcdc684ddb07f46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3d9b8870f94eec" /><Relationship Type="http://schemas.openxmlformats.org/officeDocument/2006/relationships/notesMaster" Target="/ppt/notesMasters/notesMaster1.xml" Id="Rb4156e76af434c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本次负责六组商品相关任务，各有设计和开发两项。以用户提供的 SRS V2.0 与需求分析 V3.5 为依据。汇报中的页面来自隔离本地运行，旧版基线为 Git HEAD 382a974。客户与交易模块尚需团队联调，最后一页会说明边界。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任务编号来自用户复制的“指派给我”清单。每个模块都提供独立设计文档，开发代码统一放在项目源码目录。没有读取任务详情页的额外描述，也没有把禅道状态改为完成。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在首页直接展示当前唯一商品。发布第二件商品要等上一件成交，购买意向通过姓名、电话与口令码管理。画面为基线源码在独立数据库上的实际运行截图，不是重新绘制的原型。截图来源：10_修改前单商品页面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#22283、#22284 和 FR-C-01。旧版首页没有多商品目录。本次实现卡片网格、二级类别筛选和分页。卡片只出现名称、价格、主图和类别，库存与描述只在详情出现。冻结和下架商品在服务端查询时排除。截图来源：02_新版多商品列表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#22281、#22282 和 FR-C-02。图中搜索 CLASSIC，能找到描述含 Classic 的相机，说明描述纯文本和不区分大小写的逻辑实际生效。类别名只用于筛选，不参与关键字匹配。LIKE 的百分号和下划线按字面字符处理。截图来源：03_描述关键词搜索.jpg。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#22279、#22280 和 FR-C-03。详情页与列表分离，可以直接通过商品 URL 打开。商品图按上传顺序切换，第一张为主图，描述可以使用加粗和内嵌图片。图片中的演示素材沿用项目原有 demo-product.jpg。三张商品图为同一演示素材的独立上传，用于验证全部图片的入口及顺序。截图来源：06_商品详情与富媒体.jpg。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#22261、#22262 和 FR-S-03。新增类别表，parent_id 为空表示一级类别，二级类别只能选择一级作为父类。新增、改名、删除均校验卖家登录。已有商品或子类别的节点不能直接删除。按 SRS 第四章 BR-11 优先规则，关联下架商品同样需要先改挂，文档中的验收举例存在冲突，已在设计文档记录。截图来源：14_二级类别管理.jpg。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#22263、#22264 和 FR-S-04。旧版限制一件未售出商品。新版允许连续发布多件商品，新增库存和类别字段。描述与商品图改为选填，图片最多九张，描述插图独立上传。价格使用整数分持久化。字段错误后保留输入。截图来源：18_新版发布表单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#22265、#22266 和 FR-S-05。界面只开放库存与所属类别，不出现名称、价格、描述和图片的编辑控件。API 同样拒绝附加字段。编辑请求携带版本号，防止旧窗口覆盖新修改。实际操作已将相机库存由三改为五，并把类别从相机改挂到配件，证据见截图17与22。当前页截图来源：16_仅库存与类别可编辑.jpg。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冻结商品直链，右图是下架商品详情。冻结商品保留只读详情，下架详情返回404。冻结状态由隔离测试数据库夹具设置，没有通过真实交易流程产生，不能把这张图作为交易模块已经完成的证据。截图来源：08_冻结商品直链只读.jpg、09_下架商品禁止访问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后端保留 Java17、Spring Boot 与 SQLite。CatalogService 承担六个模块的规则，CatalogController 暴露新版路由。新增字段均用于本次需求。旧商品缺少库存或类别时不直接进入新目录，避免猜测历史数据。旧匿名意向不导入，已有数据库中的旧记录不删除，旧接口停用。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一轮集成测试为23项，失败0、错误0、跳过0。测试使用独立临时SQLite库。覆盖价格边界、图片格式和数量、冻结/下架可见性、搜索、分页、编辑版本及鉴权。图中是通过真实发布表单输入价格0后，服务端返回的字段级错误。完整测试报告保存在验证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对照内容来自基线代码和本次实现，不包含客户与交易模块的完成承诺。旧版的手动冻结和口令码流程与新版规格冲突，因此旧路由返回410。新功能按明确任务范围提供，完整系统仍需客户及交易模块联调。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果物目录中提供六份设计、开发交付说明、验证记录、22张截图、汇报PPT和讲稿。源码留在标准源代码位置，便于团队合并。仍需客户模块接入账号与提交意向，交易模块接入交易状态与库存归零时的逐条处置。绑定交易时当前调零返回409作为保护。重新上架和手动下架不属于本次六组任务。禅道状态没有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4649fae8e44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d95b156c44a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aa147166141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e72787fc449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33c8ff63a48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89388cf0846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999D21-C57E-4339-8746-34B80448C8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DF74EF-A3AF-4F26-92FF-6FAD7825B9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9EC17D-6839-4786-A75A-7821E35BDB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610C30-F327-44A2-BD21-5EFEE20730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E0A260-4F5C-4BB5-AFFF-0774AF9FCC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CD2B6D-1C9E-430D-80A0-796FE39F0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8668E5-EC03-40F2-8219-C38C253FB0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0DE4B9-7E5F-40EB-A164-D502CD5522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A8E4CA-8995-4D73-8B0A-72B6F8C508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3880AB-82D5-4C35-972B-04F84DD8CB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85d6fec55a48c2" /><Relationship Type="http://schemas.openxmlformats.org/officeDocument/2006/relationships/slideLayout" Target="/ppt/slideLayouts/slideLayout1.xml" Id="Rbefdf3bd149b457a" /><Relationship Type="http://schemas.openxmlformats.org/officeDocument/2006/relationships/slideLayout" Target="/ppt/slideLayouts/slideLayout2.xml" Id="Rd2a7473721db489a" /><Relationship Type="http://schemas.openxmlformats.org/officeDocument/2006/relationships/slideLayout" Target="/ppt/slideLayouts/slideLayout3.xml" Id="R3c5ce64157394a63" /><Relationship Type="http://schemas.openxmlformats.org/officeDocument/2006/relationships/slideLayout" Target="/ppt/slideLayouts/slideLayout4.xml" Id="Reda62f1353234673" /><Relationship Type="http://schemas.openxmlformats.org/officeDocument/2006/relationships/slideLayout" Target="/ppt/slideLayouts/slideLayout5.xml" Id="Rc557d1a3ebc947b2" /><Relationship Type="http://schemas.openxmlformats.org/officeDocument/2006/relationships/slideLayout" Target="/ppt/slideLayouts/slideLayout6.xml" Id="R3297a732ea7d47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fdf3bd149b457a"/>
    <p:sldLayoutId xmlns:r="http://schemas.openxmlformats.org/officeDocument/2006/relationships" id="2147483650" r:id="Rd2a7473721db489a"/>
    <p:sldLayoutId xmlns:r="http://schemas.openxmlformats.org/officeDocument/2006/relationships" id="2147483651" r:id="R3c5ce64157394a63"/>
    <p:sldLayoutId xmlns:r="http://schemas.openxmlformats.org/officeDocument/2006/relationships" id="2147483652" r:id="Reda62f1353234673"/>
    <p:sldLayoutId xmlns:r="http://schemas.openxmlformats.org/officeDocument/2006/relationships" id="2147483653" r:id="Rc557d1a3ebc947b2"/>
    <p:sldLayoutId xmlns:r="http://schemas.openxmlformats.org/officeDocument/2006/relationships" id="2147483654" r:id="R3297a732ea7d47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fe01c7a1e4e35" /><Relationship Type="http://schemas.openxmlformats.org/officeDocument/2006/relationships/notesSlide" Target="/ppt/notesSlides/notesSlide1.xml" Id="Rce6298bbcbdf4c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1f7ea57834e08" /><Relationship Type="http://schemas.openxmlformats.org/officeDocument/2006/relationships/notesSlide" Target="/ppt/notesSlides/notesSlide2.xml" Id="R2ffe58e950f044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282c00e834ba5" /><Relationship Type="http://schemas.openxmlformats.org/officeDocument/2006/relationships/image" Target="/ppt/media/image.jpeg" Id="R0fc2a60190774afb" /><Relationship Type="http://schemas.openxmlformats.org/officeDocument/2006/relationships/notesSlide" Target="/ppt/notesSlides/notesSlide3.xml" Id="Rb95bf08e055b4e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21f9211cd943a2" /><Relationship Type="http://schemas.openxmlformats.org/officeDocument/2006/relationships/image" Target="/ppt/media/image2.jpeg" Id="R724ffdd3aadc4500" /><Relationship Type="http://schemas.openxmlformats.org/officeDocument/2006/relationships/notesSlide" Target="/ppt/notesSlides/notesSlide4.xml" Id="R0296b4ff871d43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a68ff1e254538" /><Relationship Type="http://schemas.openxmlformats.org/officeDocument/2006/relationships/image" Target="/ppt/media/image3.jpeg" Id="Ra2c25bc7374047c6" /><Relationship Type="http://schemas.openxmlformats.org/officeDocument/2006/relationships/notesSlide" Target="/ppt/notesSlides/notesSlide5.xml" Id="Re0eb270584b3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6147510604cc8" /><Relationship Type="http://schemas.openxmlformats.org/officeDocument/2006/relationships/image" Target="/ppt/media/image4.jpeg" Id="R12db46a79c2649d6" /><Relationship Type="http://schemas.openxmlformats.org/officeDocument/2006/relationships/notesSlide" Target="/ppt/notesSlides/notesSlide6.xml" Id="R86d25d7fd4b14c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65ba2bdb94911" /><Relationship Type="http://schemas.openxmlformats.org/officeDocument/2006/relationships/image" Target="/ppt/media/image5.jpeg" Id="Rae8da9443b744498" /><Relationship Type="http://schemas.openxmlformats.org/officeDocument/2006/relationships/notesSlide" Target="/ppt/notesSlides/notesSlide7.xml" Id="R562b81f2308d46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860cecfae4ce1" /><Relationship Type="http://schemas.openxmlformats.org/officeDocument/2006/relationships/image" Target="/ppt/media/image6.jpeg" Id="Rcb2e9072bed8408a" /><Relationship Type="http://schemas.openxmlformats.org/officeDocument/2006/relationships/notesSlide" Target="/ppt/notesSlides/notesSlide8.xml" Id="R75233129028340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c2c8e38ec4396" /><Relationship Type="http://schemas.openxmlformats.org/officeDocument/2006/relationships/image" Target="/ppt/media/image7.jpeg" Id="R8afd2035ce5f496f" /><Relationship Type="http://schemas.openxmlformats.org/officeDocument/2006/relationships/notesSlide" Target="/ppt/notesSlides/notesSlide9.xml" Id="R84ab9d45d99f47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8a0bc5e57e41b8" /><Relationship Type="http://schemas.openxmlformats.org/officeDocument/2006/relationships/image" Target="/ppt/media/image8.jpeg" Id="R62f1581867254c32" /><Relationship Type="http://schemas.openxmlformats.org/officeDocument/2006/relationships/image" Target="/ppt/media/image9.jpeg" Id="R40a76039dfed4013" /><Relationship Type="http://schemas.openxmlformats.org/officeDocument/2006/relationships/notesSlide" Target="/ppt/notesSlides/notesSlide10.xml" Id="Rbd36eee9c0d848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8f02316f64007" /><Relationship Type="http://schemas.openxmlformats.org/officeDocument/2006/relationships/notesSlide" Target="/ppt/notesSlides/notesSlide11.xml" Id="Re1ddc8ef5cb74b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5aa83f96f4277" /><Relationship Type="http://schemas.openxmlformats.org/officeDocument/2006/relationships/image" Target="/ppt/media/image10.jpeg" Id="R6db1c875f6764882" /><Relationship Type="http://schemas.openxmlformats.org/officeDocument/2006/relationships/notesSlide" Target="/ppt/notesSlides/notesSlide12.xml" Id="Rcfd81c13c3bd4d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7e6ebec2194f4b" /><Relationship Type="http://schemas.openxmlformats.org/officeDocument/2006/relationships/notesSlide" Target="/ppt/notesSlides/notesSlide13.xml" Id="R0acbc81b8c6d47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29db865f24b78" /><Relationship Type="http://schemas.openxmlformats.org/officeDocument/2006/relationships/notesSlide" Target="/ppt/notesSlides/notesSlide14.xml" Id="R2f9b817e243d45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6337F-5EA0-4896-A6C9-8C81554F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商品模块设计与开发汇报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EE843-5B69-49E4-929E-0726E4E1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AA54B-AD59-41F5-94A6-9E44212A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257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6 组功能</a:t>
            </a:r>
          </a:p>
          <a:p xmlns:a="http://schemas.openxmlformats.org/drawingml/2006/main">
            <a:pPr>
              <a:def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12 项禅道任务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3EB5C-F237-4154-95D1-B2EF6423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276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列表浏览、搜索、详情、二级类别、发布与编辑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F4E30-EFBC-4459-BCA1-E736FF60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48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需求规格说明书 V2.0</a:t>
            </a:r>
          </a:p>
          <a:p xmlns:a="http://schemas.openxmlformats.org/drawingml/2006/main">
            <a:pPr>
              <a:def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需求分析文档 V3.5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11B92-DA24-47E8-9D21-670B8C8A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390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2026 年 10 月 29 日</a:t>
            </a:r>
          </a:p>
        </p:txBody>
      </p:sp>
    </p:spTree>
    <p:extLst>
      <p:ext uri="{BB962C8B-B14F-4D97-AF65-F5344CB8AC3E}">
        <p14:creationId xmlns:p14="http://schemas.microsoft.com/office/powerpoint/2010/main" val="1588798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AD33B-0273-4931-A5E4-AEBBFFB5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我的任务范围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B5BC0-8D5E-4FB1-BEF0-C5244C91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EEC92-C269-40A5-B63A-D13BE333B90A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3716000" cy="547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762250"/>
                <a:gridCol w="2762250"/>
                <a:gridCol w="3905250"/>
              </a:tblGrid>
              <a:tr h="78241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设计任务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开发任务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需求编号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</a:tr>
              <a:tr h="78241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二级类别管理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FR-S-03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</a:tr>
              <a:tr h="78241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发布商品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FR-S-04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</a:tr>
              <a:tr h="78241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编辑商品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FR-S-05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</a:tr>
              <a:tr h="78241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查看商品详情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FR-C-03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</a:tr>
              <a:tr h="78241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商品搜索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FR-C-02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</a:tr>
              <a:tr h="78241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商品列表浏览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22284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FR-C-01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B0CBD-8CF1-4ED1-BEDB-2DB991E4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524750"/>
            <a:ext cx="1285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本次交付商品模块。客户、下单与交易流程由团队继续接入。</a:t>
            </a:r>
          </a:p>
        </p:txBody>
      </p:sp>
    </p:spTree>
    <p:extLst>
      <p:ext uri="{BB962C8B-B14F-4D97-AF65-F5344CB8AC3E}">
        <p14:creationId xmlns:p14="http://schemas.microsoft.com/office/powerpoint/2010/main" val="141197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10853-18B6-4F76-8F32-6986B7D5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修改前的单商品基线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ACF93-ED7B-4ADA-8BCC-BE554BEA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2F87E-3BB4-4A92-B6D4-6CBB2D3C1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2a60190774afb"/>
          <a:stretch xmlns:a="http://schemas.openxmlformats.org/drawingml/2006/main"/>
        </p:blipFill>
        <p:spPr>
          <a:xfrm xmlns:a="http://schemas.openxmlformats.org/drawingml/2006/main">
            <a:off x="666750" y="1881188"/>
            <a:ext cx="8763000" cy="5476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02DE6-E639-48C6-BA8F-DB14B50C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668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商品范围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2E113-56F0-4C4B-A633-E0E5229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38375"/>
            <a:ext cx="428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一次只展示一件商品，无法按类别浏览。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C767E-7CFE-4483-B672-D2681B26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媒体与发布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193CB-144D-41C1-B3E3-DFE1A48F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48125"/>
            <a:ext cx="428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商品只有一张图片，描述和图片都要求填写。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3EDFD-DCFA-406F-B4C4-96D41616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863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新版变化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908AB-153F-472A-B5C4-F85B8CA4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57875"/>
            <a:ext cx="428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改用多商品列表、独立详情和库存分类管理。</a:t>
            </a:r>
          </a:p>
        </p:txBody>
      </p:sp>
    </p:spTree>
    <p:extLst>
      <p:ext uri="{BB962C8B-B14F-4D97-AF65-F5344CB8AC3E}">
        <p14:creationId xmlns:p14="http://schemas.microsoft.com/office/powerpoint/2010/main" val="563241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50F99-E1CD-4B7C-B8C7-DE4C8957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商品列表浏览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0302F-A726-4CAC-95AD-42295E7B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73CF8-FE23-4240-A5C2-407937E4D3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ffdd3aadc4500"/>
          <a:stretch xmlns:a="http://schemas.openxmlformats.org/drawingml/2006/main"/>
        </p:blipFill>
        <p:spPr>
          <a:xfrm xmlns:a="http://schemas.openxmlformats.org/drawingml/2006/main">
            <a:off x="1770784" y="1666875"/>
            <a:ext cx="6840682" cy="5953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EB94F-5687-4CD2-B587-58AC4871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66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展示范围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CA8F0-9F03-47AD-B25D-3685A936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只返回在售且有库存的商品。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F4941-05B3-414E-A6FF-C5B2BB60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浏览方式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0D2FD-F652-4403-9469-16B546C7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4812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二级类别筛选，默认每页 12 件，按发布时间倒序。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1E4D6-C3FD-47E9-BE01-8FC28A2C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8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空图处理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C0F46-C20D-4A29-A7F2-5B33997D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578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未上传图片时显示本地占位图。</a:t>
            </a:r>
          </a:p>
        </p:txBody>
      </p:sp>
    </p:spTree>
    <p:extLst>
      <p:ext uri="{BB962C8B-B14F-4D97-AF65-F5344CB8AC3E}">
        <p14:creationId xmlns:p14="http://schemas.microsoft.com/office/powerpoint/2010/main" val="1200473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65F67-4BD2-4646-9097-9704B6D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名称与描述搜索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86F4B-2A3F-448F-AC9E-4B3F460B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0B89A-99B6-4169-B72F-D3F2C734FD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25bc7374047c6"/>
          <a:stretch xmlns:a="http://schemas.openxmlformats.org/drawingml/2006/main"/>
        </p:blipFill>
        <p:spPr>
          <a:xfrm xmlns:a="http://schemas.openxmlformats.org/drawingml/2006/main">
            <a:off x="619125" y="2039134"/>
            <a:ext cx="9144000" cy="52086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B737F-6868-4FC9-A05D-9E3C96B8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66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匹配字段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BEBCB-9725-4C63-810F-F581D905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商品名称与净化后的描述纯文本。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76118-754A-4CF9-8A74-102F235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查询语义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52B3E-CB9B-4973-853E-4920DEAC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4812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模糊包含，不区分大小写，空关键词返回全部在售。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B8BFA-4400-4E45-A6F3-A87625BA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8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无结果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06B41-81B7-4F56-9EC1-D1517E47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578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显示明确提示，保留条件，可一键重置。</a:t>
            </a:r>
          </a:p>
        </p:txBody>
      </p:sp>
    </p:spTree>
    <p:extLst>
      <p:ext uri="{BB962C8B-B14F-4D97-AF65-F5344CB8AC3E}">
        <p14:creationId xmlns:p14="http://schemas.microsoft.com/office/powerpoint/2010/main" val="843995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0A8EC-4D48-43D7-A83A-86E3C69E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详情、多图与富媒体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0666E-E30B-4CFC-AC47-7A18ECD3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84FC1-F489-4596-BBCF-9CE3D74FA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b46a79c2649d6"/>
          <a:stretch xmlns:a="http://schemas.openxmlformats.org/drawingml/2006/main"/>
        </p:blipFill>
        <p:spPr>
          <a:xfrm xmlns:a="http://schemas.openxmlformats.org/drawingml/2006/main">
            <a:off x="619125" y="1911028"/>
            <a:ext cx="9334500" cy="546481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B0C98-2300-448F-82CB-D01299CC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668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新增信息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39C2F-65DE-4E17-A11E-CDB3078B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38375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类别、库存、全部商品图和富媒体描述。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6CE40-2DD5-44DA-B69E-1BCFD761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76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媒体安全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05336-EF71-476F-9E34-D7BA1F57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48125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服务端净化富文本，移除脚本、事件和外链。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B4C7C-84C7-4395-9983-56C69A5D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86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访问规则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ADE96-51E8-4AC3-8A0C-AF85EDB8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57875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在售可看，冻结直链只读，下架返回 404。</a:t>
            </a:r>
          </a:p>
        </p:txBody>
      </p:sp>
    </p:spTree>
    <p:extLst>
      <p:ext uri="{BB962C8B-B14F-4D97-AF65-F5344CB8AC3E}">
        <p14:creationId xmlns:p14="http://schemas.microsoft.com/office/powerpoint/2010/main" val="1856533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A3AB8-D593-45CB-8C25-F81655CF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二级类别管理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95C9C-90EF-4B7B-A94B-E8C5C0C8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B2064-053B-4923-A0CB-DF82254C7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da9443b744498"/>
          <a:stretch xmlns:a="http://schemas.openxmlformats.org/drawingml/2006/main"/>
        </p:blipFill>
        <p:spPr>
          <a:xfrm xmlns:a="http://schemas.openxmlformats.org/drawingml/2006/main">
            <a:off x="619125" y="2015321"/>
            <a:ext cx="9144000" cy="52086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C3976-4E7D-4236-8168-B779D92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66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结构约束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48938-2F69-4205-9708-B4FAA1D8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最多两级，商品绑定二级类别。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A98E7-1959-4A65-8532-AC78C753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可维护操作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800E0-2BB0-44B8-A28B-6DEB5818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4812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新增、重命名、删除，归属创建后固定。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9FF3B-2DC4-4F8D-94C1-FB9E754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8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引用保护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E361B-2A4B-4DDF-BEC4-295EF605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578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挂有商品先改挂，有子类别先处理子类别。</a:t>
            </a:r>
          </a:p>
        </p:txBody>
      </p:sp>
    </p:spTree>
    <p:extLst>
      <p:ext uri="{BB962C8B-B14F-4D97-AF65-F5344CB8AC3E}">
        <p14:creationId xmlns:p14="http://schemas.microsoft.com/office/powerpoint/2010/main" val="1257983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53D72-D962-4DBB-8C86-698439B8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发布商品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EFD91-E9D2-4E20-96CC-384BE33D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069C6-72B5-4447-A6F3-3357B721C9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e9072bed8408a"/>
          <a:stretch xmlns:a="http://schemas.openxmlformats.org/drawingml/2006/main"/>
        </p:blipFill>
        <p:spPr>
          <a:xfrm xmlns:a="http://schemas.openxmlformats.org/drawingml/2006/main">
            <a:off x="1312388" y="1666875"/>
            <a:ext cx="7757474" cy="5953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E68DF-8CBB-47C1-A795-47A7D85C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66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必填字段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45369-BE16-4FA5-86B4-64F792E2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名称、价格、二级类别、库存。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937D8-69B6-4B9C-9A4C-77BB904D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发布限制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404D7-CDE1-440F-B449-58E3C6E4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4812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库存至少 1，价格最高 9,999,999.99 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8FE24-EF41-473C-964D-ED116BB1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8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图片规则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B1E4B-C6EE-4121-B7D6-E09C8AEA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578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最多 9 张 JPG/PNG，单张最多 5MB，主图取第一张。</a:t>
            </a:r>
          </a:p>
        </p:txBody>
      </p:sp>
    </p:spTree>
    <p:extLst>
      <p:ext uri="{BB962C8B-B14F-4D97-AF65-F5344CB8AC3E}">
        <p14:creationId xmlns:p14="http://schemas.microsoft.com/office/powerpoint/2010/main" val="1147221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9D0AA-3036-4DC3-85DB-0FC1DAEE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库存与类别编辑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C4E70-405F-436A-908C-EFCFD982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4B3FA-0C91-4B7B-BB75-ABCBD5E825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d2035ce5f496f"/>
          <a:stretch xmlns:a="http://schemas.openxmlformats.org/drawingml/2006/main"/>
        </p:blipFill>
        <p:spPr>
          <a:xfrm xmlns:a="http://schemas.openxmlformats.org/drawingml/2006/main">
            <a:off x="2727225" y="1666875"/>
            <a:ext cx="4927800" cy="5953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2D520-E561-4076-9A4F-4CDD1A0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66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编辑边界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B4010-8D91-4A2B-AC3B-DA8A21A7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仅库存与类别，其他发布字段保持固定。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2A341-6434-4FCE-AAB5-343E71A5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并发保护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C9996-4427-4813-8D62-C38D9BCF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4812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更新携带 version，陈旧版本返回 409。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FA191-0023-41B5-B223-1398DDF6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8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调零行为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373B1-6301-439A-A9E9-059D5111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57875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在售库存改为 0，自动进入售罄下架。</a:t>
            </a:r>
          </a:p>
        </p:txBody>
      </p:sp>
    </p:spTree>
    <p:extLst>
      <p:ext uri="{BB962C8B-B14F-4D97-AF65-F5344CB8AC3E}">
        <p14:creationId xmlns:p14="http://schemas.microsoft.com/office/powerpoint/2010/main" val="6745964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E8F7F-3A4B-456C-91C8-95BE0525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状态访问的实际证据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BF849-7C6E-4B68-B3A8-ACC49CE9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DBC3D-24BB-4A06-BB1A-6D318BD076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1581867254c32"/>
          <a:stretch xmlns:a="http://schemas.openxmlformats.org/drawingml/2006/main"/>
        </p:blipFill>
        <p:spPr>
          <a:xfrm xmlns:a="http://schemas.openxmlformats.org/drawingml/2006/main">
            <a:off x="751417" y="2000250"/>
            <a:ext cx="6688667" cy="4381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8BB4C-2A8F-4381-88B1-F018F088A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76039dfed4013"/>
          <a:stretch xmlns:a="http://schemas.openxmlformats.org/drawingml/2006/main"/>
        </p:blipFill>
        <p:spPr>
          <a:xfrm xmlns:a="http://schemas.openxmlformats.org/drawingml/2006/main">
            <a:off x="7762875" y="2288977"/>
            <a:ext cx="6762750" cy="380404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0B996-6462-4543-90D4-86CC3615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冻结：列表隐藏，直链可查看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2C090-624C-4D12-A749-1C92396C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6675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下架：详情不可访问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6DCCF-7BD1-42B9-91A5-316C203C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477125"/>
            <a:ext cx="1314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冻结截图使用状态夹具，真实交易流程仍待团队接入</a:t>
            </a:r>
          </a:p>
        </p:txBody>
      </p:sp>
    </p:spTree>
    <p:extLst>
      <p:ext uri="{BB962C8B-B14F-4D97-AF65-F5344CB8AC3E}">
        <p14:creationId xmlns:p14="http://schemas.microsoft.com/office/powerpoint/2010/main" val="21269207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140B0-C3AA-4074-8FCB-6123BB5A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实现结构与数据变化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21444-7012-4088-A19D-BBF97384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CBF0C-59A4-4D01-B874-8A0F7DBC8C6B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3716000" cy="542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5238750"/>
                <a:gridCol w="4857750"/>
              </a:tblGrid>
              <a:tr h="775607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新增或调整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category 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/ name / parent_id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维护两级类别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 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stock / category_id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库存与分类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 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images_json / description_text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有序多图与描述搜索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 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避免陈旧编辑覆盖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商品状态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depleted / withdrawn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区分售罄与手动下架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后端模块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CatalogService / Controller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统一约束及字段级错误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6178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B3725-3455-4FD9-A644-E9422694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验证结果与异常提示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F8A3E-204B-4826-915B-771CB7C0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B9226-900C-4A48-BCD5-F7EF0232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23 项通过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00A7F-8B87-4D3C-8A6C-A91BA43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0 失败   0 错误   0 跳过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126C7-F40D-48D0-A73D-B040356B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90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检查重点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价格与图片边界</a:t>
            </a:r>
          </a:p>
          <a:p xmlns:a="http://schemas.openxmlformats.org/drawingml/2006/main">
            <a: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状态可见性</a:t>
            </a:r>
          </a:p>
          <a:p xmlns:a="http://schemas.openxmlformats.org/drawingml/2006/main">
            <a: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仅库存与类别可编辑</a:t>
            </a:r>
          </a:p>
          <a:p xmlns:a="http://schemas.openxmlformats.org/drawingml/2006/main">
            <a: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旧接口无法绕过新版规则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28852-132C-4299-BA00-9815A96F9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1c875f6764882"/>
          <a:stretch xmlns:a="http://schemas.openxmlformats.org/drawingml/2006/main"/>
        </p:blipFill>
        <p:spPr>
          <a:xfrm xmlns:a="http://schemas.openxmlformats.org/drawingml/2006/main">
            <a:off x="6953250" y="2268517"/>
            <a:ext cx="7620000" cy="470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09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7D6C5-362F-4AB1-9359-45F63B0B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修改前后对照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807B4-ADBA-499B-AFF0-E9B0C8E3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8F9CA-A956-4BA3-B077-F176BAC5F560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371600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667250"/>
                <a:gridCol w="6000750"/>
              </a:tblGrid>
              <a:tr h="78921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本次修改后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T w="9525">
                      <a:solidFill>
                        <a:srgbClr val="E5DDD2"/>
                      </a:solidFill>
                    </a:lnT>
                    <a:lnB w="9525">
                      <a:solidFill>
                        <a:srgbClr val="E5DDD2"/>
                      </a:solidFill>
                    </a:lnB>
                    <a:solidFill>
                      <a:srgbClr val="A64F37"/>
                    </a:solidFill>
                  </a:tcPr>
                </a:tc>
              </a:tr>
              <a:tr h="7892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商品浏览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单一当前商品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多商品、分类筛选与分页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</a:tr>
              <a:tr h="7892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无搜索入口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名称与描述纯文本模糊匹配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</a:tr>
              <a:tr h="7892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商品媒体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单张图片，描述必填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0～9 张图，富文本与内嵌图片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</a:tr>
              <a:tr h="7892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发布与编辑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发布受当前商品限制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多商品发布，仅库存/类别可改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</a:tr>
              <a:tr h="7892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分类与库存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没有两级类别与库存字段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两级类别、库存归零自动下架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FFDFA"/>
                    </a:solidFill>
                  </a:tcPr>
                </a:tc>
              </a:tr>
              <a:tr h="78921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旧入口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DD2"/>
                      </a:solidFill>
                    </a:lnL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匿名意向、口令码、手动冻结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2C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封禁旧接口，等待新版团队联调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DD2"/>
                      </a:solidFill>
                    </a:lnR>
                    <a:lnB w="9525">
                      <a:solidFill>
                        <a:srgbClr val="E5DDD2"/>
                      </a:solidFill>
                    </a:lnB>
                    <a:solidFill>
                      <a:srgbClr val="F0EBE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3554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AFB86-CA1F-47E6-9904-BD422FB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交付成果与联调事项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FAE73-5412-4933-89F3-8A8FFA6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629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6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5C274-05AA-4D16-AEFA-6FDA595E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交付内容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A95D9-B0AC-4003-B05D-CDCC6B05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619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6 份独立设计文档</a:t>
            </a:r>
          </a:p>
          <a:p xmlns:a="http://schemas.openxmlformats.org/drawingml/2006/main">
            <a: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开发说明与接口约定</a:t>
            </a:r>
          </a:p>
          <a:p xmlns:a="http://schemas.openxmlformats.org/drawingml/2006/main">
            <a: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23 项集成测试及报告</a:t>
            </a:r>
          </a:p>
          <a:p xmlns:a="http://schemas.openxmlformats.org/drawingml/2006/main">
            <a: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22 张页面截图</a:t>
            </a:r>
          </a:p>
          <a:p xmlns:a="http://schemas.openxmlformats.org/drawingml/2006/main">
            <a:pPr>
              <a:def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汇报 PPTX 与逐页讲稿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E3517-465E-46F1-95B3-01070D14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团队联调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70295-F088-4F56-B458-5C2BBBBE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191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客户登录与购买意向入口</a:t>
            </a:r>
          </a:p>
          <a:p xmlns:a="http://schemas.openxmlformats.org/drawingml/2006/main">
            <a: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交易队列、冻结与交易结果</a:t>
            </a:r>
          </a:p>
          <a:p xmlns:a="http://schemas.openxmlformats.org/drawingml/2006/main">
            <a: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交易绑定商品调零时的意向处置</a:t>
            </a:r>
          </a:p>
          <a:p xmlns:a="http://schemas.openxmlformats.org/drawingml/2006/main">
            <a:pPr>
              <a:def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02C29"/>
                </a:solidFill>
                <a:latin typeface="Microsoft YaHei"/>
                <a:ea typeface="Microsoft YaHei"/>
                <a:cs typeface="Microsoft YaHei"/>
              </a:rPr>
              <a:t>手动下架与售罄重新上架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1B8A0-EF53-4EF2-B643-1C75E0A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91375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64F37"/>
                </a:solidFill>
                <a:latin typeface="Microsoft YaHei"/>
                <a:ea typeface="Microsoft YaHei"/>
                <a:cs typeface="Microsoft YaHei"/>
              </a:rPr>
              <a:t>当前仍有联调边界，不能作为整套 V2.0 系统验收完成的结论</a:t>
            </a:r>
          </a:p>
        </p:txBody>
      </p:sp>
    </p:spTree>
    <p:extLst>
      <p:ext uri="{BB962C8B-B14F-4D97-AF65-F5344CB8AC3E}">
        <p14:creationId xmlns:p14="http://schemas.microsoft.com/office/powerpoint/2010/main" val="1673546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2026-10-29T04:12:44.3540000Z</dcterms:created>
  <dcterms:modified xsi:type="dcterms:W3CDTF">2026-10-29T04:12:44.3540000Z</dcterms:modified>
</coreProperties>
</file>