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3"/>
    <p:sldId id="267" r:id="rId4"/>
    <p:sldId id="273" r:id="rId5"/>
    <p:sldId id="274" r:id="rId6"/>
    <p:sldId id="275" r:id="rId7"/>
    <p:sldId id="276" r:id="rId8"/>
    <p:sldId id="263" r:id="rId9"/>
    <p:sldId id="277" r:id="rId10"/>
    <p:sldId id="278" r:id="rId11"/>
    <p:sldId id="279" r:id="rId12"/>
    <p:sldId id="268" r:id="rId13"/>
    <p:sldId id="285" r:id="rId15"/>
    <p:sldId id="269" r:id="rId16"/>
    <p:sldId id="270" r:id="rId17"/>
    <p:sldId id="271" r:id="rId18"/>
    <p:sldId id="272" r:id="rId19"/>
    <p:sldId id="280" r:id="rId20"/>
    <p:sldId id="281" r:id="rId21"/>
    <p:sldId id="282" r:id="rId22"/>
    <p:sldId id="283" r:id="rId23"/>
    <p:sldId id="284" r:id="rId2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首先讲代码结构：HTML 预留商品区、查询表单和卖家工作台容器；JS 在浏览器中绑定事件与渲染 DOM；CSS 为两页共用。public/app.js:14-19 的 request 函数统一调用 fetch，解析 JSON，遇到非 2xx 抛出后端 error，页面 catch 后显示提示。前端没有 React/Vue，也没有独立打包步骤；Flask 在 app.py:236-246 提供页面和静态文件。队列排序、口令码生成与交易状态转换由 app.py 执行。来源：public/index.html、public/admin.html、public/app.js:14-19、public/admin.js:14-19、public/style.css、app.py:236-246。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我负责买家页、卖家工作台和前后端联调。前端采用 public/index.html、public/admin.html、public/app.js、public/admin.js、public/style.css；没有框架和构建步骤。买家端完成商品展示、提交意向、凭口令查询/修改/撤销；卖家端完成登录、发布商品、队列处理和历史查看。接下来四页讲实际代码、接口与运行证据。来源：项目仓库上述文件；课程要求：https://github.com/sebestp/coursewise/wiki/阶段性评审-(I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买家页面先调用 public/app.js:21-77 的 loadProduct。GET /api/product 返回 product 或 null；product.buyable 为 false 时显示暂停提示且不创建提交表单，为 true 时显示意向表单。模板字符串插入商品字段前，escapeHtml 对 &amp;、&lt;、&gt;、引号转义；价格以 priceCents / 100 格式化。提交事件在 app.js:51-71：preventDefault，禁用按钮，Object.fromEntries(new FormData(event.target)) 组成 JSON，POST /api/intents；成功后 data.passcode 写到 #passcodeValue，显示 #passcodeCard，重置表单并移动焦点。finally 恢复按钮，减少重复提交。截图来自本地运行的当前前端和临时演示数据。来源：public/app.js:3-77、public/index.html:23-54、app.py:249-279。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买家输入 8 位口令码。查询处理器在 public/app.js:79-101，先 trim 和 toUpperCase，然后 POST /api/intents/query；服务端返回 stage 和 position，前端分别呈现交易中或队位，并展开编辑表单。修改处理器在 app.js:103-115，把姓名、电话与 currentCode 一起 PUT /api/intents。撤销处理器在 app.js:117-130，先弹 confirm，再 POST /api/intents/cancel，成功后隐藏编辑表单。每个请求期间禁用按钮，catch 展示错误，finally 恢复。口令码只保存在当前页的变量 currentCode，未写入 localStorage；服务端在 app.py:138-145 判断无效、结案或商品售出。来源：public/app.js:79-130、app.py:281-325。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卖家登录后，public/admin.js:114-128 的 load 函数用 Promise.all 并行获取 /api/admin/product、/api/admin/intents、/api/admin/history，分别渲染当前商品、购买意向和历史。renderCurrent 位于 admin.js:46-83，根据商品 status 与 tradingIntent.stage/outcome 生成按钮。按钮上有 data-action，load 为每个按钮绑定 action；action 在 admin.js:130-169 调用对应 POST API，然后再次 load。失败重排时，服务端返回 newPasscode，前端只在新口令卡显示，提醒卖家线下告知买家。历史商品由 renderHistory 在 admin.js:95-112 展开，包含意向人、电话、提交时间和结果，符合课程需求澄清。画面来自本地运行及临时演示数据。来源：public/admin.js:46-169；https://github.com/sebestp/coursewise/wiki/需求澄清记录。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这一页对应课程 Wiki 对“可验证成果物”的要求，区分已完成和后续计划。本地直接运行 python app.py 后打开 / 与 /admin.html；前端无独立构建命令。当前仓库的 public/style.css:1-16 定义变量，:212-268 定义 950、700、420px 响应式断点，:270-273 处理 reduced motion。public/app.js:4-6 与 public/admin.js:4-6 在 innerHTML 前转义动态内容；request 统一读取后端 error；表单提交期间按钮禁用。用 .venv\Scripts\python.exe -m unittest discover -s tests -v 本地运行，8 项 Flask API 集成测试通过。这些是后端 API 业务测试，不等同于前端单元或浏览器端自动化测试。下一迭代建议补充浏览器回归，当前仓库未提供该类测试。Wiki 来源：https://github.com/sebestp/coursewise/wiki/阶段性评审-(I) 与 https://github.com/sebestp/coursewise/wiki/系统验收标准。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负责项目的测试与缺陷修复。主要工作包括设计独立用例、编写自动化脚本、发现并修复超长价格问题，以及完成复测和报告。本次讲的是接口和业务流程测试。测试使用临时数据与上传目录，执行前后检查项目文件是否变化。</a:t>
            </a:r>
          </a:p>
          <a:p/>
          <a:p>
            <a:r>
              <a:t>资料依据：测试用例.md、测试报告.md、缺陷迭代记录报告.md。测试日期2026-10-06。完整执行记录：work/final-regression/results.json及execution.log。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测试按业务流程和边界条件展开。正常流程验证接口能否完成业务，边界与异常用例检查非法输入和非法状态。图片大小同时检查5 MiB和超出1字节。交易中撤销检查卖家确认之前不会自动递补。并发提交使用同一个应用实例下的20个独立客户端，核对ID、口令和排队位置。</a:t>
            </a:r>
          </a:p>
          <a:p/>
          <a:p>
            <a:r>
              <a:t>资料依据：测试用例.md、测试报告.md、缺陷迭代记录报告.md。测试日期2026-10-06。完整执行记录：work/final-regression/results.json及execution.log。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首次测试执行60项，59项通过，AT-051失败。该用例在卖家登录后，提交正常商品字段、合法PNG和5000位数字价格。预期非法输入返回400 JSON，实际返回500 HTML错误页，前端按JSON解析响应时无法正常处理。单项复现再次出现相同结果，因此登记为DEF-001，严重程度P2。</a:t>
            </a:r>
          </a:p>
          <a:p/>
          <a:p>
            <a:r>
              <a:t>资料依据：测试用例.md、测试报告.md、缺陷迭代记录报告.md。测试日期2026-10-06。完整执行记录：work/final-regression/results.json及execution.log。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定位到price_cents后，发现原逻辑允许超长数字进入保存流程，json.dump序列化整数时触发Python默认4300位转换限制。我先补充价格回归测试，再修改校验逻辑。修复增加文本长度限制，使用整数计算分值，并限制金额为JavaScript安全整数范围。项目内增加3个测试方法，独立脚本增加AT-053和AT-054，分别验证上限精度、越界拒绝和拒绝后的恢复发布。</a:t>
            </a:r>
          </a:p>
          <a:p/>
          <a:p>
            <a:r>
              <a:t>资料依据：测试用例.md、测试报告.md、缺陷迭代记录报告.md。测试日期2026-10-06。完整执行记录：work/final-regression/results.json及execution.log。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修复后先定点复测AT-051，5000位价格正确返回400 JSON，数据与图片目录不变。随后执行完整回归，54项独立用例加11项项目内测试，共65项全部通过。65比首次60多了5个方法，分别是2项独立用例和3项项目内价格回归测试。交付前再次运行完整回归，耗时23.825秒。四份成果包含用例、脚本、测试报告和缺陷迭代记录，脚本支持按用例编号复现。</a:t>
            </a:r>
          </a:p>
          <a:p/>
          <a:p>
            <a:r>
              <a:t>资料依据：测试用例.md、测试报告.md、缺陷迭代记录报告.md。测试日期2026-10-06。完整执行记录：work/final-regression/results.json及execution.log。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93C5FD"/>
                </a:solidFill>
                <a:latin typeface="微软雅黑" panose="020B0503020204020204" charset="-122"/>
              </a:rPr>
              <a:t>软件工程实践</a:t>
            </a:r>
            <a:endParaRPr sz="2100" b="1">
              <a:solidFill>
                <a:srgbClr val="93C5FD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 panose="020B0503020204020204" charset="-122"/>
              </a:rPr>
              <a:t>在线购物系统</a:t>
            </a:r>
            <a:endParaRPr sz="3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BAE6FD"/>
                </a:solidFill>
                <a:latin typeface="微软雅黑" panose="020B0503020204020204" charset="-122"/>
              </a:rPr>
              <a:t>第一次阶段性评审汇报</a:t>
            </a:r>
            <a:endParaRPr sz="2500" b="0">
              <a:solidFill>
                <a:srgbClr val="BAE6FD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5303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微软雅黑" panose="020B0503020204020204" charset="-122"/>
              </a:rPr>
              <a:t>第 2 组  |  2026-10-08</a:t>
            </a:r>
            <a:endParaRPr sz="17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57150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微软雅黑" panose="020B0503020204020204" charset="-122"/>
              </a:rPr>
              <a:t>范君豪 · 陈心冉 · 戚航瑞 · 周展羽 · 谭梓良</a:t>
            </a:r>
            <a:endParaRPr sz="140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D4E"/>
                </a:solidFill>
                <a:latin typeface="微软雅黑" panose="020B0503020204020204" charset="-122"/>
              </a:rPr>
              <a:t>第一次迭代：我们完成了什么</a:t>
            </a:r>
            <a:endParaRPr sz="27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109960" y="38404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微软雅黑" panose="020B0503020204020204" charset="-122"/>
              </a:rPr>
              <a:t>02</a:t>
            </a:r>
            <a:endParaRPr sz="18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1088136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984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D4E"/>
                </a:solidFill>
                <a:latin typeface="微软雅黑" panose="020B0503020204020204" charset="-122"/>
              </a:rPr>
              <a:t>围绕在线购物系统 MVP，我们在第一次迭代中完成了从需求确认到本地可运行版本的闭环。</a:t>
            </a:r>
            <a:endParaRPr sz="20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25603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82296" cy="2331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219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2D4E"/>
                </a:solidFill>
                <a:latin typeface="微软雅黑" panose="020B0503020204020204" charset="-122"/>
              </a:rPr>
              <a:t>1 需求明确</a:t>
            </a:r>
            <a:endParaRPr sz="18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2679192"/>
            <a:ext cx="219456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微软雅黑" panose="020B0503020204020204" charset="-122"/>
              </a:rPr>
              <a:t>完成需求分析和 SRS
明确角色、用例、业务规则
划定 MVP 范围与范围外需求</a:t>
            </a:r>
            <a:endParaRPr sz="14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520440" y="2057400"/>
            <a:ext cx="25603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2057400"/>
            <a:ext cx="82296" cy="2331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22219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2D4E"/>
                </a:solidFill>
                <a:latin typeface="微软雅黑" panose="020B0503020204020204" charset="-122"/>
              </a:rPr>
              <a:t>2 系统设计</a:t>
            </a:r>
            <a:endParaRPr sz="18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49039" y="2679192"/>
            <a:ext cx="219456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微软雅黑" panose="020B0503020204020204" charset="-122"/>
              </a:rPr>
              <a:t>完成架构、数据、接口和页面设计
确定状态机和持久化方案
建立需求到实现的追溯关系</a:t>
            </a:r>
            <a:endParaRPr sz="14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2057400"/>
            <a:ext cx="25603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057400"/>
            <a:ext cx="82296" cy="2331720"/>
          </a:xfrm>
          <a:prstGeom prst="rect">
            <a:avLst/>
          </a:prstGeom>
          <a:solidFill>
            <a:srgbClr val="108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2219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2D4E"/>
                </a:solidFill>
                <a:latin typeface="微软雅黑" panose="020B0503020204020204" charset="-122"/>
              </a:rPr>
              <a:t>3 MVP 开发</a:t>
            </a:r>
            <a:endParaRPr sz="18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92240" y="2679192"/>
            <a:ext cx="219456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微软雅黑" panose="020B0503020204020204" charset="-122"/>
              </a:rPr>
              <a:t>完成买家端和卖家后台
实现商品发布、购买意向和交易队列
打通前后端核心流程</a:t>
            </a:r>
            <a:endParaRPr sz="14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06840" y="2057400"/>
            <a:ext cx="25603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2057400"/>
            <a:ext cx="82296" cy="233172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2219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2D4E"/>
                </a:solidFill>
                <a:latin typeface="微软雅黑" panose="020B0503020204020204" charset="-122"/>
              </a:rPr>
              <a:t>4 测试验证</a:t>
            </a:r>
            <a:endParaRPr sz="18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35440" y="2679192"/>
            <a:ext cx="219456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微软雅黑" panose="020B0503020204020204" charset="-122"/>
              </a:rPr>
              <a:t>完成基础功能测试
修复 DEF-001 价格校验缺陷
形成回归测试和缺陷记录</a:t>
            </a:r>
            <a:endParaRPr sz="14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50749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895E"/>
                </a:solidFill>
                <a:latin typeface="微软雅黑" panose="020B0503020204020204" charset="-122"/>
              </a:rPr>
              <a:t>迭代结果：形成可本地运行、可测试、可继续部署演进的第一版 MVP。</a:t>
            </a:r>
            <a:endParaRPr sz="1800" b="1">
              <a:solidFill>
                <a:srgbClr val="10895E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8368" y="6473952"/>
            <a:ext cx="74980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34" y="384207"/>
            <a:ext cx="996644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D4E"/>
                </a:solidFill>
                <a:latin typeface="微软雅黑" panose="020B0503020204020204" charset="-122"/>
              </a:rPr>
              <a:t>周展羽：需求分析与规格说明</a:t>
            </a:r>
            <a:endParaRPr sz="27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109381" y="384207"/>
            <a:ext cx="502894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>
                <a:solidFill>
                  <a:srgbClr val="2563EB"/>
                </a:solidFill>
                <a:latin typeface="微软雅黑" panose="020B0503020204020204" charset="-122"/>
              </a:rPr>
              <a:t>10</a:t>
            </a:r>
            <a:endParaRPr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34" y="1024253"/>
            <a:ext cx="10880793" cy="27431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34" y="6473793"/>
            <a:ext cx="7497688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17" y="1287892"/>
            <a:ext cx="274305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err="1">
                <a:solidFill>
                  <a:srgbClr val="122D4E"/>
                </a:solidFill>
                <a:latin typeface="微软雅黑" panose="020B0503020204020204" charset="-122"/>
              </a:rPr>
              <a:t>个人负责内容</a:t>
            </a:r>
            <a:endParaRPr sz="2000" b="1" dirty="0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7"/>
          <p:cNvSpPr/>
          <p:nvPr/>
        </p:nvSpPr>
        <p:spPr>
          <a:xfrm>
            <a:off x="7314819" y="1417425"/>
            <a:ext cx="3657410" cy="251446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8"/>
          <p:cNvSpPr/>
          <p:nvPr/>
        </p:nvSpPr>
        <p:spPr>
          <a:xfrm>
            <a:off x="7314819" y="1417425"/>
            <a:ext cx="82292" cy="2514469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9"/>
          <p:cNvSpPr txBox="1"/>
          <p:nvPr/>
        </p:nvSpPr>
        <p:spPr>
          <a:xfrm>
            <a:off x="7543407" y="1582008"/>
            <a:ext cx="3245951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22D4E"/>
                </a:solidFill>
                <a:latin typeface="微软雅黑" panose="020B0503020204020204" charset="-122"/>
              </a:rPr>
              <a:t>本页成果物</a:t>
            </a:r>
            <a:endParaRPr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543407" y="2039184"/>
            <a:ext cx="3245951" cy="116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400" b="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需求分析文档 V2.2（过程稿）
需求规格说明书 V</a:t>
            </a:r>
            <a:r>
              <a:rPr lang="en-US" altLang="zh-CN" sz="140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sz="1400" b="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（需求基线）
附录 A/B/C：基线原文、答复原文、对照表
业务规则与范围边界</a:t>
            </a:r>
            <a:endParaRPr lang="zh-CN" sz="1400" b="0" dirty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25457" y="1701890"/>
            <a:ext cx="5943290" cy="63496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① 把基线中 9 条口语化描述逐条向需求方澄清，形成 19 组答复原文，全部收入文档附录；</a:t>
            </a:r>
            <a:endParaRPr dirty="0"/>
          </a:p>
        </p:txBody>
      </p:sp>
      <p:sp>
        <p:nvSpPr>
          <p:cNvPr id="13" name="矩形 12"/>
          <p:cNvSpPr/>
          <p:nvPr/>
        </p:nvSpPr>
        <p:spPr>
          <a:xfrm>
            <a:off x="825457" y="2489249"/>
            <a:ext cx="5943290" cy="63496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② 固化 14 条功能需求（买家 FR-B×5、卖家 FR-S×9）与 19 条业务规则，每条独立可验收、可溯源；</a:t>
            </a:r>
            <a:endParaRPr dirty="0"/>
          </a:p>
        </p:txBody>
      </p:sp>
      <p:sp>
        <p:nvSpPr>
          <p:cNvPr id="14" name="矩形 13"/>
          <p:cNvSpPr/>
          <p:nvPr/>
        </p:nvSpPr>
        <p:spPr>
          <a:xfrm>
            <a:off x="825457" y="3276608"/>
            <a:ext cx="5943290" cy="63496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③ 纠偏一次关键口径：提交意向只登记排队、不冻结商品，卖家选定买家进入交易时才冻结；</a:t>
            </a:r>
            <a:endParaRPr dirty="0"/>
          </a:p>
        </p:txBody>
      </p:sp>
      <p:sp>
        <p:nvSpPr>
          <p:cNvPr id="15" name="矩形 14"/>
          <p:cNvSpPr/>
          <p:nvPr/>
        </p:nvSpPr>
        <p:spPr>
          <a:xfrm>
            <a:off x="825457" y="4063967"/>
            <a:ext cx="5943290" cy="63496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④ 划定 10 项范围外功能（EX-01~10），明确本期 MVP 边界。</a:t>
            </a:r>
            <a:endParaRPr dirty="0"/>
          </a:p>
        </p:txBody>
      </p:sp>
      <p:sp>
        <p:nvSpPr>
          <p:cNvPr id="16" name="矩形 15"/>
          <p:cNvSpPr/>
          <p:nvPr/>
        </p:nvSpPr>
        <p:spPr>
          <a:xfrm>
            <a:off x="7314819" y="4190960"/>
            <a:ext cx="3657410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文档托管于 Wiki，评审现场可打开核对</a:t>
            </a:r>
            <a:endParaRPr dirty="0"/>
          </a:p>
        </p:txBody>
      </p:sp>
      <p:sp>
        <p:nvSpPr>
          <p:cNvPr id="17" name="矩形 16"/>
          <p:cNvSpPr/>
          <p:nvPr/>
        </p:nvSpPr>
        <p:spPr>
          <a:xfrm>
            <a:off x="825457" y="4978319"/>
            <a:ext cx="888954" cy="482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0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lang="zh-CN" sz="30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57351" y="4978319"/>
            <a:ext cx="888954" cy="482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0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19</a:t>
            </a:r>
            <a:endParaRPr lang="zh-CN" sz="30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889245" y="4978319"/>
            <a:ext cx="888954" cy="482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0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zh-CN" sz="30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25457" y="5486293"/>
            <a:ext cx="1650914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可验证功能需求</a:t>
            </a:r>
            <a:endParaRPr lang="zh-CN" sz="11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857351" y="5486293"/>
            <a:ext cx="1650914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可溯源业务规则</a:t>
            </a:r>
            <a:endParaRPr lang="zh-CN" sz="11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889245" y="5486293"/>
            <a:ext cx="1650914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范围外显式排除</a:t>
            </a:r>
            <a:endParaRPr lang="zh-CN" sz="11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1"/>
          <p:cNvSpPr txBox="1"/>
          <p:nvPr/>
        </p:nvSpPr>
        <p:spPr>
          <a:xfrm>
            <a:off x="658334" y="384207"/>
            <a:ext cx="996644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周展羽：需求澄清与关键纠偏</a:t>
            </a:r>
            <a:endParaRPr lang="zh-CN" sz="27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"/>
          <p:cNvSpPr txBox="1"/>
          <p:nvPr/>
        </p:nvSpPr>
        <p:spPr>
          <a:xfrm>
            <a:off x="11109381" y="384207"/>
            <a:ext cx="685764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10-1</a:t>
            </a:r>
            <a:endParaRPr lang="zh-CN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3"/>
          <p:cNvSpPr/>
          <p:nvPr/>
        </p:nvSpPr>
        <p:spPr>
          <a:xfrm>
            <a:off x="658334" y="1024253"/>
            <a:ext cx="10880793" cy="27431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4"/>
          <p:cNvSpPr txBox="1"/>
          <p:nvPr/>
        </p:nvSpPr>
        <p:spPr>
          <a:xfrm>
            <a:off x="658334" y="6473793"/>
            <a:ext cx="7497688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660366" y="2616242"/>
            <a:ext cx="5333722" cy="3098639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30" name="矩形 29"/>
          <p:cNvSpPr/>
          <p:nvPr/>
        </p:nvSpPr>
        <p:spPr>
          <a:xfrm>
            <a:off x="660366" y="2616242"/>
            <a:ext cx="76196" cy="3098639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矩形: 圆角 30"/>
          <p:cNvSpPr/>
          <p:nvPr/>
        </p:nvSpPr>
        <p:spPr>
          <a:xfrm>
            <a:off x="6197277" y="2616242"/>
            <a:ext cx="5333722" cy="3098639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32" name="矩形 31"/>
          <p:cNvSpPr/>
          <p:nvPr/>
        </p:nvSpPr>
        <p:spPr>
          <a:xfrm>
            <a:off x="6197277" y="2616242"/>
            <a:ext cx="76196" cy="3098639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矩形 32"/>
          <p:cNvSpPr/>
          <p:nvPr/>
        </p:nvSpPr>
        <p:spPr>
          <a:xfrm>
            <a:off x="1082938" y="1371707"/>
            <a:ext cx="761960" cy="71116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60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zh-CN" sz="360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676483" y="1554578"/>
            <a:ext cx="2158888" cy="27938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400" dirty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条口语化基线需求</a:t>
            </a:r>
            <a:endParaRPr dirty="0"/>
          </a:p>
        </p:txBody>
      </p:sp>
      <p:sp>
        <p:nvSpPr>
          <p:cNvPr id="35" name="矩形 34"/>
          <p:cNvSpPr/>
          <p:nvPr/>
        </p:nvSpPr>
        <p:spPr>
          <a:xfrm>
            <a:off x="888954" y="2184465"/>
            <a:ext cx="2984345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全部信息的起点，直白但充满歧义</a:t>
            </a:r>
            <a:endParaRPr dirty="0"/>
          </a:p>
        </p:txBody>
      </p:sp>
      <p:sp>
        <p:nvSpPr>
          <p:cNvPr id="36" name="矩形 35"/>
          <p:cNvSpPr/>
          <p:nvPr/>
        </p:nvSpPr>
        <p:spPr>
          <a:xfrm>
            <a:off x="3997138" y="1371707"/>
            <a:ext cx="761960" cy="71116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60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19</a:t>
            </a:r>
            <a:endParaRPr lang="zh-CN" sz="360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774951" y="1600295"/>
            <a:ext cx="2158888" cy="27938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4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段需求方正式答复</a:t>
            </a:r>
            <a:endParaRPr lang="zh-CN" sz="14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936795" y="2184465"/>
            <a:ext cx="2984345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逐段提问、逐段拍板，全文收进附录 B</a:t>
            </a:r>
            <a:endParaRPr dirty="0"/>
          </a:p>
        </p:txBody>
      </p:sp>
      <p:sp>
        <p:nvSpPr>
          <p:cNvPr id="39" name="矩形 38"/>
          <p:cNvSpPr/>
          <p:nvPr/>
        </p:nvSpPr>
        <p:spPr>
          <a:xfrm>
            <a:off x="7067480" y="1432664"/>
            <a:ext cx="761960" cy="71116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600" b="1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19</a:t>
            </a:r>
            <a:endParaRPr lang="zh-CN" sz="3600" b="1" dirty="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7822793" y="1600295"/>
            <a:ext cx="2158888" cy="27938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4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条可溯源业务规则</a:t>
            </a:r>
            <a:endParaRPr lang="zh-CN" sz="14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984636" y="2184465"/>
            <a:ext cx="2984345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BR-01 ~ BR-19，每条都能指回一段答复</a:t>
            </a:r>
            <a:endParaRPr lang="zh-CN" sz="11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327227" y="1535766"/>
            <a:ext cx="431778" cy="45717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400" dirty="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dirty="0"/>
          </a:p>
        </p:txBody>
      </p:sp>
      <p:sp>
        <p:nvSpPr>
          <p:cNvPr id="43" name="矩形 42"/>
          <p:cNvSpPr/>
          <p:nvPr/>
        </p:nvSpPr>
        <p:spPr>
          <a:xfrm>
            <a:off x="6534108" y="1535766"/>
            <a:ext cx="431778" cy="45717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40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lang="zh-CN" sz="240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888954" y="2743236"/>
            <a:ext cx="4876546" cy="33018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澄清怎么做</a:t>
            </a:r>
            <a:endParaRPr lang="zh-CN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888954" y="3200412"/>
            <a:ext cx="4876546" cy="241287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4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· 识别歧义：冻结时机、队列顺序、交易失败处理、批量无效提交；
· 逐条设计问题清单，向需求方确认，答复原文全部收入附录 B；
· 区分两类内容：需求方答复（写成规则）与我们的实现判断（单列第 9 节）；
· 坚持「不自行多加需求」，超出基线的一律列入范围外。</a:t>
            </a:r>
            <a:endParaRPr lang="zh-CN" sz="14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425865" y="2743236"/>
            <a:ext cx="4876546" cy="33018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关键纠偏：提交意向 ≠ 冻结</a:t>
            </a:r>
            <a:endParaRPr lang="zh-CN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425865" y="3200412"/>
            <a:ext cx="2539868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 b="1">
                <a:solidFill>
                  <a:srgbClr val="EA841B"/>
                </a:solidFill>
                <a:latin typeface="微软雅黑" panose="020B0503020204020204" charset="-122"/>
                <a:ea typeface="微软雅黑" panose="020B0503020204020204" charset="-122"/>
              </a:rPr>
              <a:t>旧理解（v1.0）</a:t>
            </a:r>
            <a:endParaRPr lang="zh-CN" sz="1100" b="1">
              <a:solidFill>
                <a:srgbClr val="EA841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425865" y="3454399"/>
            <a:ext cx="4876546" cy="45717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3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提交意向即冻结商品 → 担心被恶意提交「冻死」商品</a:t>
            </a:r>
            <a:endParaRPr lang="zh-CN" sz="13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6425865" y="4038568"/>
            <a:ext cx="2539868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 b="1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</a:rPr>
              <a:t>需求方澄清后</a:t>
            </a:r>
            <a:endParaRPr lang="zh-CN" sz="1100" b="1">
              <a:solidFill>
                <a:srgbClr val="1089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425865" y="4292555"/>
            <a:ext cx="4876546" cy="45717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3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提交只登记排队；卖家与队首进入交易时才冻结，失败自动递补下一位</a:t>
            </a:r>
            <a:endParaRPr lang="zh-CN" sz="13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6425865" y="4876725"/>
            <a:ext cx="2539868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处理与证据</a:t>
            </a:r>
            <a:endParaRPr lang="zh-CN" sz="11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425865" y="5130711"/>
            <a:ext cx="4876546" cy="45717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3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立即重写状态机与相关条款、升版并保留旧版对照 —— 需求变更受控的直接证据</a:t>
            </a:r>
            <a:endParaRPr lang="zh-CN" sz="13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1"/>
          <p:cNvSpPr txBox="1"/>
          <p:nvPr/>
        </p:nvSpPr>
        <p:spPr>
          <a:xfrm>
            <a:off x="658334" y="384207"/>
            <a:ext cx="996644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周展羽：需求基线 · 五态状态机与核心规则</a:t>
            </a:r>
            <a:endParaRPr lang="zh-CN" sz="27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2"/>
          <p:cNvSpPr txBox="1"/>
          <p:nvPr/>
        </p:nvSpPr>
        <p:spPr>
          <a:xfrm>
            <a:off x="11109381" y="384207"/>
            <a:ext cx="685764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10-2</a:t>
            </a:r>
            <a:endParaRPr lang="zh-CN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ectangle 3"/>
          <p:cNvSpPr/>
          <p:nvPr/>
        </p:nvSpPr>
        <p:spPr>
          <a:xfrm>
            <a:off x="658334" y="1024253"/>
            <a:ext cx="10880793" cy="27431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4"/>
          <p:cNvSpPr txBox="1"/>
          <p:nvPr/>
        </p:nvSpPr>
        <p:spPr>
          <a:xfrm>
            <a:off x="658334" y="6473793"/>
            <a:ext cx="7497688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59" name="矩形: 圆角 58"/>
          <p:cNvSpPr/>
          <p:nvPr/>
        </p:nvSpPr>
        <p:spPr>
          <a:xfrm>
            <a:off x="888954" y="1625694"/>
            <a:ext cx="1625515" cy="660366"/>
          </a:xfrm>
          <a:prstGeom prst="roundRect">
            <a:avLst>
              <a:gd name="adj" fmla="val 4376"/>
            </a:avLst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在售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3200233" y="1625694"/>
            <a:ext cx="1625515" cy="660366"/>
          </a:xfrm>
          <a:prstGeom prst="roundRect">
            <a:avLst>
              <a:gd name="adj" fmla="val 437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冻结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5511513" y="1625694"/>
            <a:ext cx="1625515" cy="660366"/>
          </a:xfrm>
          <a:prstGeom prst="roundRect">
            <a:avLst>
              <a:gd name="adj" fmla="val 4376"/>
            </a:avLst>
          </a:prstGeom>
          <a:solidFill>
            <a:srgbClr val="EA841B"/>
          </a:solidFill>
          <a:ln>
            <a:noFill/>
          </a:ln>
        </p:spPr>
        <p:txBody>
          <a:bodyPr/>
          <a:lstStyle/>
          <a:p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交易失败（过渡）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矩形: 圆角 61"/>
          <p:cNvSpPr/>
          <p:nvPr/>
        </p:nvSpPr>
        <p:spPr>
          <a:xfrm>
            <a:off x="7822793" y="1625694"/>
            <a:ext cx="1625515" cy="660366"/>
          </a:xfrm>
          <a:prstGeom prst="roundRect">
            <a:avLst>
              <a:gd name="adj" fmla="val 4376"/>
            </a:avLst>
          </a:prstGeom>
          <a:solidFill>
            <a:srgbClr val="10895E"/>
          </a:solidFill>
          <a:ln>
            <a:noFill/>
          </a:ln>
        </p:spPr>
        <p:txBody>
          <a:bodyPr/>
          <a:lstStyle/>
          <a:p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恢复在售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矩形: 圆角 62"/>
          <p:cNvSpPr/>
          <p:nvPr/>
        </p:nvSpPr>
        <p:spPr>
          <a:xfrm>
            <a:off x="3200233" y="3022621"/>
            <a:ext cx="1625515" cy="660366"/>
          </a:xfrm>
          <a:prstGeom prst="roundRect">
            <a:avLst>
              <a:gd name="adj" fmla="val 4376"/>
            </a:avLst>
          </a:prstGeom>
          <a:solidFill>
            <a:srgbClr val="64748B"/>
          </a:solidFill>
          <a:ln>
            <a:noFill/>
          </a:ln>
        </p:spPr>
        <p:txBody>
          <a:bodyPr/>
          <a:lstStyle/>
          <a:p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下架（终态）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直接连接符 63"/>
          <p:cNvSpPr/>
          <p:nvPr/>
        </p:nvSpPr>
        <p:spPr>
          <a:xfrm>
            <a:off x="2514469" y="1955877"/>
            <a:ext cx="685764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65" name="直接连接符 64"/>
          <p:cNvSpPr/>
          <p:nvPr/>
        </p:nvSpPr>
        <p:spPr>
          <a:xfrm>
            <a:off x="4825749" y="1955877"/>
            <a:ext cx="685764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66" name="直接连接符 65"/>
          <p:cNvSpPr/>
          <p:nvPr/>
        </p:nvSpPr>
        <p:spPr>
          <a:xfrm>
            <a:off x="7137028" y="1955877"/>
            <a:ext cx="685764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67" name="直接连接符 66"/>
          <p:cNvSpPr/>
          <p:nvPr/>
        </p:nvSpPr>
        <p:spPr>
          <a:xfrm flipV="1">
            <a:off x="6324271" y="1270112"/>
            <a:ext cx="0" cy="355581"/>
          </a:xfrm>
          <a:prstGeom prst="line">
            <a:avLst/>
          </a:prstGeom>
          <a:noFill/>
          <a:ln w="19050">
            <a:solidFill>
              <a:srgbClr val="10895E"/>
            </a:solidFill>
            <a:prstDash val="solid"/>
          </a:ln>
        </p:spPr>
        <p:txBody>
          <a:bodyPr/>
          <a:lstStyle/>
          <a:p/>
        </p:txBody>
      </p:sp>
      <p:sp>
        <p:nvSpPr>
          <p:cNvPr id="68" name="直接连接符 67"/>
          <p:cNvSpPr/>
          <p:nvPr/>
        </p:nvSpPr>
        <p:spPr>
          <a:xfrm flipH="1">
            <a:off x="4012991" y="1270112"/>
            <a:ext cx="2311280" cy="0"/>
          </a:xfrm>
          <a:prstGeom prst="line">
            <a:avLst/>
          </a:prstGeom>
          <a:noFill/>
          <a:ln w="19050">
            <a:solidFill>
              <a:srgbClr val="10895E"/>
            </a:solidFill>
            <a:prstDash val="solid"/>
          </a:ln>
        </p:spPr>
        <p:txBody>
          <a:bodyPr/>
          <a:lstStyle/>
          <a:p/>
        </p:txBody>
      </p:sp>
      <p:sp>
        <p:nvSpPr>
          <p:cNvPr id="69" name="直接连接符 68"/>
          <p:cNvSpPr/>
          <p:nvPr/>
        </p:nvSpPr>
        <p:spPr>
          <a:xfrm>
            <a:off x="4012991" y="1270112"/>
            <a:ext cx="0" cy="355581"/>
          </a:xfrm>
          <a:prstGeom prst="line">
            <a:avLst/>
          </a:prstGeom>
          <a:noFill/>
          <a:ln w="19050">
            <a:solidFill>
              <a:srgbClr val="10895E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70" name="直接连接符 69"/>
          <p:cNvSpPr/>
          <p:nvPr/>
        </p:nvSpPr>
        <p:spPr>
          <a:xfrm>
            <a:off x="8635550" y="2286060"/>
            <a:ext cx="0" cy="380980"/>
          </a:xfrm>
          <a:prstGeom prst="line">
            <a:avLst/>
          </a:prstGeom>
          <a:noFill/>
          <a:ln w="19050">
            <a:solidFill>
              <a:srgbClr val="64748B"/>
            </a:solidFill>
            <a:prstDash val="dot"/>
          </a:ln>
        </p:spPr>
        <p:txBody>
          <a:bodyPr/>
          <a:lstStyle/>
          <a:p/>
        </p:txBody>
      </p:sp>
      <p:sp>
        <p:nvSpPr>
          <p:cNvPr id="71" name="直接连接符 70"/>
          <p:cNvSpPr/>
          <p:nvPr/>
        </p:nvSpPr>
        <p:spPr>
          <a:xfrm flipH="1">
            <a:off x="1701711" y="2667040"/>
            <a:ext cx="6933839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ot"/>
          </a:ln>
        </p:spPr>
        <p:txBody>
          <a:bodyPr/>
          <a:lstStyle/>
          <a:p/>
        </p:txBody>
      </p:sp>
      <p:sp>
        <p:nvSpPr>
          <p:cNvPr id="72" name="直接连接符 71"/>
          <p:cNvSpPr/>
          <p:nvPr/>
        </p:nvSpPr>
        <p:spPr>
          <a:xfrm flipV="1">
            <a:off x="1701711" y="2286060"/>
            <a:ext cx="0" cy="380980"/>
          </a:xfrm>
          <a:prstGeom prst="line">
            <a:avLst/>
          </a:prstGeom>
          <a:noFill/>
          <a:ln w="19050">
            <a:solidFill>
              <a:srgbClr val="64748B"/>
            </a:solidFill>
            <a:prstDash val="dot"/>
            <a:tailEnd type="triangle"/>
          </a:ln>
        </p:spPr>
        <p:txBody>
          <a:bodyPr/>
          <a:lstStyle/>
          <a:p/>
        </p:txBody>
      </p:sp>
      <p:sp>
        <p:nvSpPr>
          <p:cNvPr id="73" name="直接连接符 72"/>
          <p:cNvSpPr/>
          <p:nvPr/>
        </p:nvSpPr>
        <p:spPr>
          <a:xfrm>
            <a:off x="4012991" y="2286060"/>
            <a:ext cx="0" cy="73656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74" name="矩形: 圆角 73"/>
          <p:cNvSpPr/>
          <p:nvPr/>
        </p:nvSpPr>
        <p:spPr>
          <a:xfrm>
            <a:off x="660366" y="4470346"/>
            <a:ext cx="3428821" cy="1269934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75" name="矩形 74"/>
          <p:cNvSpPr/>
          <p:nvPr/>
        </p:nvSpPr>
        <p:spPr>
          <a:xfrm>
            <a:off x="660366" y="4470346"/>
            <a:ext cx="76196" cy="1269934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矩形: 圆角 75"/>
          <p:cNvSpPr/>
          <p:nvPr/>
        </p:nvSpPr>
        <p:spPr>
          <a:xfrm>
            <a:off x="4343174" y="4470346"/>
            <a:ext cx="3428821" cy="1269934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77" name="矩形 76"/>
          <p:cNvSpPr/>
          <p:nvPr/>
        </p:nvSpPr>
        <p:spPr>
          <a:xfrm>
            <a:off x="4343174" y="4470346"/>
            <a:ext cx="76196" cy="1269934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矩形: 圆角 77"/>
          <p:cNvSpPr/>
          <p:nvPr/>
        </p:nvSpPr>
        <p:spPr>
          <a:xfrm>
            <a:off x="8025982" y="4470346"/>
            <a:ext cx="3505017" cy="1269934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79" name="矩形 78"/>
          <p:cNvSpPr/>
          <p:nvPr/>
        </p:nvSpPr>
        <p:spPr>
          <a:xfrm>
            <a:off x="8025982" y="4470346"/>
            <a:ext cx="76196" cy="1269934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矩形 79"/>
          <p:cNvSpPr/>
          <p:nvPr/>
        </p:nvSpPr>
        <p:spPr>
          <a:xfrm>
            <a:off x="6413166" y="1295511"/>
            <a:ext cx="2031894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00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</a:rPr>
              <a:t>队列非空 · 自动递补回冻结</a:t>
            </a:r>
            <a:endParaRPr lang="zh-CN" sz="1000">
              <a:solidFill>
                <a:srgbClr val="1089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4571762" y="2463850"/>
            <a:ext cx="2158888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恢复在售与在售行为等价</a:t>
            </a:r>
            <a:endParaRPr lang="zh-CN" sz="1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4190782" y="2768634"/>
            <a:ext cx="888954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0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标记成功</a:t>
            </a:r>
            <a:endParaRPr lang="zh-CN" sz="100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888954" y="3835379"/>
            <a:ext cx="10667444" cy="43177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转移事件：提交意向仅登记、不冻结；开始交易 / 手动冻结 → 冻结；标记失败 → 交易失败（过渡）；队列非空自动递补回冻结，队列已空 → 恢复在售；标记成功 → 下架（终态，不可撤销）。</a:t>
            </a:r>
            <a:endParaRPr lang="zh-CN" sz="11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863555" y="4546542"/>
            <a:ext cx="3047841" cy="25398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3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先到先得 · 硬约束</a:t>
            </a:r>
            <a:endParaRPr lang="zh-CN" sz="13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863555" y="4825927"/>
            <a:ext cx="3098639" cy="60956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「开始交易」不允许指定买家，系统只接受队首，从结构上杜绝跳选。</a:t>
            </a:r>
            <a:endParaRPr lang="zh-CN" sz="11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863555" y="5460894"/>
            <a:ext cx="1904901" cy="17779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依据 B-3 答复</a:t>
            </a:r>
            <a:endParaRPr lang="zh-CN" sz="90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4546363" y="4546542"/>
            <a:ext cx="3047841" cy="25398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3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失败自动递补</a:t>
            </a:r>
            <a:endParaRPr lang="zh-CN" sz="13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4546363" y="4825927"/>
            <a:ext cx="3098639" cy="60956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交易失败且队列非空时，下一位自动进入交易、商品重新冻结，无需卖家再次选定。</a:t>
            </a:r>
            <a:endParaRPr lang="zh-CN" sz="11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4546363" y="5460894"/>
            <a:ext cx="1904901" cy="17779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依据 B-11 答复</a:t>
            </a:r>
            <a:endParaRPr lang="zh-CN" sz="90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8229171" y="4546542"/>
            <a:ext cx="3047841" cy="25398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3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口令码贯穿买家侧</a:t>
            </a:r>
            <a:endParaRPr lang="zh-CN" sz="13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8229171" y="4825927"/>
            <a:ext cx="3098639" cy="60956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凭口令码查位次、改信息、撤销；意向终结或商品售出，口令码即时失效。</a:t>
            </a:r>
            <a:endParaRPr lang="zh-CN" sz="11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8229171" y="5460894"/>
            <a:ext cx="1904901" cy="17779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依据 B-5 / B-18 答复</a:t>
            </a:r>
            <a:endParaRPr lang="zh-CN" sz="90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658334" y="384207"/>
            <a:ext cx="996644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周展羽：溯源与边界 · 每条规则都有出处</a:t>
            </a:r>
            <a:endParaRPr lang="zh-CN" sz="27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TextBox 2"/>
          <p:cNvSpPr txBox="1"/>
          <p:nvPr/>
        </p:nvSpPr>
        <p:spPr>
          <a:xfrm>
            <a:off x="11109381" y="384207"/>
            <a:ext cx="685764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10-3</a:t>
            </a:r>
            <a:endParaRPr lang="zh-CN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Rectangle 3"/>
          <p:cNvSpPr/>
          <p:nvPr/>
        </p:nvSpPr>
        <p:spPr>
          <a:xfrm>
            <a:off x="658334" y="1024253"/>
            <a:ext cx="10880793" cy="27431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4"/>
          <p:cNvSpPr txBox="1"/>
          <p:nvPr/>
        </p:nvSpPr>
        <p:spPr>
          <a:xfrm>
            <a:off x="658334" y="6473793"/>
            <a:ext cx="7497688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99" name="矩形: 圆角 98"/>
          <p:cNvSpPr/>
          <p:nvPr/>
        </p:nvSpPr>
        <p:spPr>
          <a:xfrm>
            <a:off x="660366" y="1676491"/>
            <a:ext cx="5689304" cy="1066744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00" name="矩形 99"/>
          <p:cNvSpPr/>
          <p:nvPr/>
        </p:nvSpPr>
        <p:spPr>
          <a:xfrm>
            <a:off x="660366" y="1676491"/>
            <a:ext cx="76196" cy="1066744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矩形: 圆角 100"/>
          <p:cNvSpPr/>
          <p:nvPr/>
        </p:nvSpPr>
        <p:spPr>
          <a:xfrm>
            <a:off x="660366" y="3200412"/>
            <a:ext cx="5689304" cy="1422326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02" name="矩形 101"/>
          <p:cNvSpPr/>
          <p:nvPr/>
        </p:nvSpPr>
        <p:spPr>
          <a:xfrm>
            <a:off x="660366" y="3200412"/>
            <a:ext cx="76196" cy="1422326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矩形: 圆角 102"/>
          <p:cNvSpPr/>
          <p:nvPr/>
        </p:nvSpPr>
        <p:spPr>
          <a:xfrm>
            <a:off x="660366" y="4876725"/>
            <a:ext cx="1777907" cy="58417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04" name="矩形: 圆角 103"/>
          <p:cNvSpPr/>
          <p:nvPr/>
        </p:nvSpPr>
        <p:spPr>
          <a:xfrm>
            <a:off x="2616064" y="4876725"/>
            <a:ext cx="1777907" cy="58417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05" name="矩形: 圆角 104"/>
          <p:cNvSpPr/>
          <p:nvPr/>
        </p:nvSpPr>
        <p:spPr>
          <a:xfrm>
            <a:off x="4571762" y="4876725"/>
            <a:ext cx="1777907" cy="584170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06" name="矩形: 圆角 105"/>
          <p:cNvSpPr/>
          <p:nvPr/>
        </p:nvSpPr>
        <p:spPr>
          <a:xfrm>
            <a:off x="6603656" y="1676491"/>
            <a:ext cx="4927343" cy="1523921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07" name="矩形 106"/>
          <p:cNvSpPr/>
          <p:nvPr/>
        </p:nvSpPr>
        <p:spPr>
          <a:xfrm>
            <a:off x="6603656" y="1676491"/>
            <a:ext cx="76196" cy="1523921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矩形 107"/>
          <p:cNvSpPr/>
          <p:nvPr/>
        </p:nvSpPr>
        <p:spPr>
          <a:xfrm>
            <a:off x="6603656" y="3352804"/>
            <a:ext cx="4927343" cy="685764"/>
          </a:xfrm>
          <a:prstGeom prst="rect">
            <a:avLst/>
          </a:prstGeom>
          <a:solidFill>
            <a:srgbClr val="122D4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矩形 110"/>
          <p:cNvSpPr/>
          <p:nvPr/>
        </p:nvSpPr>
        <p:spPr>
          <a:xfrm>
            <a:off x="660366" y="1270112"/>
            <a:ext cx="5689304" cy="30478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可溯源：一条规则的推导链</a:t>
            </a:r>
            <a:endParaRPr lang="zh-CN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863555" y="1752687"/>
            <a:ext cx="2793854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业务规则 · BR-04</a:t>
            </a:r>
            <a:endParaRPr lang="zh-CN" sz="110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863555" y="2032073"/>
            <a:ext cx="5333722" cy="50797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3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交易对象严格先来后到，系统不得允许卖家跳选；失败后按顺序递补。</a:t>
            </a:r>
            <a:endParaRPr lang="zh-CN" sz="13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3047841" y="2768634"/>
            <a:ext cx="507974" cy="38098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220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↓</a:t>
            </a:r>
            <a:endParaRPr lang="zh-CN" sz="220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863555" y="3276608"/>
            <a:ext cx="3047841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 b="1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</a:rPr>
              <a:t>附录 B-3 · 需求方原话</a:t>
            </a:r>
            <a:endParaRPr lang="zh-CN" sz="1100" b="1">
              <a:solidFill>
                <a:srgbClr val="1089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863555" y="3555993"/>
            <a:ext cx="5333722" cy="9651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2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「交易对象也不是我随便挑的，是按先来后到：谁先登记意向，就先跟谁交易；前面这单没谈成，再按提交顺序递补。」</a:t>
            </a:r>
            <a:endParaRPr lang="zh-CN" sz="12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787359" y="4952921"/>
            <a:ext cx="1523921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附录 A</a:t>
            </a:r>
            <a:endParaRPr lang="zh-CN" sz="11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787359" y="5181509"/>
            <a:ext cx="1574718" cy="17779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基线原文 · 9 条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2743057" y="4952921"/>
            <a:ext cx="1523921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附录 B</a:t>
            </a:r>
            <a:endParaRPr lang="zh-CN" sz="11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2743057" y="5181509"/>
            <a:ext cx="1574718" cy="17779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答复原文 · 19 段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4698755" y="4952921"/>
            <a:ext cx="1523921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附录 C</a:t>
            </a:r>
            <a:endParaRPr lang="zh-CN" sz="11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4698755" y="5181509"/>
            <a:ext cx="1574718" cy="17779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对照表 · 双向互查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6603656" y="1270112"/>
            <a:ext cx="4927343" cy="30478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范围边界：不做什么也写清楚</a:t>
            </a:r>
            <a:endParaRPr lang="zh-CN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6806845" y="1752687"/>
            <a:ext cx="4444768" cy="2285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3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</a:rPr>
              <a:t>范围外功能 · EX-01 ~ EX-10</a:t>
            </a:r>
            <a:endParaRPr lang="zh-CN" sz="13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6806845" y="2057471"/>
            <a:ext cx="2260482" cy="106674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EX-01 用户注册（买家侧）
EX-02 退出登录
EX-03 修改已发布商品
EX-04 撤销「交易成功」标记
EX-05 冻结 / 交易超时处理</a:t>
            </a:r>
            <a:endParaRPr lang="zh-CN" sz="11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9143524" y="2057471"/>
            <a:ext cx="2311280" cy="106674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1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EX-06 意向去重 / 合并 / 覆盖
EX-07 意向操作流水 / 时间戳
EX-08 在线支付、物流、库存
EX-09 落选买家通知
EX-10 手动下架</a:t>
            </a:r>
            <a:endParaRPr lang="zh-CN" sz="110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6806845" y="3454399"/>
            <a:ext cx="4571762" cy="25398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「范围外功能出现，即视为缺陷」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6806845" y="3733784"/>
            <a:ext cx="4571762" cy="20318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1000">
                <a:solidFill>
                  <a:srgbClr val="BAE6FD"/>
                </a:solidFill>
                <a:latin typeface="微软雅黑" panose="020B0503020204020204" charset="-122"/>
                <a:ea typeface="微软雅黑" panose="020B0503020204020204" charset="-122"/>
              </a:rPr>
              <a:t>写入验收总则 —— 本期不实现的功能若出现，按缺陷处理</a:t>
            </a:r>
            <a:endParaRPr lang="zh-CN" sz="1000">
              <a:solidFill>
                <a:srgbClr val="BAE6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6806845" y="4267156"/>
            <a:ext cx="4444768" cy="2285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sz="1300" b="1" dirty="0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6806845" y="4546542"/>
            <a:ext cx="4520965" cy="66036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D4E"/>
                </a:solidFill>
                <a:latin typeface="微软雅黑" panose="020B0503020204020204" charset="-122"/>
              </a:rPr>
              <a:t>陈心冉：系统设计</a:t>
            </a:r>
            <a:endParaRPr sz="27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109960" y="38404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微软雅黑" panose="020B0503020204020204" charset="-122"/>
              </a:rPr>
              <a:t>08</a:t>
            </a:r>
            <a:endParaRPr sz="18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1088136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74980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3533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D4E"/>
                </a:solidFill>
                <a:latin typeface="微软雅黑" panose="020B0503020204020204" charset="-122"/>
              </a:rPr>
              <a:t>个人负责内容</a:t>
            </a:r>
            <a:endParaRPr sz="20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594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完成系统架构、模块划分、数据结构、接口和页面职责设计。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明确服务层状态机、单线程顺序处理和数据持久化等核心机制。</a:t>
            </a:r>
          </a:p>
          <a:p>
            <a:pPr>
              <a:spcAft>
                <a:spcPts val="1300"/>
              </a:spcAft>
              <a:defRPr sz="18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建立需求编号、设计方案、接口和实现之间的追溯关系。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6576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82296" cy="2514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58191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2D4E"/>
                </a:solidFill>
                <a:latin typeface="微软雅黑" panose="020B0503020204020204" charset="-122"/>
              </a:rPr>
              <a:t>本页成果物</a:t>
            </a:r>
            <a:endParaRPr sz="18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43800" y="2039112"/>
            <a:ext cx="32461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微软雅黑" panose="020B0503020204020204" charset="-122"/>
              </a:rPr>
              <a:t>设计文档 Design.md
</a:t>
            </a:r>
            <a:endParaRPr sz="14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544068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微软雅黑" panose="020B0503020204020204" charset="-122"/>
              </a:rPr>
              <a:t>汇报重点：说明本人完成了什么、产出了什么，以及成果如何支撑本次 MVP。</a:t>
            </a:r>
            <a:endParaRPr sz="16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2D4E"/>
                </a:solidFill>
                <a:latin typeface="微软雅黑" panose="020B0503020204020204" charset="-122"/>
              </a:rPr>
              <a:t>范君豪：</a:t>
            </a:r>
            <a:r>
              <a:rPr lang="zh-CN" sz="2700" b="1">
                <a:solidFill>
                  <a:srgbClr val="122D4E"/>
                </a:solidFill>
                <a:latin typeface="微软雅黑" panose="020B0503020204020204" charset="-122"/>
              </a:rPr>
              <a:t>后端实现</a:t>
            </a:r>
            <a:r>
              <a:rPr sz="2700" b="1">
                <a:solidFill>
                  <a:srgbClr val="122D4E"/>
                </a:solidFill>
                <a:latin typeface="微软雅黑" panose="020B0503020204020204" charset="-122"/>
              </a:rPr>
              <a:t>概览</a:t>
            </a:r>
            <a:endParaRPr sz="27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109960" y="38404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微软雅黑" panose="020B0503020204020204" charset="-122"/>
              </a:rPr>
              <a:t>07</a:t>
            </a:r>
            <a:endParaRPr sz="18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1088136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74980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3533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D4E"/>
                </a:solidFill>
                <a:latin typeface="微软雅黑" panose="020B0503020204020204" charset="-122"/>
              </a:rPr>
              <a:t>个人负责内容</a:t>
            </a:r>
            <a:endParaRPr sz="20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5943600" cy="275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后端使用 Python 语言和 Flask 3.0.3 框架，通过 app.py 创建应用并提供页面服务和 HTTP API。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后端按请求路由接收和处理客户端请求，统一完成参数解析、输入校验、登录认证和业务状态管理。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数据层采用 JSON 文件保存商品、购买意向、账号和状态等结构化数据；通过环境变量可以切换测试数据文件位置。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图片文件独立保存在 uploads/ 目录，使用 Pillow 校验图片格式，并限制上传文件大小；数据和文件分开管理。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requirements.txt 固定 Flask、Pillow 等运行依赖，配合 Python 虚拟环境完成本地运行。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6576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82296" cy="2514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58191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2D4E"/>
                </a:solidFill>
                <a:latin typeface="微软雅黑" panose="020B0503020204020204" charset="-122"/>
              </a:rPr>
              <a:t>成果物</a:t>
            </a:r>
            <a:endParaRPr sz="18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43800" y="2038985"/>
            <a:ext cx="3246120" cy="13900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t>app.py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4068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60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2D4E"/>
                </a:solidFill>
                <a:latin typeface="微软雅黑" panose="020B0503020204020204" charset="-122"/>
              </a:rPr>
              <a:t>后端代码结构：函数表</a:t>
            </a:r>
            <a:endParaRPr sz="24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109960" y="33832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2563EB"/>
                </a:solidFill>
                <a:latin typeface="微软雅黑" panose="020B0503020204020204" charset="-122"/>
              </a:rPr>
              <a:t>08</a:t>
            </a:r>
            <a:endParaRPr sz="17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896112"/>
            <a:ext cx="1088136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024128"/>
          <a:ext cx="10771632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6885432"/>
              </a:tblGrid>
              <a:tr h="195942">
                <a:tc>
                  <a:txBody>
                    <a:bodyPr wrap="square"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函数</a:t>
                      </a:r>
                    </a:p>
                  </a:txBody>
                  <a:tcPr marL="82296" marR="54864" marT="16459" marB="10972" anchor="ctr">
                    <a:solidFill>
                      <a:srgbClr val="12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实现职责</a:t>
                      </a:r>
                    </a:p>
                  </a:txBody>
                  <a:tcPr marL="82296" marR="54864" marT="16459" marB="10972" anchor="ctr">
                    <a:solidFill>
                      <a:srgbClr val="122D4E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utc_now()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生成统一格式的 UTC 时间字符串。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hash_password()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生成随机盐并使用 scrypt 计算密码哈希。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verify_password()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重新计算密码哈希并安全比较。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create_initial_db()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创建卖家、商品、意向和自增 ID 的初始数据结构。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save_db()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将状态写入临时 JSON 文件并原子替换目标文件。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load_db()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读取 JSON；文件不存在时创建初始数据库。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current_product()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获取当前未售出的商品。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is_buyable()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判断商品是否处于 active 或 resumed 状态。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current_queue()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筛选并按时间、ID 排序排队中的意向。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queue_position()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计算意向在当前队列中的位置。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new_passcode()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生成不重复的 8 位随机口令码。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valid_person()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检查姓名和联系电话是否为非空字符串。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price_cents()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校验价格格式和范围，并转换为整数分。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active_intent_by_code()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按口令查找有效意向及其商品。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start_next_trade()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取队首意向进入交易；无队列时恢复可售。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transition()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统一执行冻结、解冻、开始、成功、失败和递补状态转移。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json_body()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安全读取 JSON 请求体。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api_error()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统一返回 JSON 错误和 HTTP 状态码。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checked_image()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校验 JPG/PNG 类型、大小和真实图片内容。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create_app()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配置存储、上传目录、请求限制、锁、会话和 Flask 应用。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commit(draft)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保存草稿状态并更新内存数据库。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authenticated()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检查 Cookie 中的会话令牌是否有效。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guard_admin_api()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拦截需登录的后台、改密和发布商品请求。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upload_too_large()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处理请求体过大异常。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index_page()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返回首页文件。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</a:tr>
              <a:tr h="195942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uploaded_file()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返回上传目录中的图片。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</a:tr>
              <a:tr h="195966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public_file()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返回 public 目录中的静态文件。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629400"/>
            <a:ext cx="74980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微软雅黑" panose="020B0503020204020204" charset="-122"/>
              </a:rPr>
              <a:t>软件工程实践 · 第 2 组 · 在线购物系统 MVP</a:t>
            </a:r>
            <a:endParaRPr sz="8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2D4E"/>
                </a:solidFill>
                <a:latin typeface="微软雅黑" panose="020B0503020204020204" charset="-122"/>
              </a:rPr>
              <a:t>后端代码结构：路由表</a:t>
            </a:r>
            <a:endParaRPr sz="2400" b="1">
              <a:solidFill>
                <a:srgbClr val="122D4E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109960" y="33832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2563EB"/>
                </a:solidFill>
                <a:latin typeface="微软雅黑" panose="020B0503020204020204" charset="-122"/>
              </a:rPr>
              <a:t>09</a:t>
            </a:r>
            <a:endParaRPr sz="17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896112"/>
            <a:ext cx="1088136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024128"/>
          <a:ext cx="10771632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6885432"/>
              </a:tblGrid>
              <a:tr h="261257">
                <a:tc>
                  <a:txBody>
                    <a:bodyPr wrap="square"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路由</a:t>
                      </a:r>
                    </a:p>
                  </a:txBody>
                  <a:tcPr marL="82296" marR="54864" marT="16459" marB="10972" anchor="ctr">
                    <a:solidFill>
                      <a:srgbClr val="12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实现职责</a:t>
                      </a:r>
                    </a:p>
                  </a:txBody>
                  <a:tcPr marL="82296" marR="54864" marT="16459" marB="10972" anchor="ctr">
                    <a:solidFill>
                      <a:srgbClr val="122D4E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GET /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返回买家端首页。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GET /uploads/&lt;filename&gt;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返回上传的图片文件。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GET /&lt;filename&gt;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返回 public 目录中的静态文件。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GET /api/product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返回当前商品的公开信息。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/api/intents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校验并保存购买意向，生成口令码。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/api/intents/query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按口令查询意向阶段和排队位置。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PUT /api/intents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更新意向中的姓名和联系电话。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/api/intents/cancel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关闭对应意向并记录取消结果。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/api/auth/login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校验账号，创建会话并设置 HttpOnly Cookie。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/api/auth/password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校验并更新卖家密码。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/api/products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校验表单和图片，创建商品并持久化。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GET /api/admin/product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返回后台当前商品状态。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GET /api/admin/intents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返回购买意向队列和交易信息。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/api/admin/freeze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冻结当前商品。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/api/admin/unfreeze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恢复商品为可售状态。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/api/admin/trade/start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开始队首意向的交易。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/api/admin/trade/success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完成交易并关闭其他未成交意向。</a:t>
                      </a:r>
                    </a:p>
                  </a:txBody>
                  <a:tcPr marL="82296" marR="54864" marT="16459" marB="10972" anchor="ctr">
                    <a:solidFill>
                      <a:srgbClr val="EFF6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/api/admin/trade/fail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处理失败交易并递补下一位。</a:t>
                      </a:r>
                    </a:p>
                  </a:txBody>
                  <a:tcPr marL="82296" marR="54864" marT="16459" marB="10972" anchor="ctr">
                    <a:solidFill>
                      <a:srgbClr val="ECFE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POST /api/admin/trade/advance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处理取消后的递补操作。</a:t>
                      </a:r>
                    </a:p>
                  </a:txBody>
                  <a:tcPr marL="82296" marR="54864" marT="16459" marB="10972" anchor="ctr">
                    <a:solidFill>
                      <a:srgbClr val="F0FDF4"/>
                    </a:solidFill>
                  </a:tcPr>
                </a:tc>
              </a:tr>
              <a:tr h="261260">
                <a:tc>
                  <a:txBody>
                    <a:bodyPr wrap="square"/>
                    <a:lstStyle/>
                    <a:p>
                      <a:pPr>
                        <a:defRPr sz="780" b="1">
                          <a:solidFill>
                            <a:srgbClr val="122D4E"/>
                          </a:solidFill>
                          <a:latin typeface="微软雅黑" panose="020B0503020204020204" charset="-122"/>
                        </a:defRPr>
                      </a:pPr>
                      <a:r>
                        <a:t>GET /api/admin/history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80" b="0">
                          <a:solidFill>
                            <a:srgbClr val="1F2937"/>
                          </a:solidFill>
                          <a:latin typeface="微软雅黑" panose="020B0503020204020204" charset="-122"/>
                        </a:defRPr>
                      </a:pPr>
                      <a:r>
                        <a:t>返回已售出历史商品。</a:t>
                      </a:r>
                    </a:p>
                  </a:txBody>
                  <a:tcPr marL="82296" marR="54864" marT="16459" marB="10972" anchor="ctr">
                    <a:solidFill>
                      <a:srgbClr val="FFF7E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629400"/>
            <a:ext cx="74980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微软雅黑" panose="020B0503020204020204" charset="-122"/>
              </a:rPr>
              <a:t>软件工程实践 · 第 2 组 · 在线购物系统 MVP</a:t>
            </a:r>
            <a:endParaRPr sz="8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title-09.1"/>
          <p:cNvSpPr>
            <a:spLocks noGrp="1"/>
          </p:cNvSpPr>
          <p:nvPr/>
        </p:nvSpPr>
        <p:spPr>
          <a:xfrm>
            <a:off x="657225" y="381000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前端结构与请求约定</a:t>
            </a:r>
            <a:endParaRPr sz="27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number-09.1"/>
          <p:cNvSpPr>
            <a:spLocks noGrp="1"/>
          </p:cNvSpPr>
          <p:nvPr/>
        </p:nvSpPr>
        <p:spPr>
          <a:xfrm>
            <a:off x="11096625" y="381000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09.1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divider-09.1"/>
          <p:cNvSpPr>
            <a:spLocks noGrp="1"/>
          </p:cNvSpPr>
          <p:nvPr/>
        </p:nvSpPr>
        <p:spPr>
          <a:xfrm>
            <a:off x="657225" y="1028700"/>
            <a:ext cx="10877550" cy="28575"/>
          </a:xfrm>
          <a:prstGeom prst="rect">
            <a:avLst/>
          </a:prstGeom>
          <a:solidFill>
            <a:srgbClr val="0EA5E9"/>
          </a:solidFill>
          <a:ln w="0">
            <a:noFill/>
            <a:prstDash val="solid"/>
          </a:ln>
        </p:spPr>
      </p:sp>
      <p:sp>
        <p:nvSpPr>
          <p:cNvPr id="4" name="footer-message-09.1"/>
          <p:cNvSpPr>
            <a:spLocks noGrp="1"/>
          </p:cNvSpPr>
          <p:nvPr/>
        </p:nvSpPr>
        <p:spPr>
          <a:xfrm>
            <a:off x="819150" y="5438775"/>
            <a:ext cx="1009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页面负责采集与呈现；排队、口令码和交易状态由服务端校验。</a:t>
            </a:r>
            <a:endParaRPr sz="15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footer-09.1"/>
          <p:cNvSpPr>
            <a:spLocks noGrp="1"/>
          </p:cNvSpPr>
          <p:nvPr/>
        </p:nvSpPr>
        <p:spPr>
          <a:xfrm>
            <a:off x="657225" y="6486525"/>
            <a:ext cx="6667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6-intro"/>
          <p:cNvSpPr>
            <a:spLocks noGrp="1"/>
          </p:cNvSpPr>
          <p:nvPr/>
        </p:nvSpPr>
        <p:spPr>
          <a:xfrm>
            <a:off x="819150" y="1438275"/>
            <a:ext cx="5810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两张页面，共用一套样式</a:t>
            </a:r>
            <a:endParaRPr sz="21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6-buyer-title"/>
          <p:cNvSpPr>
            <a:spLocks noGrp="1"/>
          </p:cNvSpPr>
          <p:nvPr/>
        </p:nvSpPr>
        <p:spPr>
          <a:xfrm>
            <a:off x="819150" y="2038350"/>
            <a:ext cx="11906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买家页</a:t>
            </a:r>
            <a:endParaRPr sz="1800" b="1">
              <a:solidFill>
                <a:srgbClr val="1089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6-buyer-file"/>
          <p:cNvSpPr>
            <a:spLocks noGrp="1"/>
          </p:cNvSpPr>
          <p:nvPr/>
        </p:nvSpPr>
        <p:spPr>
          <a:xfrm>
            <a:off x="2000250" y="2038350"/>
            <a:ext cx="43624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index.html + app.js</a:t>
            </a:r>
            <a:endParaRPr sz="16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6-buyer-desc"/>
          <p:cNvSpPr>
            <a:spLocks noGrp="1"/>
          </p:cNvSpPr>
          <p:nvPr/>
        </p:nvSpPr>
        <p:spPr>
          <a:xfrm>
            <a:off x="819150" y="2381250"/>
            <a:ext cx="5715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商品展示、提交意向、凭码查询与管理</a:t>
            </a:r>
            <a:endParaRPr sz="16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6-seller-title"/>
          <p:cNvSpPr>
            <a:spLocks noGrp="1"/>
          </p:cNvSpPr>
          <p:nvPr/>
        </p:nvSpPr>
        <p:spPr>
          <a:xfrm>
            <a:off x="819150" y="3000375"/>
            <a:ext cx="11906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卖家页</a:t>
            </a:r>
            <a:endParaRPr sz="1800" b="1">
              <a:solidFill>
                <a:srgbClr val="1089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6-seller-file"/>
          <p:cNvSpPr>
            <a:spLocks noGrp="1"/>
          </p:cNvSpPr>
          <p:nvPr/>
        </p:nvSpPr>
        <p:spPr>
          <a:xfrm>
            <a:off x="2000250" y="3000375"/>
            <a:ext cx="43624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admin.html + admin.js</a:t>
            </a:r>
            <a:endParaRPr sz="16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6-seller-desc"/>
          <p:cNvSpPr>
            <a:spLocks noGrp="1"/>
          </p:cNvSpPr>
          <p:nvPr/>
        </p:nvSpPr>
        <p:spPr>
          <a:xfrm>
            <a:off x="819150" y="3343275"/>
            <a:ext cx="5715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登录、发布商品、交易处置与历史查看</a:t>
            </a:r>
            <a:endParaRPr sz="16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6-style-title"/>
          <p:cNvSpPr>
            <a:spLocks noGrp="1"/>
          </p:cNvSpPr>
          <p:nvPr/>
        </p:nvSpPr>
        <p:spPr>
          <a:xfrm>
            <a:off x="819150" y="3962400"/>
            <a:ext cx="11906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共享层</a:t>
            </a:r>
            <a:endParaRPr sz="1800" b="1">
              <a:solidFill>
                <a:srgbClr val="1089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6-style-file"/>
          <p:cNvSpPr>
            <a:spLocks noGrp="1"/>
          </p:cNvSpPr>
          <p:nvPr/>
        </p:nvSpPr>
        <p:spPr>
          <a:xfrm>
            <a:off x="2000250" y="3962400"/>
            <a:ext cx="43624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style.css + request()</a:t>
            </a:r>
            <a:endParaRPr sz="16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6-style-desc"/>
          <p:cNvSpPr>
            <a:spLocks noGrp="1"/>
          </p:cNvSpPr>
          <p:nvPr/>
        </p:nvSpPr>
        <p:spPr>
          <a:xfrm>
            <a:off x="819150" y="4305300"/>
            <a:ext cx="5715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统一视觉样式与 API 错误处理</a:t>
            </a:r>
            <a:endParaRPr sz="16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6-code-surface"/>
          <p:cNvSpPr>
            <a:spLocks noGrp="1"/>
          </p:cNvSpPr>
          <p:nvPr/>
        </p:nvSpPr>
        <p:spPr>
          <a:xfrm>
            <a:off x="7096125" y="1438275"/>
            <a:ext cx="4429125" cy="3362325"/>
          </a:xfrm>
          <a:prstGeom prst="roundRect">
            <a:avLst>
              <a:gd name="adj" fmla="val 62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s6-code-accent"/>
          <p:cNvSpPr>
            <a:spLocks noGrp="1"/>
          </p:cNvSpPr>
          <p:nvPr/>
        </p:nvSpPr>
        <p:spPr>
          <a:xfrm>
            <a:off x="7096125" y="1438275"/>
            <a:ext cx="76200" cy="3362325"/>
          </a:xfrm>
          <a:prstGeom prst="rect">
            <a:avLst/>
          </a:prstGeom>
          <a:solidFill>
            <a:srgbClr val="10895E"/>
          </a:solidFill>
          <a:ln w="0">
            <a:noFill/>
            <a:prstDash val="solid"/>
          </a:ln>
        </p:spPr>
      </p:sp>
      <p:sp>
        <p:nvSpPr>
          <p:cNvPr id="18" name="s6-code-heading"/>
          <p:cNvSpPr>
            <a:spLocks noGrp="1"/>
          </p:cNvSpPr>
          <p:nvPr/>
        </p:nvSpPr>
        <p:spPr>
          <a:xfrm>
            <a:off x="7381875" y="1647825"/>
            <a:ext cx="38766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统一请求函数 · app.js:14–19</a:t>
            </a:r>
            <a:endParaRPr sz="18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6-code-code"/>
          <p:cNvSpPr>
            <a:spLocks noGrp="1"/>
          </p:cNvSpPr>
          <p:nvPr/>
        </p:nvSpPr>
        <p:spPr>
          <a:xfrm>
            <a:off x="7381875" y="2095500"/>
            <a:ext cx="3876675" cy="2543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1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1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async function request(url, options = {}) {</a:t>
            </a:r>
            <a:endParaRPr sz="1215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1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1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response = await fetch(url, options);</a:t>
            </a:r>
            <a:endParaRPr sz="1215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1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1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data = await response.json();</a:t>
            </a:r>
            <a:endParaRPr sz="1215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1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1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if (!response.ok) throw new Error(</a:t>
            </a:r>
            <a:endParaRPr sz="1215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1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1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data.error || '操作失败');</a:t>
            </a:r>
            <a:endParaRPr sz="1215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1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1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return data;</a:t>
            </a:r>
            <a:endParaRPr sz="1215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1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1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215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658368" y="384048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戚航瑞：前端与联调</a:t>
            </a:r>
            <a:endParaRPr sz="27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11109960" y="38404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58368" y="1024128"/>
            <a:ext cx="1088136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658368" y="6473952"/>
            <a:ext cx="74980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822960" y="13533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个人负责内容</a:t>
            </a:r>
            <a:endParaRPr sz="20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822960" y="1783080"/>
            <a:ext cx="594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buNone/>
              <a:defRPr sz="18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完成买家端页面，支持查看商品、提交意向、查询进度、修改和撤销。</a:t>
            </a:r>
          </a:p>
          <a:p>
            <a:pPr>
              <a:spcAft>
                <a:spcPts val="1300"/>
              </a:spcAft>
              <a:buNone/>
              <a:defRPr sz="18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完成卖家后台页面，支持登录、发布商品、队列处理和历史记录。</a:t>
            </a:r>
          </a:p>
          <a:p>
            <a:pPr>
              <a:spcAft>
                <a:spcPts val="1300"/>
              </a:spcAft>
              <a:buNone/>
              <a:defRPr sz="180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完成前后端核心流程联调，保证页面操作与 API 状态保持一致。</a:t>
            </a: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7315200" y="1417320"/>
            <a:ext cx="36576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315200" y="1417320"/>
            <a:ext cx="82296" cy="2514600"/>
          </a:xfrm>
          <a:prstGeom prst="rect">
            <a:avLst/>
          </a:prstGeom>
          <a:solidFill>
            <a:srgbClr val="108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7543800" y="158191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本页成果物</a:t>
            </a:r>
            <a:endParaRPr sz="18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7543800" y="2039112"/>
            <a:ext cx="324612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public/index.html
public/admin.html
app.js / admin.js
style.css</a:t>
            </a:r>
            <a:endParaRPr sz="14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822960" y="544068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6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汇报重点：说明本人完成了什么、产出了什么，以及成果如何支撑本次 MVP。</a:t>
            </a:r>
            <a:endParaRPr sz="16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title-09.2"/>
          <p:cNvSpPr>
            <a:spLocks noGrp="1"/>
          </p:cNvSpPr>
          <p:nvPr/>
        </p:nvSpPr>
        <p:spPr>
          <a:xfrm>
            <a:off x="657225" y="381000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买家端：商品展示与提交意向</a:t>
            </a:r>
            <a:endParaRPr sz="27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number-09.2"/>
          <p:cNvSpPr>
            <a:spLocks noGrp="1"/>
          </p:cNvSpPr>
          <p:nvPr/>
        </p:nvSpPr>
        <p:spPr>
          <a:xfrm>
            <a:off x="11096625" y="381000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09.2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divider-09.2"/>
          <p:cNvSpPr>
            <a:spLocks noGrp="1"/>
          </p:cNvSpPr>
          <p:nvPr/>
        </p:nvSpPr>
        <p:spPr>
          <a:xfrm>
            <a:off x="657225" y="1028700"/>
            <a:ext cx="10877550" cy="28575"/>
          </a:xfrm>
          <a:prstGeom prst="rect">
            <a:avLst/>
          </a:prstGeom>
          <a:solidFill>
            <a:srgbClr val="0EA5E9"/>
          </a:solidFill>
          <a:ln w="0">
            <a:noFill/>
            <a:prstDash val="solid"/>
          </a:ln>
        </p:spPr>
      </p:sp>
      <p:sp>
        <p:nvSpPr>
          <p:cNvPr id="4" name="footer-message-09.2"/>
          <p:cNvSpPr>
            <a:spLocks noGrp="1"/>
          </p:cNvSpPr>
          <p:nvPr/>
        </p:nvSpPr>
        <p:spPr>
          <a:xfrm>
            <a:off x="819150" y="5438775"/>
            <a:ext cx="1009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成功后只展示本次返回的口令码，并聚焦提示卡提醒买家保存。</a:t>
            </a:r>
            <a:endParaRPr sz="15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footer-09.2"/>
          <p:cNvSpPr>
            <a:spLocks noGrp="1"/>
          </p:cNvSpPr>
          <p:nvPr/>
        </p:nvSpPr>
        <p:spPr>
          <a:xfrm>
            <a:off x="657225" y="6486525"/>
            <a:ext cx="6667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7-buyer-frame"/>
          <p:cNvSpPr>
            <a:spLocks noGrp="1"/>
          </p:cNvSpPr>
          <p:nvPr/>
        </p:nvSpPr>
        <p:spPr>
          <a:xfrm>
            <a:off x="800100" y="1476375"/>
            <a:ext cx="5257800" cy="33623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1661534"/>
            <a:ext cx="5219700" cy="2992007"/>
          </a:xfrm>
          <a:prstGeom prst="rect">
            <a:avLst/>
          </a:prstGeom>
        </p:spPr>
      </p:pic>
      <p:sp>
        <p:nvSpPr>
          <p:cNvPr id="8" name="s7-shot-caption"/>
          <p:cNvSpPr>
            <a:spLocks noGrp="1"/>
          </p:cNvSpPr>
          <p:nvPr/>
        </p:nvSpPr>
        <p:spPr>
          <a:xfrm>
            <a:off x="819150" y="4895850"/>
            <a:ext cx="5219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本地运行画面（临时演示数据）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7-state-title"/>
          <p:cNvSpPr>
            <a:spLocks noGrp="1"/>
          </p:cNvSpPr>
          <p:nvPr/>
        </p:nvSpPr>
        <p:spPr>
          <a:xfrm>
            <a:off x="6457950" y="1466850"/>
            <a:ext cx="5048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接口状态决定页面内容</a:t>
            </a:r>
            <a:endParaRPr sz="195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7-state1"/>
          <p:cNvSpPr>
            <a:spLocks noGrp="1"/>
          </p:cNvSpPr>
          <p:nvPr/>
        </p:nvSpPr>
        <p:spPr>
          <a:xfrm>
            <a:off x="6457950" y="1895475"/>
            <a:ext cx="5048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 /api/product 后检查 buyable</a:t>
            </a:r>
            <a:endParaRPr sz="157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7-state2"/>
          <p:cNvSpPr>
            <a:spLocks noGrp="1"/>
          </p:cNvSpPr>
          <p:nvPr/>
        </p:nvSpPr>
        <p:spPr>
          <a:xfrm>
            <a:off x="6457950" y="2200275"/>
            <a:ext cx="5048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在售时显示购买表单</a:t>
            </a:r>
            <a:endParaRPr sz="157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7-state3"/>
          <p:cNvSpPr>
            <a:spLocks noGrp="1"/>
          </p:cNvSpPr>
          <p:nvPr/>
        </p:nvSpPr>
        <p:spPr>
          <a:xfrm>
            <a:off x="6457950" y="2505075"/>
            <a:ext cx="5048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无商品、暂停或加载失败时显示提示</a:t>
            </a:r>
            <a:endParaRPr sz="157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7-submit-title"/>
          <p:cNvSpPr>
            <a:spLocks noGrp="1"/>
          </p:cNvSpPr>
          <p:nvPr/>
        </p:nvSpPr>
        <p:spPr>
          <a:xfrm>
            <a:off x="6457950" y="3067050"/>
            <a:ext cx="5048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表单提交链路</a:t>
            </a:r>
            <a:endParaRPr sz="195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7-submit1"/>
          <p:cNvSpPr>
            <a:spLocks noGrp="1"/>
          </p:cNvSpPr>
          <p:nvPr/>
        </p:nvSpPr>
        <p:spPr>
          <a:xfrm>
            <a:off x="6457950" y="3486150"/>
            <a:ext cx="5048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preventDefault() 阻止页面跳转，提交期间禁用按钮。</a:t>
            </a:r>
            <a:endParaRPr sz="154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7-submit2"/>
          <p:cNvSpPr>
            <a:spLocks noGrp="1"/>
          </p:cNvSpPr>
          <p:nvPr/>
        </p:nvSpPr>
        <p:spPr>
          <a:xfrm>
            <a:off x="6457950" y="4038600"/>
            <a:ext cx="5048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1089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40" b="0">
                <a:solidFill>
                  <a:srgbClr val="1089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POST /api/intents</a:t>
            </a:r>
            <a:endParaRPr sz="1540" b="0">
              <a:solidFill>
                <a:srgbClr val="10895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s7-submit3a"/>
          <p:cNvSpPr>
            <a:spLocks noGrp="1"/>
          </p:cNvSpPr>
          <p:nvPr/>
        </p:nvSpPr>
        <p:spPr>
          <a:xfrm>
            <a:off x="6457950" y="4419600"/>
            <a:ext cx="5048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FormData 收集输入并转成 JSON</a:t>
            </a:r>
            <a:endParaRPr sz="154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7-submit3b"/>
          <p:cNvSpPr>
            <a:spLocks noGrp="1"/>
          </p:cNvSpPr>
          <p:nvPr/>
        </p:nvSpPr>
        <p:spPr>
          <a:xfrm>
            <a:off x="6457950" y="4743450"/>
            <a:ext cx="5048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成功后聚焦口令提示卡；失败时显示错误</a:t>
            </a:r>
            <a:endParaRPr sz="154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title-09.3"/>
          <p:cNvSpPr>
            <a:spLocks noGrp="1"/>
          </p:cNvSpPr>
          <p:nvPr/>
        </p:nvSpPr>
        <p:spPr>
          <a:xfrm>
            <a:off x="657225" y="381000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买家端：凭口令码管理意向</a:t>
            </a:r>
            <a:endParaRPr sz="27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number-09.3"/>
          <p:cNvSpPr>
            <a:spLocks noGrp="1"/>
          </p:cNvSpPr>
          <p:nvPr/>
        </p:nvSpPr>
        <p:spPr>
          <a:xfrm>
            <a:off x="11096625" y="381000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09.3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divider-09.3"/>
          <p:cNvSpPr>
            <a:spLocks noGrp="1"/>
          </p:cNvSpPr>
          <p:nvPr/>
        </p:nvSpPr>
        <p:spPr>
          <a:xfrm>
            <a:off x="657225" y="1028700"/>
            <a:ext cx="10877550" cy="28575"/>
          </a:xfrm>
          <a:prstGeom prst="rect">
            <a:avLst/>
          </a:prstGeom>
          <a:solidFill>
            <a:srgbClr val="0EA5E9"/>
          </a:solidFill>
          <a:ln w="0">
            <a:noFill/>
            <a:prstDash val="solid"/>
          </a:ln>
        </p:spPr>
      </p:sp>
      <p:sp>
        <p:nvSpPr>
          <p:cNvPr id="4" name="footer-message-09.3"/>
          <p:cNvSpPr>
            <a:spLocks noGrp="1"/>
          </p:cNvSpPr>
          <p:nvPr/>
        </p:nvSpPr>
        <p:spPr>
          <a:xfrm>
            <a:off x="819150" y="5438775"/>
            <a:ext cx="1009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口令码保存在当前页面的 JS 变量中；服务端验证是否仍有效。</a:t>
            </a:r>
            <a:endParaRPr sz="15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footer-09.3"/>
          <p:cNvSpPr>
            <a:spLocks noGrp="1"/>
          </p:cNvSpPr>
          <p:nvPr/>
        </p:nvSpPr>
        <p:spPr>
          <a:xfrm>
            <a:off x="657225" y="6486525"/>
            <a:ext cx="6667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8-head"/>
          <p:cNvSpPr>
            <a:spLocks noGrp="1"/>
          </p:cNvSpPr>
          <p:nvPr/>
        </p:nvSpPr>
        <p:spPr>
          <a:xfrm>
            <a:off x="819150" y="1438275"/>
            <a:ext cx="10287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一个口令码对应查询、修改、撤销三种操作</a:t>
            </a:r>
            <a:endParaRPr sz="2025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8-num-01"/>
          <p:cNvSpPr>
            <a:spLocks noGrp="1"/>
          </p:cNvSpPr>
          <p:nvPr/>
        </p:nvSpPr>
        <p:spPr>
          <a:xfrm>
            <a:off x="819150" y="20955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875" b="1">
              <a:solidFill>
                <a:srgbClr val="1089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8-label-01"/>
          <p:cNvSpPr>
            <a:spLocks noGrp="1"/>
          </p:cNvSpPr>
          <p:nvPr/>
        </p:nvSpPr>
        <p:spPr>
          <a:xfrm>
            <a:off x="1504950" y="2095500"/>
            <a:ext cx="171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查询排位</a:t>
            </a:r>
            <a:endParaRPr sz="18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8-route-01"/>
          <p:cNvSpPr>
            <a:spLocks noGrp="1"/>
          </p:cNvSpPr>
          <p:nvPr/>
        </p:nvSpPr>
        <p:spPr>
          <a:xfrm>
            <a:off x="3381375" y="2095500"/>
            <a:ext cx="3286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7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POST /api/intents/query</a:t>
            </a:r>
            <a:endParaRPr sz="1575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s8-detail-01"/>
          <p:cNvSpPr>
            <a:spLocks noGrp="1"/>
          </p:cNvSpPr>
          <p:nvPr/>
        </p:nvSpPr>
        <p:spPr>
          <a:xfrm>
            <a:off x="6896100" y="2095500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显示“排队第 N 位”或“交易中”</a:t>
            </a:r>
            <a:endParaRPr sz="154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8-rule-01"/>
          <p:cNvSpPr>
            <a:spLocks noGrp="1"/>
          </p:cNvSpPr>
          <p:nvPr/>
        </p:nvSpPr>
        <p:spPr>
          <a:xfrm>
            <a:off x="819150" y="2790825"/>
            <a:ext cx="1064895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2" name="s8-num-02"/>
          <p:cNvSpPr>
            <a:spLocks noGrp="1"/>
          </p:cNvSpPr>
          <p:nvPr/>
        </p:nvSpPr>
        <p:spPr>
          <a:xfrm>
            <a:off x="819150" y="3000375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875" b="1">
              <a:solidFill>
                <a:srgbClr val="1089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8-label-02"/>
          <p:cNvSpPr>
            <a:spLocks noGrp="1"/>
          </p:cNvSpPr>
          <p:nvPr/>
        </p:nvSpPr>
        <p:spPr>
          <a:xfrm>
            <a:off x="1504950" y="3000375"/>
            <a:ext cx="171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修改资料</a:t>
            </a:r>
            <a:endParaRPr sz="18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8-route-02"/>
          <p:cNvSpPr>
            <a:spLocks noGrp="1"/>
          </p:cNvSpPr>
          <p:nvPr/>
        </p:nvSpPr>
        <p:spPr>
          <a:xfrm>
            <a:off x="3381375" y="3000375"/>
            <a:ext cx="3286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7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PUT /api/intents</a:t>
            </a:r>
            <a:endParaRPr sz="1575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s8-detail-02"/>
          <p:cNvSpPr>
            <a:spLocks noGrp="1"/>
          </p:cNvSpPr>
          <p:nvPr/>
        </p:nvSpPr>
        <p:spPr>
          <a:xfrm>
            <a:off x="6896100" y="300037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把表单姓名、电话和当前口令码一起提交</a:t>
            </a:r>
            <a:endParaRPr sz="154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8-rule-02"/>
          <p:cNvSpPr>
            <a:spLocks noGrp="1"/>
          </p:cNvSpPr>
          <p:nvPr/>
        </p:nvSpPr>
        <p:spPr>
          <a:xfrm>
            <a:off x="819150" y="3695700"/>
            <a:ext cx="1064895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7" name="s8-num-03"/>
          <p:cNvSpPr>
            <a:spLocks noGrp="1"/>
          </p:cNvSpPr>
          <p:nvPr/>
        </p:nvSpPr>
        <p:spPr>
          <a:xfrm>
            <a:off x="819150" y="390525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08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875" b="1">
              <a:solidFill>
                <a:srgbClr val="1089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8-label-03"/>
          <p:cNvSpPr>
            <a:spLocks noGrp="1"/>
          </p:cNvSpPr>
          <p:nvPr/>
        </p:nvSpPr>
        <p:spPr>
          <a:xfrm>
            <a:off x="1504950" y="3905250"/>
            <a:ext cx="171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撤销意向</a:t>
            </a:r>
            <a:endParaRPr sz="18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8-route-03"/>
          <p:cNvSpPr>
            <a:spLocks noGrp="1"/>
          </p:cNvSpPr>
          <p:nvPr/>
        </p:nvSpPr>
        <p:spPr>
          <a:xfrm>
            <a:off x="3381375" y="3905250"/>
            <a:ext cx="3286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7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POST /api/intents/cancel</a:t>
            </a:r>
            <a:endParaRPr sz="1575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s8-detail-03"/>
          <p:cNvSpPr>
            <a:spLocks noGrp="1"/>
          </p:cNvSpPr>
          <p:nvPr/>
        </p:nvSpPr>
        <p:spPr>
          <a:xfrm>
            <a:off x="6896100" y="3905250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确认后隐藏编辑表单并更新提示</a:t>
            </a:r>
            <a:endParaRPr sz="154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s8-code-bg"/>
          <p:cNvSpPr>
            <a:spLocks noGrp="1"/>
          </p:cNvSpPr>
          <p:nvPr/>
        </p:nvSpPr>
        <p:spPr>
          <a:xfrm>
            <a:off x="819150" y="4867275"/>
            <a:ext cx="106489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8-code"/>
          <p:cNvSpPr>
            <a:spLocks noGrp="1"/>
          </p:cNvSpPr>
          <p:nvPr/>
        </p:nvSpPr>
        <p:spPr>
          <a:xfrm>
            <a:off x="990600" y="49530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currentCode = new FormData(event.target).get('passcode').trim().toUpperCase();</a:t>
            </a:r>
            <a:endParaRPr sz="1350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title-09.4"/>
          <p:cNvSpPr>
            <a:spLocks noGrp="1"/>
          </p:cNvSpPr>
          <p:nvPr/>
        </p:nvSpPr>
        <p:spPr>
          <a:xfrm>
            <a:off x="657225" y="381000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卖家端：按状态显示交易操作</a:t>
            </a:r>
            <a:endParaRPr sz="27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number-09.4"/>
          <p:cNvSpPr>
            <a:spLocks noGrp="1"/>
          </p:cNvSpPr>
          <p:nvPr/>
        </p:nvSpPr>
        <p:spPr>
          <a:xfrm>
            <a:off x="11096625" y="381000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09.4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divider-09.4"/>
          <p:cNvSpPr>
            <a:spLocks noGrp="1"/>
          </p:cNvSpPr>
          <p:nvPr/>
        </p:nvSpPr>
        <p:spPr>
          <a:xfrm>
            <a:off x="657225" y="1028700"/>
            <a:ext cx="10877550" cy="28575"/>
          </a:xfrm>
          <a:prstGeom prst="rect">
            <a:avLst/>
          </a:prstGeom>
          <a:solidFill>
            <a:srgbClr val="0EA5E9"/>
          </a:solidFill>
          <a:ln w="0">
            <a:noFill/>
            <a:prstDash val="solid"/>
          </a:ln>
        </p:spPr>
      </p:sp>
      <p:sp>
        <p:nvSpPr>
          <p:cNvPr id="4" name="footer-message-09.4"/>
          <p:cNvSpPr>
            <a:spLocks noGrp="1"/>
          </p:cNvSpPr>
          <p:nvPr/>
        </p:nvSpPr>
        <p:spPr>
          <a:xfrm>
            <a:off x="819150" y="5438775"/>
            <a:ext cx="1009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每次操作成功后重新请求商品、队列和历史，界面与服务端状态保持一致。</a:t>
            </a:r>
            <a:endParaRPr sz="15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footer-09.4"/>
          <p:cNvSpPr>
            <a:spLocks noGrp="1"/>
          </p:cNvSpPr>
          <p:nvPr/>
        </p:nvSpPr>
        <p:spPr>
          <a:xfrm>
            <a:off x="657225" y="6486525"/>
            <a:ext cx="6667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9-seller-frame"/>
          <p:cNvSpPr>
            <a:spLocks noGrp="1"/>
          </p:cNvSpPr>
          <p:nvPr/>
        </p:nvSpPr>
        <p:spPr>
          <a:xfrm>
            <a:off x="800100" y="1590675"/>
            <a:ext cx="5276850" cy="32099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152" y="1609725"/>
            <a:ext cx="5232745" cy="3171825"/>
          </a:xfrm>
          <a:prstGeom prst="rect">
            <a:avLst/>
          </a:prstGeom>
        </p:spPr>
      </p:pic>
      <p:sp>
        <p:nvSpPr>
          <p:cNvPr id="8" name="s9-shot-caption"/>
          <p:cNvSpPr>
            <a:spLocks noGrp="1"/>
          </p:cNvSpPr>
          <p:nvPr/>
        </p:nvSpPr>
        <p:spPr>
          <a:xfrm>
            <a:off x="819150" y="4857750"/>
            <a:ext cx="5238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本地运行（临时演示数据）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9-current-title"/>
          <p:cNvSpPr>
            <a:spLocks noGrp="1"/>
          </p:cNvSpPr>
          <p:nvPr/>
        </p:nvSpPr>
        <p:spPr>
          <a:xfrm>
            <a:off x="6438900" y="1457325"/>
            <a:ext cx="50196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renderCurrent() 决定可见按钮</a:t>
            </a:r>
            <a:endParaRPr sz="1875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9-state1"/>
          <p:cNvSpPr>
            <a:spLocks noGrp="1"/>
          </p:cNvSpPr>
          <p:nvPr/>
        </p:nvSpPr>
        <p:spPr>
          <a:xfrm>
            <a:off x="6438900" y="2009775"/>
            <a:ext cx="5000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在售：开始交易、暂缓接收</a:t>
            </a:r>
            <a:endParaRPr sz="154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9-state2"/>
          <p:cNvSpPr>
            <a:spLocks noGrp="1"/>
          </p:cNvSpPr>
          <p:nvPr/>
        </p:nvSpPr>
        <p:spPr>
          <a:xfrm>
            <a:off x="6438900" y="2419350"/>
            <a:ext cx="5000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冻结且无交易：恢复接收</a:t>
            </a:r>
            <a:endParaRPr sz="154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9-state3"/>
          <p:cNvSpPr>
            <a:spLocks noGrp="1"/>
          </p:cNvSpPr>
          <p:nvPr/>
        </p:nvSpPr>
        <p:spPr>
          <a:xfrm>
            <a:off x="6438900" y="2828925"/>
            <a:ext cx="5000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交易中：成功、失败重排或作废</a:t>
            </a:r>
            <a:endParaRPr sz="154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9-state4"/>
          <p:cNvSpPr>
            <a:spLocks noGrp="1"/>
          </p:cNvSpPr>
          <p:nvPr/>
        </p:nvSpPr>
        <p:spPr>
          <a:xfrm>
            <a:off x="6438900" y="3238500"/>
            <a:ext cx="5000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交易买家撤销：处理撤销并递补</a:t>
            </a:r>
            <a:endParaRPr sz="154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9-code-bg"/>
          <p:cNvSpPr>
            <a:spLocks noGrp="1"/>
          </p:cNvSpPr>
          <p:nvPr/>
        </p:nvSpPr>
        <p:spPr>
          <a:xfrm>
            <a:off x="6400800" y="3743325"/>
            <a:ext cx="5086350" cy="1485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9-code"/>
          <p:cNvSpPr>
            <a:spLocks noGrp="1"/>
          </p:cNvSpPr>
          <p:nvPr/>
        </p:nvSpPr>
        <p:spPr>
          <a:xfrm>
            <a:off x="6553200" y="3857625"/>
            <a:ext cx="4781550" cy="1323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$('#current').innerHTML =</a:t>
            </a:r>
            <a:endParaRPr sz="1200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renderCurrent(product, tradingIntent);</a:t>
            </a:r>
            <a:endParaRPr sz="1200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$('#current').querySelectorAll('[data-action]')</a:t>
            </a:r>
            <a:endParaRPr sz="1200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.forEach((button) =&gt; {</a:t>
            </a:r>
            <a:endParaRPr sz="1200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button.onclick = () =&gt;</a:t>
            </a:r>
            <a:endParaRPr sz="1200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action(button.dataset.action, button);</a:t>
            </a:r>
            <a:endParaRPr sz="1200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});</a:t>
            </a:r>
            <a:endParaRPr sz="1200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title-09.5"/>
          <p:cNvSpPr>
            <a:spLocks noGrp="1"/>
          </p:cNvSpPr>
          <p:nvPr/>
        </p:nvSpPr>
        <p:spPr>
          <a:xfrm>
            <a:off x="657225" y="381000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联调证据与下一步</a:t>
            </a:r>
            <a:endParaRPr sz="27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number-09.5"/>
          <p:cNvSpPr>
            <a:spLocks noGrp="1"/>
          </p:cNvSpPr>
          <p:nvPr/>
        </p:nvSpPr>
        <p:spPr>
          <a:xfrm>
            <a:off x="11096625" y="381000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09.5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divider-09.5"/>
          <p:cNvSpPr>
            <a:spLocks noGrp="1"/>
          </p:cNvSpPr>
          <p:nvPr/>
        </p:nvSpPr>
        <p:spPr>
          <a:xfrm>
            <a:off x="657225" y="1028700"/>
            <a:ext cx="10877550" cy="28575"/>
          </a:xfrm>
          <a:prstGeom prst="rect">
            <a:avLst/>
          </a:prstGeom>
          <a:solidFill>
            <a:srgbClr val="0EA5E9"/>
          </a:solidFill>
          <a:ln w="0">
            <a:noFill/>
            <a:prstDash val="solid"/>
          </a:ln>
        </p:spPr>
      </p:sp>
      <p:sp>
        <p:nvSpPr>
          <p:cNvPr id="4" name="footer-message-09.5"/>
          <p:cNvSpPr>
            <a:spLocks noGrp="1"/>
          </p:cNvSpPr>
          <p:nvPr/>
        </p:nvSpPr>
        <p:spPr>
          <a:xfrm>
            <a:off x="819150" y="5438775"/>
            <a:ext cx="1009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4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本页只列仓库中可核查的已完成项；浏览器自动化测试属于下一步计划。</a:t>
            </a:r>
            <a:endParaRPr sz="154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footer-09.5"/>
          <p:cNvSpPr>
            <a:spLocks noGrp="1"/>
          </p:cNvSpPr>
          <p:nvPr/>
        </p:nvSpPr>
        <p:spPr>
          <a:xfrm>
            <a:off x="657225" y="6486525"/>
            <a:ext cx="6667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10-done-heading"/>
          <p:cNvSpPr>
            <a:spLocks noGrp="1"/>
          </p:cNvSpPr>
          <p:nvPr/>
        </p:nvSpPr>
        <p:spPr>
          <a:xfrm>
            <a:off x="819150" y="1457325"/>
            <a:ext cx="452437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本次前端已完成</a:t>
            </a:r>
            <a:endParaRPr sz="21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10-done1"/>
          <p:cNvSpPr>
            <a:spLocks noGrp="1"/>
          </p:cNvSpPr>
          <p:nvPr/>
        </p:nvSpPr>
        <p:spPr>
          <a:xfrm>
            <a:off x="819150" y="2057400"/>
            <a:ext cx="5238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买家与卖家两张页面可本地运行</a:t>
            </a:r>
            <a:endParaRPr sz="16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10-done2"/>
          <p:cNvSpPr>
            <a:spLocks noGrp="1"/>
          </p:cNvSpPr>
          <p:nvPr/>
        </p:nvSpPr>
        <p:spPr>
          <a:xfrm>
            <a:off x="819150" y="2543175"/>
            <a:ext cx="5238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请求失败提示、提交按钮防重复操作</a:t>
            </a:r>
            <a:endParaRPr sz="16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10-done3"/>
          <p:cNvSpPr>
            <a:spLocks noGrp="1"/>
          </p:cNvSpPr>
          <p:nvPr/>
        </p:nvSpPr>
        <p:spPr>
          <a:xfrm>
            <a:off x="819150" y="3028950"/>
            <a:ext cx="5524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动态文本转义；950/700/420px 断点适配</a:t>
            </a:r>
            <a:endParaRPr sz="16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10-done4"/>
          <p:cNvSpPr>
            <a:spLocks noGrp="1"/>
          </p:cNvSpPr>
          <p:nvPr/>
        </p:nvSpPr>
        <p:spPr>
          <a:xfrm>
            <a:off x="819150" y="3752850"/>
            <a:ext cx="5238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项 Flask API 集成测试本地通过</a:t>
            </a:r>
            <a:endParaRPr sz="16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10-panel"/>
          <p:cNvSpPr>
            <a:spLocks noGrp="1"/>
          </p:cNvSpPr>
          <p:nvPr/>
        </p:nvSpPr>
        <p:spPr>
          <a:xfrm>
            <a:off x="6705600" y="1428750"/>
            <a:ext cx="4800600" cy="3381375"/>
          </a:xfrm>
          <a:prstGeom prst="roundRect">
            <a:avLst>
              <a:gd name="adj" fmla="val 61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s10-accent"/>
          <p:cNvSpPr>
            <a:spLocks noGrp="1"/>
          </p:cNvSpPr>
          <p:nvPr/>
        </p:nvSpPr>
        <p:spPr>
          <a:xfrm>
            <a:off x="6705600" y="1428750"/>
            <a:ext cx="76200" cy="3381375"/>
          </a:xfrm>
          <a:prstGeom prst="rect">
            <a:avLst/>
          </a:prstGeom>
          <a:solidFill>
            <a:srgbClr val="10895E"/>
          </a:solidFill>
          <a:ln w="0">
            <a:noFill/>
            <a:prstDash val="solid"/>
          </a:ln>
        </p:spPr>
      </p:sp>
      <p:sp>
        <p:nvSpPr>
          <p:cNvPr id="13" name="s10-proof-title"/>
          <p:cNvSpPr>
            <a:spLocks noGrp="1"/>
          </p:cNvSpPr>
          <p:nvPr/>
        </p:nvSpPr>
        <p:spPr>
          <a:xfrm>
            <a:off x="6991350" y="1647825"/>
            <a:ext cx="41433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成果物与复现方式</a:t>
            </a:r>
            <a:endParaRPr sz="1875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10-proof-files"/>
          <p:cNvSpPr>
            <a:spLocks noGrp="1"/>
          </p:cNvSpPr>
          <p:nvPr/>
        </p:nvSpPr>
        <p:spPr>
          <a:xfrm>
            <a:off x="6991350" y="2181225"/>
            <a:ext cx="41910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public/index.html  ·  public/app.js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public/admin.html  ·  public/admin.js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public/style.css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10-proof-run-label"/>
          <p:cNvSpPr>
            <a:spLocks noGrp="1"/>
          </p:cNvSpPr>
          <p:nvPr/>
        </p:nvSpPr>
        <p:spPr>
          <a:xfrm>
            <a:off x="6991350" y="3457575"/>
            <a:ext cx="819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运行：</a:t>
            </a:r>
            <a:endParaRPr sz="1575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10-proof-run"/>
          <p:cNvSpPr>
            <a:spLocks noGrp="1"/>
          </p:cNvSpPr>
          <p:nvPr/>
        </p:nvSpPr>
        <p:spPr>
          <a:xfrm>
            <a:off x="7791450" y="3467100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00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python app.py</a:t>
            </a:r>
            <a:endParaRPr sz="1500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s10-proof-test-label"/>
          <p:cNvSpPr>
            <a:spLocks noGrp="1"/>
          </p:cNvSpPr>
          <p:nvPr/>
        </p:nvSpPr>
        <p:spPr>
          <a:xfrm>
            <a:off x="6991350" y="3924300"/>
            <a:ext cx="819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测试：</a:t>
            </a:r>
            <a:endParaRPr sz="1575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10-proof-test"/>
          <p:cNvSpPr>
            <a:spLocks noGrp="1"/>
          </p:cNvSpPr>
          <p:nvPr/>
        </p:nvSpPr>
        <p:spPr>
          <a:xfrm>
            <a:off x="7791450" y="3933825"/>
            <a:ext cx="34766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6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65" b="0">
                <a:solidFill>
                  <a:srgbClr val="1F29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python -m unittest discover -s tests</a:t>
            </a:r>
            <a:endParaRPr sz="1165" b="0">
              <a:solidFill>
                <a:srgbClr val="1F293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s10-next"/>
          <p:cNvSpPr>
            <a:spLocks noGrp="1"/>
          </p:cNvSpPr>
          <p:nvPr/>
        </p:nvSpPr>
        <p:spPr>
          <a:xfrm>
            <a:off x="819150" y="48291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下一步计划：补充浏览器端回归测试，覆盖不同视口和错误状态。</a:t>
            </a:r>
            <a:endParaRPr sz="1575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658368" y="1024128"/>
            <a:ext cx="1088136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6576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82296" cy="25146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section-title"/>
          <p:cNvSpPr>
            <a:spLocks noGrp="1"/>
          </p:cNvSpPr>
          <p:nvPr/>
        </p:nvSpPr>
        <p:spPr>
          <a:xfrm>
            <a:off x="658368" y="384048"/>
            <a:ext cx="9966960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谭梓良：测试与缺陷修复</a:t>
            </a:r>
            <a:endParaRPr sz="27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section-page"/>
          <p:cNvSpPr>
            <a:spLocks noGrp="1"/>
          </p:cNvSpPr>
          <p:nvPr/>
        </p:nvSpPr>
        <p:spPr>
          <a:xfrm>
            <a:off x="11109960" y="384048"/>
            <a:ext cx="502920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r">
              <a:lnSpc>
                <a:spcPct val="116000"/>
              </a:lnSpc>
              <a:buNone/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left-heading"/>
          <p:cNvSpPr>
            <a:spLocks noGrp="1"/>
          </p:cNvSpPr>
          <p:nvPr/>
        </p:nvSpPr>
        <p:spPr>
          <a:xfrm>
            <a:off x="822960" y="1353312"/>
            <a:ext cx="5943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20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个人负责内容</a:t>
            </a:r>
            <a:endParaRPr sz="20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right-heading"/>
          <p:cNvSpPr>
            <a:spLocks noGrp="1"/>
          </p:cNvSpPr>
          <p:nvPr/>
        </p:nvSpPr>
        <p:spPr>
          <a:xfrm>
            <a:off x="7543800" y="1581912"/>
            <a:ext cx="324612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本次成果物</a:t>
            </a:r>
            <a:endParaRPr sz="18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takeaway"/>
          <p:cNvSpPr>
            <a:spLocks noGrp="1"/>
          </p:cNvSpPr>
          <p:nvPr/>
        </p:nvSpPr>
        <p:spPr>
          <a:xfrm>
            <a:off x="822960" y="5440680"/>
            <a:ext cx="10149840" cy="4495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16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本轮验证本地接口与业务流程，测试数据和上传目录独立于项目。</a:t>
            </a:r>
            <a:endParaRPr sz="16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footer"/>
          <p:cNvSpPr>
            <a:spLocks noGrp="1"/>
          </p:cNvSpPr>
          <p:nvPr/>
        </p:nvSpPr>
        <p:spPr>
          <a:xfrm>
            <a:off x="658368" y="6473952"/>
            <a:ext cx="749808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responsibilities"/>
          <p:cNvSpPr>
            <a:spLocks noGrp="1"/>
          </p:cNvSpPr>
          <p:nvPr/>
        </p:nvSpPr>
        <p:spPr>
          <a:xfrm>
            <a:off x="822960" y="1783080"/>
            <a:ext cx="5943600" cy="3429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spcAft>
                <a:spcPts val="13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编写54项独立测试用例，并完成配套自动化脚本。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13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验证商品发布、意向排队和交易处理等核心接口。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13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复现并修复DEF-001，补充价格边界回归测试。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13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整理测试报告及缺陷迭代记录，保留执行证据。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deliverables"/>
          <p:cNvSpPr>
            <a:spLocks noGrp="1"/>
          </p:cNvSpPr>
          <p:nvPr/>
        </p:nvSpPr>
        <p:spPr>
          <a:xfrm>
            <a:off x="7543800" y="2039112"/>
            <a:ext cx="3246120" cy="1764792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spcAft>
                <a:spcPts val="7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测试用例.md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7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test_shopping_system.py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7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测试报告.md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7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缺陷迭代记录报告.md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658368" y="1024128"/>
            <a:ext cx="1088136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6576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82296" cy="25146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section-title"/>
          <p:cNvSpPr>
            <a:spLocks noGrp="1"/>
          </p:cNvSpPr>
          <p:nvPr/>
        </p:nvSpPr>
        <p:spPr>
          <a:xfrm>
            <a:off x="658368" y="384048"/>
            <a:ext cx="9966960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测试方案与核心用例</a:t>
            </a:r>
            <a:endParaRPr sz="27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section-page"/>
          <p:cNvSpPr>
            <a:spLocks noGrp="1"/>
          </p:cNvSpPr>
          <p:nvPr/>
        </p:nvSpPr>
        <p:spPr>
          <a:xfrm>
            <a:off x="11109960" y="384048"/>
            <a:ext cx="502920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r">
              <a:lnSpc>
                <a:spcPct val="116000"/>
              </a:lnSpc>
              <a:buNone/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left-heading"/>
          <p:cNvSpPr>
            <a:spLocks noGrp="1"/>
          </p:cNvSpPr>
          <p:nvPr/>
        </p:nvSpPr>
        <p:spPr>
          <a:xfrm>
            <a:off x="822960" y="1353312"/>
            <a:ext cx="5943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20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测试方法</a:t>
            </a:r>
            <a:endParaRPr sz="20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right-heading"/>
          <p:cNvSpPr>
            <a:spLocks noGrp="1"/>
          </p:cNvSpPr>
          <p:nvPr/>
        </p:nvSpPr>
        <p:spPr>
          <a:xfrm>
            <a:off x="7543800" y="1581912"/>
            <a:ext cx="324612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典型用例</a:t>
            </a:r>
            <a:endParaRPr sz="18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takeaway"/>
          <p:cNvSpPr>
            <a:spLocks noGrp="1"/>
          </p:cNvSpPr>
          <p:nvPr/>
        </p:nvSpPr>
        <p:spPr>
          <a:xfrm>
            <a:off x="822960" y="5440680"/>
            <a:ext cx="10149840" cy="4495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16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54项独立用例均记录前置条件、输入、预期结果及对应脚本方法。</a:t>
            </a:r>
            <a:endParaRPr sz="16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footer"/>
          <p:cNvSpPr>
            <a:spLocks noGrp="1"/>
          </p:cNvSpPr>
          <p:nvPr/>
        </p:nvSpPr>
        <p:spPr>
          <a:xfrm>
            <a:off x="658368" y="6473952"/>
            <a:ext cx="749808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methods"/>
          <p:cNvSpPr>
            <a:spLocks noGrp="1"/>
          </p:cNvSpPr>
          <p:nvPr/>
        </p:nvSpPr>
        <p:spPr>
          <a:xfrm>
            <a:off x="822960" y="1783080"/>
            <a:ext cx="5943600" cy="3429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spcAft>
                <a:spcPts val="13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正常流程：发布商品、提交意向、开始交易和成交结案。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13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边界校验：价格、图片大小、必填字段及口令类型。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13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状态转换：冻结、重排、撤销确认和交易递补。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13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异常与并发：写入失败、重启后数据保留及并发提交。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examples"/>
          <p:cNvSpPr>
            <a:spLocks noGrp="1"/>
          </p:cNvSpPr>
          <p:nvPr/>
        </p:nvSpPr>
        <p:spPr>
          <a:xfrm>
            <a:off x="7543800" y="2039112"/>
            <a:ext cx="3246120" cy="1764792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图片边界 AT-017</a:t>
            </a:r>
            <a:b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MiB通过，超1字节拒绝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6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交易撤销 AT-039</a:t>
            </a:r>
            <a:b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卖家确认后才递补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6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并发意向 AT-043</a:t>
            </a:r>
            <a:b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20个客户端，无重复ID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658368" y="1024128"/>
            <a:ext cx="1088136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6576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82296" cy="25146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section-title"/>
          <p:cNvSpPr>
            <a:spLocks noGrp="1"/>
          </p:cNvSpPr>
          <p:nvPr/>
        </p:nvSpPr>
        <p:spPr>
          <a:xfrm>
            <a:off x="658368" y="384048"/>
            <a:ext cx="9966960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首次测试与DEF-001</a:t>
            </a:r>
            <a:endParaRPr sz="27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section-page"/>
          <p:cNvSpPr>
            <a:spLocks noGrp="1"/>
          </p:cNvSpPr>
          <p:nvPr/>
        </p:nvSpPr>
        <p:spPr>
          <a:xfrm>
            <a:off x="11109960" y="384048"/>
            <a:ext cx="502920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r">
              <a:lnSpc>
                <a:spcPct val="116000"/>
              </a:lnSpc>
              <a:buNone/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left-heading"/>
          <p:cNvSpPr>
            <a:spLocks noGrp="1"/>
          </p:cNvSpPr>
          <p:nvPr/>
        </p:nvSpPr>
        <p:spPr>
          <a:xfrm>
            <a:off x="822960" y="1353312"/>
            <a:ext cx="5943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20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首次执行结果</a:t>
            </a:r>
            <a:endParaRPr sz="20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right-heading"/>
          <p:cNvSpPr>
            <a:spLocks noGrp="1"/>
          </p:cNvSpPr>
          <p:nvPr/>
        </p:nvSpPr>
        <p:spPr>
          <a:xfrm>
            <a:off x="7543800" y="1581912"/>
            <a:ext cx="324612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DEF-001 价格异常</a:t>
            </a:r>
            <a:endParaRPr sz="18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takeaway"/>
          <p:cNvSpPr>
            <a:spLocks noGrp="1"/>
          </p:cNvSpPr>
          <p:nvPr/>
        </p:nvSpPr>
        <p:spPr>
          <a:xfrm>
            <a:off x="822960" y="5440680"/>
            <a:ext cx="10149840" cy="4495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16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缺陷复现时，原数据文件保持不变，上传目录没有遗留图片。</a:t>
            </a:r>
            <a:endParaRPr sz="16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footer"/>
          <p:cNvSpPr>
            <a:spLocks noGrp="1"/>
          </p:cNvSpPr>
          <p:nvPr/>
        </p:nvSpPr>
        <p:spPr>
          <a:xfrm>
            <a:off x="658368" y="6473952"/>
            <a:ext cx="749808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initial-composition"/>
          <p:cNvSpPr>
            <a:spLocks noGrp="1"/>
          </p:cNvSpPr>
          <p:nvPr/>
        </p:nvSpPr>
        <p:spPr>
          <a:xfrm>
            <a:off x="822960" y="1783080"/>
            <a:ext cx="5943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52项独立测试，加上项目原有8项测试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7" name="表格 106"/>
          <p:cNvGraphicFramePr/>
          <p:nvPr/>
        </p:nvGraphicFramePr>
        <p:xfrm>
          <a:off x="914400" y="2314575"/>
          <a:ext cx="5753100" cy="1200150"/>
        </p:xfrm>
        <a:graphic>
          <a:graphicData uri="http://schemas.openxmlformats.org/drawingml/2006/table">
            <a:tbl>
              <a:tblPr firstRow="1"/>
              <a:tblGrid>
                <a:gridCol w="1943100"/>
                <a:gridCol w="1905000"/>
                <a:gridCol w="1905000"/>
              </a:tblGrid>
              <a:tr h="6000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执行总数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122D4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122D4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失败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122D4E"/>
                    </a:solidFill>
                  </a:tcPr>
                </a:tc>
              </a:tr>
              <a:tr h="600075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400" b="1">
                          <a:solidFill>
                            <a:srgbClr val="122D4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60</a:t>
                      </a:r>
                      <a:endParaRPr sz="2400" b="1">
                        <a:solidFill>
                          <a:srgbClr val="122D4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400" b="1">
                          <a:solidFill>
                            <a:srgbClr val="122D4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59</a:t>
                      </a:r>
                      <a:endParaRPr sz="2400" b="1">
                        <a:solidFill>
                          <a:srgbClr val="122D4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400" b="1">
                          <a:solidFill>
                            <a:srgbClr val="EA841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2400" b="1">
                        <a:solidFill>
                          <a:srgbClr val="EA841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8" name="failed-case"/>
          <p:cNvSpPr>
            <a:spLocks noGrp="1"/>
          </p:cNvSpPr>
          <p:nvPr/>
        </p:nvSpPr>
        <p:spPr>
          <a:xfrm>
            <a:off x="822960" y="3810000"/>
            <a:ext cx="5943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AT-051 超长价格验证失败</a:t>
            </a:r>
            <a:endParaRPr sz="18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reproduction"/>
          <p:cNvSpPr>
            <a:spLocks noGrp="1"/>
          </p:cNvSpPr>
          <p:nvPr/>
        </p:nvSpPr>
        <p:spPr>
          <a:xfrm>
            <a:off x="822960" y="4324350"/>
            <a:ext cx="59436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单项复现仍返回500，问题可以稳定复现。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defect-facts"/>
          <p:cNvSpPr>
            <a:spLocks noGrp="1"/>
          </p:cNvSpPr>
          <p:nvPr/>
        </p:nvSpPr>
        <p:spPr>
          <a:xfrm>
            <a:off x="7543800" y="2039112"/>
            <a:ext cx="3246120" cy="1764792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接口：POST /api/products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6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输入：5000位数字价格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6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预期：400 JSON错误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6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实际：500 HTML错误页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6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级别：P2（中等）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658368" y="1024128"/>
            <a:ext cx="1088136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6576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82296" cy="25146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section-title"/>
          <p:cNvSpPr>
            <a:spLocks noGrp="1"/>
          </p:cNvSpPr>
          <p:nvPr/>
        </p:nvSpPr>
        <p:spPr>
          <a:xfrm>
            <a:off x="658368" y="384048"/>
            <a:ext cx="9966960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DEF-001修复过程</a:t>
            </a:r>
            <a:endParaRPr sz="27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section-page"/>
          <p:cNvSpPr>
            <a:spLocks noGrp="1"/>
          </p:cNvSpPr>
          <p:nvPr/>
        </p:nvSpPr>
        <p:spPr>
          <a:xfrm>
            <a:off x="11109960" y="384048"/>
            <a:ext cx="502920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r">
              <a:lnSpc>
                <a:spcPct val="116000"/>
              </a:lnSpc>
              <a:buNone/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left-heading"/>
          <p:cNvSpPr>
            <a:spLocks noGrp="1"/>
          </p:cNvSpPr>
          <p:nvPr/>
        </p:nvSpPr>
        <p:spPr>
          <a:xfrm>
            <a:off x="822960" y="1353312"/>
            <a:ext cx="5943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20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原因与代码修改</a:t>
            </a:r>
            <a:endParaRPr sz="20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right-heading"/>
          <p:cNvSpPr>
            <a:spLocks noGrp="1"/>
          </p:cNvSpPr>
          <p:nvPr/>
        </p:nvSpPr>
        <p:spPr>
          <a:xfrm>
            <a:off x="7543800" y="1581912"/>
            <a:ext cx="324612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新增回归检查</a:t>
            </a:r>
            <a:endParaRPr sz="18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takeaway"/>
          <p:cNvSpPr>
            <a:spLocks noGrp="1"/>
          </p:cNvSpPr>
          <p:nvPr/>
        </p:nvSpPr>
        <p:spPr>
          <a:xfrm>
            <a:off x="822960" y="5440680"/>
            <a:ext cx="10149840" cy="4495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16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支持金额为0.01～90071992547409.91元，最多两位小数。</a:t>
            </a:r>
            <a:endParaRPr sz="16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footer"/>
          <p:cNvSpPr>
            <a:spLocks noGrp="1"/>
          </p:cNvSpPr>
          <p:nvPr/>
        </p:nvSpPr>
        <p:spPr>
          <a:xfrm>
            <a:off x="658368" y="6473952"/>
            <a:ext cx="749808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fix-details"/>
          <p:cNvSpPr>
            <a:spLocks noGrp="1"/>
          </p:cNvSpPr>
          <p:nvPr/>
        </p:nvSpPr>
        <p:spPr>
          <a:xfrm>
            <a:off x="822960" y="1783080"/>
            <a:ext cx="5943600" cy="3429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spcAft>
                <a:spcPts val="13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原校验只检查价格格式，未限制输入长度和金额范围。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13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5000位价格整数进入JSON保存流程，</a:t>
            </a:r>
            <a:b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触发Python的4300位转换限制。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13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修改app.py，在转换与保存之前检查长度，并用整数换算元和分。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13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超长或超范围金额返回400 JSON，商品和图片不落盘。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regression-scope"/>
          <p:cNvSpPr>
            <a:spLocks noGrp="1"/>
          </p:cNvSpPr>
          <p:nvPr/>
        </p:nvSpPr>
        <p:spPr>
          <a:xfrm>
            <a:off x="7543800" y="2039112"/>
            <a:ext cx="3246120" cy="1764792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spcAft>
                <a:spcPts val="7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项目内新增3项测试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7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价格类型与换算校验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7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最大金额保存及重启读取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7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越界拒绝后仍可正常发布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658368" y="1024128"/>
            <a:ext cx="1088136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6576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82296" cy="2514600"/>
          </a:xfrm>
          <a:prstGeom prst="rect">
            <a:avLst/>
          </a:prstGeom>
          <a:solidFill>
            <a:srgbClr val="EA8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section-title"/>
          <p:cNvSpPr>
            <a:spLocks noGrp="1"/>
          </p:cNvSpPr>
          <p:nvPr/>
        </p:nvSpPr>
        <p:spPr>
          <a:xfrm>
            <a:off x="658368" y="384048"/>
            <a:ext cx="9966960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修复验证与交付成果</a:t>
            </a:r>
            <a:endParaRPr sz="27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section-page"/>
          <p:cNvSpPr>
            <a:spLocks noGrp="1"/>
          </p:cNvSpPr>
          <p:nvPr/>
        </p:nvSpPr>
        <p:spPr>
          <a:xfrm>
            <a:off x="11109960" y="384048"/>
            <a:ext cx="502920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r">
              <a:lnSpc>
                <a:spcPct val="116000"/>
              </a:lnSpc>
              <a:buNone/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left-heading"/>
          <p:cNvSpPr>
            <a:spLocks noGrp="1"/>
          </p:cNvSpPr>
          <p:nvPr/>
        </p:nvSpPr>
        <p:spPr>
          <a:xfrm>
            <a:off x="822960" y="1353312"/>
            <a:ext cx="5943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20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完整回归结果</a:t>
            </a:r>
            <a:endParaRPr sz="20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right-heading"/>
          <p:cNvSpPr>
            <a:spLocks noGrp="1"/>
          </p:cNvSpPr>
          <p:nvPr/>
        </p:nvSpPr>
        <p:spPr>
          <a:xfrm>
            <a:off x="7543800" y="1581912"/>
            <a:ext cx="324612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2D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交付材料</a:t>
            </a:r>
            <a:endParaRPr sz="1800" b="1">
              <a:solidFill>
                <a:srgbClr val="122D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takeaway"/>
          <p:cNvSpPr>
            <a:spLocks noGrp="1"/>
          </p:cNvSpPr>
          <p:nvPr/>
        </p:nvSpPr>
        <p:spPr>
          <a:xfrm>
            <a:off x="822960" y="5440680"/>
            <a:ext cx="10149840" cy="4495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16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新增5个回归方法，包括2项独立用例和3项项目内测试。</a:t>
            </a:r>
            <a:endParaRPr sz="16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footer"/>
          <p:cNvSpPr>
            <a:spLocks noGrp="1"/>
          </p:cNvSpPr>
          <p:nvPr/>
        </p:nvSpPr>
        <p:spPr>
          <a:xfrm>
            <a:off x="658368" y="6473952"/>
            <a:ext cx="749808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buNone/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软件工程实践 · 第 2 组 · 在线购物系统 MVP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6" name="表格 105"/>
          <p:cNvGraphicFramePr/>
          <p:nvPr/>
        </p:nvGraphicFramePr>
        <p:xfrm>
          <a:off x="914400" y="1885950"/>
          <a:ext cx="5753100" cy="1695450"/>
        </p:xfrm>
        <a:graphic>
          <a:graphicData uri="http://schemas.openxmlformats.org/drawingml/2006/table">
            <a:tbl>
              <a:tblPr firstRow="1"/>
              <a:tblGrid>
                <a:gridCol w="2181225"/>
                <a:gridCol w="1190625"/>
                <a:gridCol w="1190625"/>
                <a:gridCol w="1190625"/>
              </a:tblGrid>
              <a:tr h="5651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版本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122D4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总数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122D4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122D4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失败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122D4E"/>
                    </a:solidFill>
                  </a:tcPr>
                </a:tc>
              </a:tr>
              <a:tr h="5651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rebuild-v2</a:t>
                      </a:r>
                      <a:endParaRPr sz="180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60</a:t>
                      </a:r>
                      <a:endParaRPr sz="180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59</a:t>
                      </a:r>
                      <a:endParaRPr sz="180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180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rebuild_v3</a:t>
                      </a:r>
                      <a:endParaRPr sz="18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65</a:t>
                      </a:r>
                      <a:endParaRPr sz="18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65</a:t>
                      </a:r>
                      <a:endParaRPr sz="18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sz="18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7" name="final-evidence"/>
          <p:cNvSpPr>
            <a:spLocks noGrp="1"/>
          </p:cNvSpPr>
          <p:nvPr/>
        </p:nvSpPr>
        <p:spPr>
          <a:xfrm>
            <a:off x="822960" y="3781425"/>
            <a:ext cx="59436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修复后执行54项独立测试和11项项目内测试。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6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交付前复核65项全部通过，耗时23.825秒。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600"/>
              </a:spcAft>
              <a:buNone/>
              <a:def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5000位价格返回400 JSON，测试前后源文件哈希一致。</a:t>
            </a:r>
            <a:endParaRPr sz="18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final-deliverables"/>
          <p:cNvSpPr>
            <a:spLocks noGrp="1"/>
          </p:cNvSpPr>
          <p:nvPr/>
        </p:nvSpPr>
        <p:spPr>
          <a:xfrm>
            <a:off x="7543800" y="2039112"/>
            <a:ext cx="3246120" cy="1764792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lnSpc>
                <a:spcPct val="116000"/>
              </a:lnSpc>
              <a:spcAft>
                <a:spcPts val="7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测试用例.md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7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test_shopping_system.py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7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测试报告.md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700"/>
              </a:spcAft>
              <a:buNone/>
              <a:def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缺陷迭代记录报告.md</a:t>
            </a:r>
            <a:endParaRPr sz="15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7172</Words>
  <Application>WPS 演示</Application>
  <PresentationFormat>On-screen Show (4:3)</PresentationFormat>
  <Paragraphs>772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Mr.Fan</cp:lastModifiedBy>
  <cp:revision>15</cp:revision>
  <dcterms:created xsi:type="dcterms:W3CDTF">2013-01-27T09:14:00Z</dcterms:created>
  <dcterms:modified xsi:type="dcterms:W3CDTF">2026-10-08T00:20:02Z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3A1A170F3EFE463CA58AA35E6ED97811_12</vt:lpwstr>
  </property>
  <property fmtid="{D5CDD505-2E9C-101B-9397-08002B2CF9AE}" pid="3" name="KSOProductBuildVer">
    <vt:lpwstr>2052-12.1.0.28505</vt:lpwstr>
  </property>
</Properties>
</file>