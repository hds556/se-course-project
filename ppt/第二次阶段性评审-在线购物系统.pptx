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8" r:id="rId8"/>
    <p:sldId id="269" r:id="rId9"/>
    <p:sldId id="270" r:id="rId10"/>
    <p:sldId id="271" r:id="rId11"/>
    <p:sldId id="272" r:id="rId12"/>
    <p:sldId id="280" r:id="rId13"/>
    <p:sldId id="281" r:id="rId14"/>
    <p:sldId id="261" r:id="rId15"/>
    <p:sldId id="273" r:id="rId16"/>
    <p:sldId id="274" r:id="rId17"/>
    <p:sldId id="275" r:id="rId18"/>
    <p:sldId id="276" r:id="rId19"/>
    <p:sldId id="264" r:id="rId20"/>
    <p:sldId id="265" r:id="rId21"/>
    <p:sldId id="277" r:id="rId22"/>
    <p:sldId id="278" r:id="rId23"/>
    <p:sldId id="279" r:id="rId24"/>
    <p:sldId id="266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9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这一页我会先指给大家看买家提交表单。姓名和电话的必填、长度限制直接写在 </a:t>
            </a:r>
            <a:r>
              <a:rPr lang="en-US" altLang="zh-CN"/>
              <a:t>app.js </a:t>
            </a:r>
            <a:r>
              <a:rPr lang="zh-CN" altLang="en-US"/>
              <a:t>生成的输入框上，修改联系信息的表单也保持同一上限。截图来自项目实际运行；演示商品图片来自 </a:t>
            </a:r>
            <a:r>
              <a:rPr lang="en-US" altLang="zh-CN"/>
              <a:t>Wikimedia Commons</a:t>
            </a:r>
            <a:r>
              <a:rPr lang="zh-CN" altLang="en-US"/>
              <a:t>，</a:t>
            </a:r>
            <a:r>
              <a:rPr lang="en-US" altLang="zh-CN"/>
              <a:t>CC0</a:t>
            </a:r>
            <a:r>
              <a:rPr lang="zh-CN" altLang="en-US"/>
              <a:t>：</a:t>
            </a:r>
            <a:r>
              <a:rPr lang="en-US" altLang="zh-CN"/>
              <a:t>https://commons.wikimedia.org/wiki/File:Retro_items_on_white_table_(Unsplash).jpg</a:t>
            </a:r>
            <a:r>
              <a:rPr lang="zh-CN" altLang="en-US"/>
              <a:t>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卖家发布表单先用 </a:t>
            </a:r>
            <a:r>
              <a:rPr lang="en-US" altLang="zh-CN"/>
              <a:t>HTML </a:t>
            </a:r>
            <a:r>
              <a:rPr lang="zh-CN" altLang="en-US"/>
              <a:t>属性限制长度、金额和可选图片类型。随后 </a:t>
            </a:r>
            <a:r>
              <a:rPr lang="en-US" altLang="zh-CN"/>
              <a:t>admin.js </a:t>
            </a:r>
            <a:r>
              <a:rPr lang="zh-CN" altLang="en-US"/>
              <a:t>会在提交前检查价格和图片，减少无效请求。截图来自项目实际运行的卖家工作台；演示商品为隔离数据。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这里用一千万这个越界值触发了脚本校验分支。</a:t>
            </a:r>
            <a:r>
              <a:rPr lang="en-US" altLang="zh-CN"/>
              <a:t>validatePrice </a:t>
            </a:r>
            <a:r>
              <a:rPr lang="zh-CN" altLang="en-US"/>
              <a:t>先用正则检查数字格式和小数位，再检查数值范围；错误分支提示、聚焦并返回，因此没有发送发布商品请求。截图是触发表单 </a:t>
            </a:r>
            <a:r>
              <a:rPr lang="en-US" altLang="zh-CN"/>
              <a:t>submit </a:t>
            </a:r>
            <a:r>
              <a:rPr lang="zh-CN" altLang="en-US"/>
              <a:t>事件观察到的 </a:t>
            </a:r>
            <a:r>
              <a:rPr lang="en-US" altLang="zh-CN"/>
              <a:t>JS </a:t>
            </a:r>
            <a:r>
              <a:rPr lang="zh-CN" altLang="en-US"/>
              <a:t>提示；平时手动点击提交时，</a:t>
            </a:r>
            <a:r>
              <a:rPr lang="en-US" altLang="zh-CN"/>
              <a:t>HTML </a:t>
            </a:r>
            <a:r>
              <a:rPr lang="zh-CN" altLang="en-US"/>
              <a:t>的 </a:t>
            </a:r>
            <a:r>
              <a:rPr lang="en-US" altLang="zh-CN"/>
              <a:t>max </a:t>
            </a:r>
            <a:r>
              <a:rPr lang="zh-CN" altLang="en-US"/>
              <a:t>约束可能先阻止 </a:t>
            </a:r>
            <a:r>
              <a:rPr lang="en-US" altLang="zh-CN"/>
              <a:t>submit </a:t>
            </a:r>
            <a:r>
              <a:rPr lang="zh-CN" altLang="en-US"/>
              <a:t>并显示浏览器原生提示。源码在 </a:t>
            </a:r>
            <a:r>
              <a:rPr lang="en-US" altLang="zh-CN"/>
              <a:t>public/admin.js</a:t>
            </a:r>
            <a:r>
              <a:rPr lang="zh-CN" altLang="en-US"/>
              <a:t>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图片校验看 </a:t>
            </a:r>
            <a:r>
              <a:rPr lang="en-US" altLang="zh-CN"/>
              <a:t>MIME </a:t>
            </a:r>
            <a:r>
              <a:rPr lang="zh-CN" altLang="en-US"/>
              <a:t>类型和文件大小，演示中的 </a:t>
            </a:r>
            <a:r>
              <a:rPr lang="en-US" altLang="zh-CN"/>
              <a:t>txt </a:t>
            </a:r>
            <a:r>
              <a:rPr lang="zh-CN" altLang="en-US"/>
              <a:t>文件会在请求前被拦截。密码校验要求至少八位并同时含字母和数字；错误时页面给出原因，并把焦点移回输入框。两处实现都在 </a:t>
            </a:r>
            <a:r>
              <a:rPr lang="en-US" altLang="zh-CN"/>
              <a:t>public/admin.js</a:t>
            </a:r>
            <a:r>
              <a:rPr lang="zh-CN" altLang="en-US"/>
              <a:t>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这页用于说明本轮字段限制加入后，原有业务流程仍能跑通。买家用口令查询并修改联系信息，卖家后台随后显示更新后的排队信息；这部分流程不是本轮新增功能。前端演示视频：</a:t>
            </a:r>
            <a:r>
              <a:rPr lang="en-US"/>
              <a:t>https://github.com/hds556/se-course-project/wiki/%E7%AC%AC2%E6%AC%A1%E9%98%B6%E6%AE%B5%E6%80%A7%E8%AF%84%E5%AE%A1%E6%8A%A5%E5%91%8A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叫谭梓良，负责系统功能测试与缺陷修复。Java重构后，我重点检查接口行为和业务状态是否保持一致，整理了84项用例，并编写了对应的Java脚本。发现问题后，我记录复现条件、原因、修改方式和复测结果。另外，我用Java Selenium做了真实网页流程的自动化录屏。我的交付包括用例、脚本、测试报告和缺陷迭代记录四份材料。</a:t>
            </a:r>
          </a:p>
          <a:p/>
          <a:p>
            <a:r>
              <a:t>资料依据：https://github.com/hds556/se-course-project/blob/b390e8b94d751fec7a96a80a7fda176a12f875c0/ShoppingSystemBlackBoxTest.java</a:t>
            </a:r>
          </a:p>
          <a:p>
            <a:r>
              <a:t>https://github.com/hds556/se-course-project/blob/b390e8b94d751fec7a96a80a7fda176a12f875c0/docs/测试用例.md</a:t>
            </a:r>
          </a:p>
          <a:p>
            <a:r>
              <a:t>https://github.com/hds556/se-course-project/blob/b390e8b94d751fec7a96a80a7fda176a12f875c0/docs/缺陷迭代记录报告.md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用例没有只停留在正常操作上。我把84项测试拆成这些范围，其中商品、金额和图片有21项，买家意向和冻结有12项，交易状态和递补有8项。边界检查会同时提交合法边界值和刚刚越界的值，例如图片恰好5 MiB与超过1字节。并发场景使用20个买家或两名卖家同时发起请求。每项都能通过AT编号在Java脚本里找到输入和断言。</a:t>
            </a:r>
          </a:p>
          <a:p/>
          <a:p>
            <a:r>
              <a:t>资料依据：https://github.com/hds556/se-course-project/blob/b390e8b94d751fec7a96a80a7fda176a12f875c0/ShoppingSystemBlackBoxTest.java</a:t>
            </a:r>
          </a:p>
          <a:p>
            <a:r>
              <a:t>https://github.com/hds556/se-course-project/blob/b390e8b94d751fec7a96a80a7fda176a12f875c0/docs/测试用例.md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报告的是最终分支的实际复测结果。我固定了First_accept的b390e8b提交，在独立副本里重新执行全部84项用例，结果84项通过，失败、错误和跳过都为0。测试套件执行70.29秒。本机使用Java25运行，项目编译目标仍为Java17，所以没有把它写成已在Java17运行时验证。结论是已覆盖场景全部通过，压力容量和渗透测试没有纳入。</a:t>
            </a:r>
          </a:p>
          <a:p/>
          <a:p>
            <a:r>
              <a:t>资料依据：最终提交 https://github.com/hds556/se-course-project/commit/b390e8b94d751fec7a96a80a7fda176a12f875c0</a:t>
            </a:r>
          </a:p>
          <a:p>
            <a:r>
              <a:t>本次JUnit结果：work/ppt-final-review/source/target/surefire-reports/TEST-com.coursewise.shopping.ShoppingSystemBlackBoxTest.xml</a:t>
            </a:r>
          </a:p>
          <a:p>
            <a:r>
              <a:t>原基线报告：https://github.com/hds556/se-course-project/blob/b390e8b94d751fec7a96a80a7fda176a12f875c0/docs/测试报告.md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缺陷记录不只写已经修复，还保留问题怎样出现、原因在哪里、改了什么，以及用哪条用例验证。价格问题用5000位数字复测，接口返回400且不留下商品和图片。图片问题统一了上传和读取目录。并发开始交易的问题把锁延续到事务结束，复测得到一个200和一个409。旧数据迁移保留商品和意向的原ID。最终版中这些对应检查都通过。</a:t>
            </a:r>
          </a:p>
          <a:p/>
          <a:p>
            <a:r>
              <a:t>资料依据：https://github.com/hds556/se-course-project/blob/b390e8b94d751fec7a96a80a7fda176a12f875c0/docs/缺陷迭代记录报告.md</a:t>
            </a:r>
          </a:p>
          <a:p>
            <a:r>
              <a:t>https://github.com/hds556/se-course-project/blob/b390e8b94d751fec7a96a80a7fda176a12f875c0/src/main/java/com/coursewise/shopping/ShoppingService.java</a:t>
            </a:r>
          </a:p>
          <a:p>
            <a:r>
              <a:t>https://github.com/hds556/se-course-project/blob/b390e8b94d751fec7a96a80a7fda176a12f875c0/src/main/java/com/coursewise/shopping/ShoppingController.java</a:t>
            </a:r>
          </a:p>
          <a:p>
            <a:r>
              <a:t>https://github.com/hds556/se-course-project/blob/b390e8b94d751fec7a96a80a7fda176a12f875c0/src/main/java/com/coursewise/shopping/DataMigrationRunner.java</a:t>
            </a:r>
          </a:p>
          <a:p>
            <a:r>
              <a:t>本次最终版JUnit结果同上一页。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这一页是之前录屏时运行Java Selenium脚本的真实结果。脚本自动打开Edge，完成登录、发布商品、买家提交和查询、冻结恢复、撤销递补以及成交归档。这里是一条端到端脚本中的17个网页检查点，全部通过。截图保留了第一位买家撤销、第二位买家成功和商品进入历史的结果。网页证据对应10月15日的v4，最终分支的84项接口复测在前面单独说明，两者没有混算。</a:t>
            </a:r>
          </a:p>
          <a:p/>
          <a:p>
            <a:r>
              <a:t>资料依据：work/browser-video/src/test/java/ShoppingBrowserVideoTest.java</a:t>
            </a:r>
          </a:p>
          <a:p>
            <a:r>
              <a:t>work/browser-video/browser-result.txt</a:t>
            </a:r>
          </a:p>
          <a:p>
            <a:r>
              <a:t>work/browser-video/browser-result.png</a:t>
            </a:r>
          </a:p>
          <a:p>
            <a:r>
              <a:t>work/browser-video/target/surefire-reports/TEST-ShoppingBrowserVideoTest.xml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github.com/hds556/se-course-project/wiki/%E7%AC%AC2%E6%AC%A1%E9%98%B6%E6%AE%B5%E6%80%A7%E8%AF%84%E5%AE%A1%E6%8A%A5%E5%91%8A" TargetMode="Externa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234440"/>
            <a:ext cx="1463040" cy="91440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3" name="Text 1"/>
          <p:cNvSpPr/>
          <p:nvPr/>
        </p:nvSpPr>
        <p:spPr>
          <a:xfrm>
            <a:off x="502920" y="160020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93C5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软件工程实践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2103120"/>
            <a:ext cx="100584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在线购物系统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320040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BAE6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第二次阶段性评审汇报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4480560"/>
            <a:ext cx="7315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2 组  |  2026-10-20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49834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范君豪 · 陈心冉 · 戚航瑞 · 周展羽 · 谭梓良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第二次迭代：我们完成了什么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607040" y="292608"/>
            <a:ext cx="1097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777240" cy="64008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5" name="Text 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软件工程实践 · 第 2 组 · 在线购物系统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11155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围绕第一次评审指出的问题与成果验收要求，我们在第二次迭代中完成了修复、持久化、测试与容器化部署的闭环。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2670048" cy="310896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938528"/>
            <a:ext cx="64008" cy="2889504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9" name="Text 7"/>
          <p:cNvSpPr/>
          <p:nvPr/>
        </p:nvSpPr>
        <p:spPr>
          <a:xfrm>
            <a:off x="704088" y="1938528"/>
            <a:ext cx="230428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评审问题修复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8952" y="2359152"/>
            <a:ext cx="2212848" cy="24505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修复前端校验问题，完善输入校验与提示</a:t>
            </a:r>
            <a:endParaRPr lang="en-US" sz="12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后端统一重构为 Java，消除中英文混杂</a:t>
            </a:r>
            <a:endParaRPr lang="en-US" sz="12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解决未设置数据库问题，完成数据接入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08776" y="1828800"/>
            <a:ext cx="2670048" cy="310896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08776" y="1938528"/>
            <a:ext cx="64008" cy="2889504"/>
          </a:xfrm>
          <a:prstGeom prst="rect">
            <a:avLst/>
          </a:prstGeom>
          <a:solidFill>
            <a:srgbClr val="10895E"/>
          </a:solidFill>
        </p:spPr>
      </p:sp>
      <p:sp>
        <p:nvSpPr>
          <p:cNvPr id="17" name="Text 15"/>
          <p:cNvSpPr/>
          <p:nvPr/>
        </p:nvSpPr>
        <p:spPr>
          <a:xfrm>
            <a:off x="6409944" y="1938528"/>
            <a:ext cx="230428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功能测试与验收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64808" y="2359152"/>
            <a:ext cx="2212848" cy="24505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完成系统功能黑盒测试</a:t>
            </a:r>
            <a:endParaRPr lang="en-US" sz="12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输出测试报告与缺陷迭代记录</a:t>
            </a:r>
            <a:endParaRPr lang="en-US" sz="12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完成第一次阶段性成果验收提交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61704" y="1828800"/>
            <a:ext cx="2670048" cy="310896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61704" y="1938528"/>
            <a:ext cx="64008" cy="2889504"/>
          </a:xfrm>
          <a:prstGeom prst="rect">
            <a:avLst/>
          </a:prstGeom>
          <a:solidFill>
            <a:srgbClr val="EA841B"/>
          </a:solidFill>
        </p:spPr>
      </p:sp>
      <p:sp>
        <p:nvSpPr>
          <p:cNvPr id="21" name="Text 19"/>
          <p:cNvSpPr/>
          <p:nvPr/>
        </p:nvSpPr>
        <p:spPr>
          <a:xfrm>
            <a:off x="9262872" y="1938528"/>
            <a:ext cx="230428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容器化部署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17736" y="2359152"/>
            <a:ext cx="2212848" cy="24505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补齐构建配置与部署脚本</a:t>
            </a:r>
            <a:endParaRPr lang="en-US" sz="12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 Docker 容器化并发布镜像</a:t>
            </a:r>
            <a:endParaRPr lang="en-US" sz="12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整理安装部署手册与一键启动脚本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戚航瑞：修复前端校验问题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607040" y="292608"/>
            <a:ext cx="1097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777240" cy="64008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5" name="Text 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软件工程实践 · 第 2 组 · 在线购物系统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个人负责内容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6949440" cy="731520"/>
          </a:xfrm>
          <a:prstGeom prst="roundRect">
            <a:avLst>
              <a:gd name="adj" fmla="val 6250"/>
            </a:avLst>
          </a:prstGeom>
          <a:solidFill>
            <a:srgbClr val="F1F5F9"/>
          </a:solidFill>
        </p:spPr>
      </p:sp>
      <p:sp>
        <p:nvSpPr>
          <p:cNvPr id="8" name="Text 6"/>
          <p:cNvSpPr/>
          <p:nvPr/>
        </p:nvSpPr>
        <p:spPr>
          <a:xfrm>
            <a:off x="731520" y="1691640"/>
            <a:ext cx="6537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针对第 1 次评审指出的前端校验问题，逐项梳理买家端与卖家后台的输入点；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6949440" cy="731520"/>
          </a:xfrm>
          <a:prstGeom prst="roundRect">
            <a:avLst>
              <a:gd name="adj" fmla="val 6250"/>
            </a:avLst>
          </a:prstGeom>
          <a:solidFill>
            <a:srgbClr val="F1F5F9"/>
          </a:solidFill>
        </p:spPr>
      </p:sp>
      <p:sp>
        <p:nvSpPr>
          <p:cNvPr id="10" name="Text 8"/>
          <p:cNvSpPr/>
          <p:nvPr/>
        </p:nvSpPr>
        <p:spPr>
          <a:xfrm>
            <a:off x="731520" y="2560320"/>
            <a:ext cx="6537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给买家提交与修改联系信息的表单补充必填和长度限制；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429000"/>
            <a:ext cx="6949440" cy="731520"/>
          </a:xfrm>
          <a:prstGeom prst="roundRect">
            <a:avLst>
              <a:gd name="adj" fmla="val 6250"/>
            </a:avLst>
          </a:prstGeom>
          <a:solidFill>
            <a:srgbClr val="F1F5F9"/>
          </a:solidFill>
        </p:spPr>
      </p:sp>
      <p:sp>
        <p:nvSpPr>
          <p:cNvPr id="12" name="Text 10"/>
          <p:cNvSpPr/>
          <p:nvPr/>
        </p:nvSpPr>
        <p:spPr>
          <a:xfrm>
            <a:off x="731520" y="3429000"/>
            <a:ext cx="6537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给卖家发布商品、修改密码补充提交前校验与错误提示；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297680"/>
            <a:ext cx="6949440" cy="731520"/>
          </a:xfrm>
          <a:prstGeom prst="roundRect">
            <a:avLst>
              <a:gd name="adj" fmla="val 6250"/>
            </a:avLst>
          </a:prstGeom>
          <a:solidFill>
            <a:srgbClr val="F1F5F9"/>
          </a:solidFill>
        </p:spPr>
      </p:sp>
      <p:sp>
        <p:nvSpPr>
          <p:cNvPr id="14" name="Text 12"/>
          <p:cNvSpPr/>
          <p:nvPr/>
        </p:nvSpPr>
        <p:spPr>
          <a:xfrm>
            <a:off x="731520" y="4297680"/>
            <a:ext cx="6537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 浏览器先拦截无效输入，服务端保留最终校验，并整理前端修复记录。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1188720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本页成果物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772400" y="1691640"/>
            <a:ext cx="3913632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1801368"/>
            <a:ext cx="64008" cy="2980944"/>
          </a:xfrm>
          <a:prstGeom prst="rect">
            <a:avLst/>
          </a:prstGeom>
          <a:solidFill>
            <a:srgbClr val="EA841B"/>
          </a:solidFill>
        </p:spPr>
      </p:sp>
      <p:sp>
        <p:nvSpPr>
          <p:cNvPr id="18" name="Text 16"/>
          <p:cNvSpPr/>
          <p:nvPr/>
        </p:nvSpPr>
        <p:spPr>
          <a:xfrm>
            <a:off x="8001000" y="1874520"/>
            <a:ext cx="3520440" cy="3108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前端代码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public/（买家端 + 卖家后台）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前端修复记录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docs/前端修复记录.md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修复范围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买家端意向表单、卖家后台表单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0" y="5349240"/>
            <a:ext cx="128016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772400" y="5916168"/>
            <a:ext cx="1280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前端页面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52560" y="5349240"/>
            <a:ext cx="128016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052560" y="5916168"/>
            <a:ext cx="1280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表单场景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332720" y="5349240"/>
            <a:ext cx="137160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A84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0332720" y="5916168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修复记录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前端校验：买家端与卖家后台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607040" y="292608"/>
            <a:ext cx="1097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10-1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777240" cy="64008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5" name="Text 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软件工程实践 · 第 2 组 · 在线购物系统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买家端 · 意向表单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548640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847088"/>
            <a:ext cx="64008" cy="3712464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9" name="Text 7"/>
          <p:cNvSpPr/>
          <p:nvPr/>
        </p:nvSpPr>
        <p:spPr>
          <a:xfrm>
            <a:off x="704088" y="1847088"/>
            <a:ext cx="51206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提交前拦截无效输入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5029200" cy="32735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zh-CN" altLang="en-US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姓名必填且最长 </a:t>
            </a:r>
            <a:r>
              <a:rPr lang="en-US" altLang="zh-CN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64 </a:t>
            </a:r>
            <a:r>
              <a:rPr lang="zh-CN" altLang="en-US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字；联系电话必填且最长 </a:t>
            </a:r>
            <a:r>
              <a:rPr lang="en-US" altLang="zh-CN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32 </a:t>
            </a:r>
            <a:r>
              <a:rPr lang="zh-CN" altLang="en-US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字；</a:t>
            </a:r>
            <a:endParaRPr lang="zh-CN" altLang="en-US" sz="1320">
              <a:solidFill>
                <a:srgbClr val="1F2F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zh-CN" altLang="en-US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提交与修改表单设置 </a:t>
            </a:r>
            <a:r>
              <a:rPr lang="en-US" altLang="zh-CN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required</a:t>
            </a:r>
            <a:r>
              <a:rPr lang="zh-CN" altLang="en-US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altLang="zh-CN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maxlength</a:t>
            </a:r>
            <a:r>
              <a:rPr lang="zh-CN" altLang="en-US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，电话字段使用 </a:t>
            </a:r>
            <a:r>
              <a:rPr lang="en-US" altLang="zh-CN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type=tel</a:t>
            </a:r>
            <a:r>
              <a:rPr lang="zh-CN" altLang="en-US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</a:t>
            </a:r>
            <a:endParaRPr lang="zh-CN" altLang="en-US" sz="1320">
              <a:solidFill>
                <a:srgbClr val="1F2F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zh-CN" altLang="en-US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浏览器原生约束先拦截无效填写；</a:t>
            </a:r>
            <a:endParaRPr lang="zh-CN" altLang="en-US" sz="1320">
              <a:solidFill>
                <a:srgbClr val="1F2F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zh-CN" altLang="en-US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提交后沿用口令码查询、修改、撤销流程；</a:t>
            </a:r>
            <a:endParaRPr lang="zh-CN" altLang="en-US" sz="1320">
              <a:solidFill>
                <a:srgbClr val="1F2F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zh-CN" altLang="en-US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接口失败时在页面显示服务端返回的错误。</a:t>
            </a:r>
            <a:endParaRPr lang="en-US" sz="1320" dirty="0">
              <a:solidFill>
                <a:srgbClr val="1F2F4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09360" y="123444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卖家后台 · 管理表单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309360" y="1737360"/>
            <a:ext cx="539496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847088"/>
            <a:ext cx="64008" cy="3712464"/>
          </a:xfrm>
          <a:prstGeom prst="rect">
            <a:avLst/>
          </a:prstGeom>
          <a:solidFill>
            <a:srgbClr val="EA841B"/>
          </a:solidFill>
        </p:spPr>
      </p:sp>
      <p:sp>
        <p:nvSpPr>
          <p:cNvPr id="14" name="Text 12"/>
          <p:cNvSpPr/>
          <p:nvPr/>
        </p:nvSpPr>
        <p:spPr>
          <a:xfrm>
            <a:off x="6510528" y="1847088"/>
            <a:ext cx="5029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发布商品与密码修改校验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65392" y="2267712"/>
            <a:ext cx="4937760" cy="32735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zh-CN" altLang="en-US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商品名最长 </a:t>
            </a:r>
            <a:r>
              <a:rPr lang="en-US" altLang="zh-CN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128 </a:t>
            </a:r>
            <a:r>
              <a:rPr lang="zh-CN" altLang="en-US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字，描述最长 </a:t>
            </a:r>
            <a:r>
              <a:rPr lang="en-US" altLang="zh-CN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2000 </a:t>
            </a:r>
            <a:r>
              <a:rPr lang="zh-CN" altLang="en-US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字；</a:t>
            </a:r>
            <a:endParaRPr lang="zh-CN" altLang="en-US" sz="1320">
              <a:solidFill>
                <a:srgbClr val="1F2F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zh-CN" altLang="en-US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价格大于 </a:t>
            </a:r>
            <a:r>
              <a:rPr lang="en-US" altLang="zh-CN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</a:t>
            </a:r>
            <a:r>
              <a:rPr lang="zh-CN" altLang="en-US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、最多两位小数，前端上限 </a:t>
            </a:r>
            <a:r>
              <a:rPr lang="en-US" altLang="zh-CN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9999999.99 </a:t>
            </a:r>
            <a:r>
              <a:rPr lang="zh-CN" altLang="en-US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元；</a:t>
            </a:r>
            <a:endParaRPr lang="zh-CN" altLang="en-US" sz="1320">
              <a:solidFill>
                <a:srgbClr val="1F2F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zh-CN" altLang="en-US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图片仅支持 </a:t>
            </a:r>
            <a:r>
              <a:rPr lang="en-US" altLang="zh-CN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JPG/PNG</a:t>
            </a:r>
            <a:r>
              <a:rPr lang="zh-CN" altLang="en-US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，大小不超过 </a:t>
            </a:r>
            <a:r>
              <a:rPr lang="en-US" altLang="zh-CN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MB</a:t>
            </a:r>
            <a:r>
              <a:rPr lang="zh-CN" altLang="en-US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</a:t>
            </a:r>
            <a:endParaRPr lang="zh-CN" altLang="en-US" sz="1320">
              <a:solidFill>
                <a:srgbClr val="1F2F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zh-CN" altLang="en-US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新密码至少 </a:t>
            </a:r>
            <a:r>
              <a:rPr lang="en-US" altLang="zh-CN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</a:t>
            </a:r>
            <a:r>
              <a:rPr lang="zh-CN" altLang="en-US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位，且同时包含字母和数字；</a:t>
            </a:r>
            <a:endParaRPr lang="zh-CN" altLang="en-US" sz="1320">
              <a:solidFill>
                <a:srgbClr val="1F2F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altLang="zh-CN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admin.js </a:t>
            </a:r>
            <a:r>
              <a:rPr lang="zh-CN" altLang="en-US" sz="1320">
                <a:solidFill>
                  <a:srgbClr val="1F2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校验失败时提示并聚焦，不发送请求。</a:t>
            </a:r>
            <a:endParaRPr lang="en-US" sz="1320" dirty="0">
              <a:solidFill>
                <a:srgbClr val="1F2F4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买家表单：必填与长度限制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607040" y="292608"/>
            <a:ext cx="1097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10-2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777240" cy="64008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5" name="Text 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软件工程实践 · 第 2 组 · 在线购物系统</a:t>
            </a:r>
            <a:endParaRPr lang="en-US" sz="900" dirty="0"/>
          </a:p>
        </p:txBody>
      </p:sp>
      <p:sp>
        <p:nvSpPr>
          <p:cNvPr id="16" name="文本框 15"/>
          <p:cNvSpPr txBox="1"/>
          <p:nvPr/>
        </p:nvSpPr>
        <p:spPr>
          <a:xfrm>
            <a:off x="584200" y="14732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14304E"/>
                </a:solidFill>
                <a:latin typeface="微软雅黑" panose="020B0503020204020204" pitchFamily="34" charset="-122"/>
              </a:rPr>
              <a:t>实际页面</a:t>
            </a:r>
            <a:endParaRPr lang="zh-CN" altLang="en-US" sz="1600" b="1">
              <a:solidFill>
                <a:srgbClr val="1430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84200" y="1841500"/>
            <a:ext cx="50800" cy="4191000"/>
          </a:xfrm>
          <a:prstGeom prst="rect">
            <a:avLst/>
          </a:prstGeom>
          <a:solidFill>
            <a:srgbClr val="1BAD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/>
          <p:cNvPicPr/>
          <p:nvPr/>
        </p:nvPicPr>
        <p:blipFill>
          <a:blip r:embed="rId1"/>
          <a:stretch>
            <a:fillRect/>
          </a:stretch>
        </p:blipFill>
        <p:spPr>
          <a:xfrm>
            <a:off x="749300" y="1917700"/>
            <a:ext cx="6540500" cy="4038600"/>
          </a:xfrm>
          <a:prstGeom prst="rect">
            <a:avLst/>
          </a:prstGeom>
          <a:ln w="9525">
            <a:solidFill>
              <a:srgbClr val="D9E5EF"/>
            </a:solidFill>
          </a:ln>
        </p:spPr>
      </p:pic>
      <p:sp>
        <p:nvSpPr>
          <p:cNvPr id="20" name="文本框 19"/>
          <p:cNvSpPr txBox="1"/>
          <p:nvPr/>
        </p:nvSpPr>
        <p:spPr>
          <a:xfrm>
            <a:off x="7734300" y="14732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14304E"/>
                </a:solidFill>
                <a:latin typeface="微软雅黑" panose="020B0503020204020204" pitchFamily="34" charset="-122"/>
              </a:rPr>
              <a:t>代码实现</a:t>
            </a:r>
            <a:endParaRPr lang="zh-CN" altLang="en-US" sz="1600" b="1">
              <a:solidFill>
                <a:srgbClr val="1430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734300" y="1993900"/>
            <a:ext cx="391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00">
                <a:solidFill>
                  <a:srgbClr val="1F2F41"/>
                </a:solidFill>
                <a:latin typeface="微软雅黑" panose="020B0503020204020204" pitchFamily="34" charset="-122"/>
              </a:rPr>
              <a:t>public/app.js </a:t>
            </a:r>
            <a:r>
              <a:rPr lang="zh-CN" altLang="en-US" sz="1400">
                <a:solidFill>
                  <a:srgbClr val="1F2F41"/>
                </a:solidFill>
                <a:latin typeface="微软雅黑" panose="020B0503020204020204" pitchFamily="34" charset="-122"/>
              </a:rPr>
              <a:t>动态生成提交意向表单</a:t>
            </a:r>
            <a:endParaRPr lang="zh-CN" altLang="en-US" sz="1400">
              <a:solidFill>
                <a:srgbClr val="1F2F4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734300" y="2755900"/>
            <a:ext cx="391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>
                <a:solidFill>
                  <a:srgbClr val="1F2F41"/>
                </a:solidFill>
                <a:latin typeface="微软雅黑" panose="020B0503020204020204" pitchFamily="34" charset="-122"/>
              </a:rPr>
              <a:t>姓名：</a:t>
            </a:r>
            <a:r>
              <a:rPr lang="en-US" altLang="zh-CN" sz="1400">
                <a:solidFill>
                  <a:srgbClr val="1F2F41"/>
                </a:solidFill>
                <a:latin typeface="微软雅黑" panose="020B0503020204020204" pitchFamily="34" charset="-122"/>
              </a:rPr>
              <a:t>required + maxlength=64</a:t>
            </a:r>
            <a:endParaRPr lang="zh-CN" altLang="en-US" sz="1400">
              <a:solidFill>
                <a:srgbClr val="1F2F4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734300" y="3454400"/>
            <a:ext cx="391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>
                <a:solidFill>
                  <a:srgbClr val="1F2F41"/>
                </a:solidFill>
                <a:latin typeface="微软雅黑" panose="020B0503020204020204" pitchFamily="34" charset="-122"/>
              </a:rPr>
              <a:t>电话：</a:t>
            </a:r>
            <a:r>
              <a:rPr lang="en-US" altLang="zh-CN" sz="1400">
                <a:solidFill>
                  <a:srgbClr val="1F2F41"/>
                </a:solidFill>
                <a:latin typeface="微软雅黑" panose="020B0503020204020204" pitchFamily="34" charset="-122"/>
              </a:rPr>
              <a:t>type=tel + required + maxlength=32</a:t>
            </a:r>
            <a:endParaRPr lang="zh-CN" altLang="en-US" sz="1400">
              <a:solidFill>
                <a:srgbClr val="1F2F4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734300" y="42926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00">
                <a:solidFill>
                  <a:srgbClr val="1F2F41"/>
                </a:solidFill>
                <a:latin typeface="微软雅黑" panose="020B0503020204020204" pitchFamily="34" charset="-122"/>
              </a:rPr>
              <a:t>public/index.html </a:t>
            </a:r>
            <a:r>
              <a:rPr lang="zh-CN" altLang="en-US" sz="1400">
                <a:solidFill>
                  <a:srgbClr val="1F2F41"/>
                </a:solidFill>
                <a:latin typeface="微软雅黑" panose="020B0503020204020204" pitchFamily="34" charset="-122"/>
              </a:rPr>
              <a:t>的修改表单采用相同长度限制</a:t>
            </a:r>
            <a:endParaRPr lang="zh-CN" altLang="en-US" sz="1400">
              <a:solidFill>
                <a:srgbClr val="1F2F4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734300" y="53848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607084"/>
                </a:solidFill>
                <a:latin typeface="微软雅黑" panose="020B0503020204020204" pitchFamily="34" charset="-122"/>
              </a:rPr>
              <a:t>电话字段未额外加入格式正则</a:t>
            </a:r>
            <a:endParaRPr lang="zh-CN" altLang="en-US" sz="1200">
              <a:solidFill>
                <a:srgbClr val="607084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卖家发布：表单入口先设约束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607040" y="292608"/>
            <a:ext cx="1097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10-3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777240" cy="64008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5" name="Text 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软件工程实践 · 第 2 组 · 在线购物系统</a:t>
            </a:r>
            <a:endParaRPr lang="en-US" sz="900" dirty="0"/>
          </a:p>
        </p:txBody>
      </p:sp>
      <p:sp>
        <p:nvSpPr>
          <p:cNvPr id="16" name="文本框 15"/>
          <p:cNvSpPr txBox="1"/>
          <p:nvPr/>
        </p:nvSpPr>
        <p:spPr>
          <a:xfrm>
            <a:off x="584200" y="14732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14304E"/>
                </a:solidFill>
                <a:latin typeface="微软雅黑" panose="020B0503020204020204" pitchFamily="34" charset="-122"/>
              </a:rPr>
              <a:t>卖家工作台 </a:t>
            </a:r>
            <a:r>
              <a:rPr lang="en-US" altLang="zh-CN" sz="1600" b="1">
                <a:solidFill>
                  <a:srgbClr val="14304E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1600" b="1">
                <a:solidFill>
                  <a:srgbClr val="14304E"/>
                </a:solidFill>
                <a:latin typeface="微软雅黑" panose="020B0503020204020204" pitchFamily="34" charset="-122"/>
              </a:rPr>
              <a:t>发布表单</a:t>
            </a:r>
            <a:endParaRPr lang="zh-CN" altLang="en-US" sz="1600" b="1">
              <a:solidFill>
                <a:srgbClr val="1430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84200" y="1841500"/>
            <a:ext cx="50800" cy="4254500"/>
          </a:xfrm>
          <a:prstGeom prst="rect">
            <a:avLst/>
          </a:prstGeom>
          <a:solidFill>
            <a:srgbClr val="F67C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/>
          <p:cNvPicPr/>
          <p:nvPr/>
        </p:nvPicPr>
        <p:blipFill>
          <a:blip r:embed="rId1"/>
          <a:stretch>
            <a:fillRect/>
          </a:stretch>
        </p:blipFill>
        <p:spPr>
          <a:xfrm>
            <a:off x="762000" y="1841500"/>
            <a:ext cx="3771900" cy="4140200"/>
          </a:xfrm>
          <a:prstGeom prst="rect">
            <a:avLst/>
          </a:prstGeom>
          <a:ln w="9525">
            <a:solidFill>
              <a:srgbClr val="D9E5EF"/>
            </a:solidFill>
          </a:ln>
        </p:spPr>
      </p:pic>
      <p:sp>
        <p:nvSpPr>
          <p:cNvPr id="20" name="文本框 19"/>
          <p:cNvSpPr txBox="1"/>
          <p:nvPr/>
        </p:nvSpPr>
        <p:spPr>
          <a:xfrm>
            <a:off x="4953000" y="14732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600" b="1">
                <a:solidFill>
                  <a:srgbClr val="14304E"/>
                </a:solidFill>
                <a:latin typeface="微软雅黑" panose="020B0503020204020204" pitchFamily="34" charset="-122"/>
              </a:rPr>
              <a:t>HTML </a:t>
            </a:r>
            <a:r>
              <a:rPr lang="zh-CN" altLang="en-US" sz="1600" b="1">
                <a:solidFill>
                  <a:srgbClr val="14304E"/>
                </a:solidFill>
                <a:latin typeface="微软雅黑" panose="020B0503020204020204" pitchFamily="34" charset="-122"/>
              </a:rPr>
              <a:t>属性</a:t>
            </a:r>
            <a:endParaRPr lang="zh-CN" altLang="en-US" sz="1600" b="1">
              <a:solidFill>
                <a:srgbClr val="1430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953000" y="2006600"/>
            <a:ext cx="628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>
                <a:solidFill>
                  <a:srgbClr val="1F2F41"/>
                </a:solidFill>
                <a:latin typeface="微软雅黑" panose="020B0503020204020204" pitchFamily="34" charset="-122"/>
              </a:rPr>
              <a:t>商品名称 </a:t>
            </a:r>
            <a:r>
              <a:rPr lang="en-US" altLang="zh-CN" sz="1400">
                <a:solidFill>
                  <a:srgbClr val="1F2F41"/>
                </a:solidFill>
                <a:latin typeface="微软雅黑" panose="020B0503020204020204" pitchFamily="34" charset="-122"/>
              </a:rPr>
              <a:t>maxlength=128</a:t>
            </a:r>
            <a:endParaRPr lang="en-US" altLang="zh-CN" sz="1400">
              <a:solidFill>
                <a:srgbClr val="1F2F41"/>
              </a:solidFill>
              <a:latin typeface="微软雅黑" panose="020B0503020204020204" pitchFamily="34" charset="-122"/>
            </a:endParaRPr>
          </a:p>
          <a:p>
            <a:r>
              <a:rPr lang="zh-CN" altLang="en-US" sz="1400">
                <a:solidFill>
                  <a:srgbClr val="1F2F41"/>
                </a:solidFill>
                <a:latin typeface="微软雅黑" panose="020B0503020204020204" pitchFamily="34" charset="-122"/>
              </a:rPr>
              <a:t>商品描述 </a:t>
            </a:r>
            <a:r>
              <a:rPr lang="en-US" altLang="zh-CN" sz="1400">
                <a:solidFill>
                  <a:srgbClr val="1F2F41"/>
                </a:solidFill>
                <a:latin typeface="微软雅黑" panose="020B0503020204020204" pitchFamily="34" charset="-122"/>
              </a:rPr>
              <a:t>maxlength=2000</a:t>
            </a:r>
            <a:endParaRPr lang="zh-CN" altLang="en-US" sz="1400">
              <a:solidFill>
                <a:srgbClr val="1F2F4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953000" y="3111500"/>
            <a:ext cx="628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>
                <a:solidFill>
                  <a:srgbClr val="1F2F41"/>
                </a:solidFill>
                <a:latin typeface="微软雅黑" panose="020B0503020204020204" pitchFamily="34" charset="-122"/>
              </a:rPr>
              <a:t>价格 </a:t>
            </a:r>
            <a:r>
              <a:rPr lang="en-US" altLang="zh-CN" sz="1400">
                <a:solidFill>
                  <a:srgbClr val="1F2F41"/>
                </a:solidFill>
                <a:latin typeface="微软雅黑" panose="020B0503020204020204" pitchFamily="34" charset="-122"/>
              </a:rPr>
              <a:t>type=number</a:t>
            </a:r>
            <a:r>
              <a:rPr lang="zh-CN" altLang="en-US" sz="1400">
                <a:solidFill>
                  <a:srgbClr val="1F2F41"/>
                </a:solidFill>
                <a:latin typeface="微软雅黑" panose="020B0503020204020204" pitchFamily="34" charset="-122"/>
              </a:rPr>
              <a:t>，</a:t>
            </a:r>
            <a:r>
              <a:rPr lang="en-US" altLang="zh-CN" sz="1400">
                <a:solidFill>
                  <a:srgbClr val="1F2F41"/>
                </a:solidFill>
                <a:latin typeface="微软雅黑" panose="020B0503020204020204" pitchFamily="34" charset="-122"/>
              </a:rPr>
              <a:t>min=0.01</a:t>
            </a:r>
            <a:endParaRPr lang="en-US" altLang="zh-CN" sz="1400">
              <a:solidFill>
                <a:srgbClr val="1F2F41"/>
              </a:solidFill>
              <a:latin typeface="微软雅黑" panose="020B0503020204020204" pitchFamily="34" charset="-122"/>
            </a:endParaRPr>
          </a:p>
          <a:p>
            <a:r>
              <a:rPr lang="en-US" altLang="zh-CN" sz="1400">
                <a:solidFill>
                  <a:srgbClr val="1F2F41"/>
                </a:solidFill>
                <a:latin typeface="微软雅黑" panose="020B0503020204020204" pitchFamily="34" charset="-122"/>
              </a:rPr>
              <a:t>step=0.01</a:t>
            </a:r>
            <a:r>
              <a:rPr lang="zh-CN" altLang="en-US" sz="1400">
                <a:solidFill>
                  <a:srgbClr val="1F2F41"/>
                </a:solidFill>
                <a:latin typeface="微软雅黑" panose="020B0503020204020204" pitchFamily="34" charset="-122"/>
              </a:rPr>
              <a:t>，</a:t>
            </a:r>
            <a:r>
              <a:rPr lang="en-US" altLang="zh-CN" sz="1400">
                <a:solidFill>
                  <a:srgbClr val="1F2F41"/>
                </a:solidFill>
                <a:latin typeface="微软雅黑" panose="020B0503020204020204" pitchFamily="34" charset="-122"/>
              </a:rPr>
              <a:t>max=9999999.99</a:t>
            </a:r>
            <a:endParaRPr lang="zh-CN" altLang="en-US" sz="1400">
              <a:solidFill>
                <a:srgbClr val="1F2F4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953000" y="4368800"/>
            <a:ext cx="628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>
                <a:solidFill>
                  <a:srgbClr val="1F2F41"/>
                </a:solidFill>
                <a:latin typeface="微软雅黑" panose="020B0503020204020204" pitchFamily="34" charset="-122"/>
              </a:rPr>
              <a:t>图片 </a:t>
            </a:r>
            <a:r>
              <a:rPr lang="en-US" altLang="zh-CN" sz="1400">
                <a:solidFill>
                  <a:srgbClr val="1F2F41"/>
                </a:solidFill>
                <a:latin typeface="微软雅黑" panose="020B0503020204020204" pitchFamily="34" charset="-122"/>
              </a:rPr>
              <a:t>accept </a:t>
            </a:r>
            <a:r>
              <a:rPr lang="zh-CN" altLang="en-US" sz="1400">
                <a:solidFill>
                  <a:srgbClr val="1F2F41"/>
                </a:solidFill>
                <a:latin typeface="微软雅黑" panose="020B0503020204020204" pitchFamily="34" charset="-122"/>
              </a:rPr>
              <a:t>限 </a:t>
            </a:r>
            <a:r>
              <a:rPr lang="en-US" altLang="zh-CN" sz="1400">
                <a:solidFill>
                  <a:srgbClr val="1F2F41"/>
                </a:solidFill>
                <a:latin typeface="微软雅黑" panose="020B0503020204020204" pitchFamily="34" charset="-122"/>
              </a:rPr>
              <a:t>JPG</a:t>
            </a:r>
            <a:r>
              <a:rPr lang="zh-CN" altLang="en-US" sz="1400">
                <a:solidFill>
                  <a:srgbClr val="1F2F41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1F2F41"/>
                </a:solidFill>
                <a:latin typeface="微软雅黑" panose="020B0503020204020204" pitchFamily="34" charset="-122"/>
              </a:rPr>
              <a:t>PNG </a:t>
            </a:r>
            <a:r>
              <a:rPr lang="zh-CN" altLang="en-US" sz="1400">
                <a:solidFill>
                  <a:srgbClr val="1F2F41"/>
                </a:solidFill>
                <a:latin typeface="微软雅黑" panose="020B0503020204020204" pitchFamily="34" charset="-122"/>
              </a:rPr>
              <a:t>文件</a:t>
            </a:r>
            <a:endParaRPr lang="zh-CN" altLang="en-US" sz="1400">
              <a:solidFill>
                <a:srgbClr val="1F2F4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953000" y="5207000"/>
            <a:ext cx="628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>
                <a:solidFill>
                  <a:srgbClr val="1F2F41"/>
                </a:solidFill>
                <a:latin typeface="微软雅黑" panose="020B0503020204020204" pitchFamily="34" charset="-122"/>
              </a:rPr>
              <a:t>提交时 </a:t>
            </a:r>
            <a:r>
              <a:rPr lang="en-US" altLang="zh-CN" sz="1400">
                <a:solidFill>
                  <a:srgbClr val="1F2F41"/>
                </a:solidFill>
                <a:latin typeface="微软雅黑" panose="020B0503020204020204" pitchFamily="34" charset="-122"/>
              </a:rPr>
              <a:t>admin.js </a:t>
            </a:r>
            <a:r>
              <a:rPr lang="zh-CN" altLang="en-US" sz="1400">
                <a:solidFill>
                  <a:srgbClr val="1F2F41"/>
                </a:solidFill>
                <a:latin typeface="微软雅黑" panose="020B0503020204020204" pitchFamily="34" charset="-122"/>
              </a:rPr>
              <a:t>还会执行价格与图片校验</a:t>
            </a:r>
            <a:endParaRPr lang="zh-CN" altLang="en-US" sz="1400">
              <a:solidFill>
                <a:srgbClr val="1F2F4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价格校验：错误止于前端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607040" y="292608"/>
            <a:ext cx="1097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10-4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777240" cy="64008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5" name="Text 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软件工程实践 · 第 2 组 · 在线购物系统</a:t>
            </a:r>
            <a:endParaRPr lang="en-US" sz="900" dirty="0"/>
          </a:p>
        </p:txBody>
      </p:sp>
      <p:sp>
        <p:nvSpPr>
          <p:cNvPr id="16" name="文本框 15"/>
          <p:cNvSpPr txBox="1"/>
          <p:nvPr/>
        </p:nvSpPr>
        <p:spPr>
          <a:xfrm>
            <a:off x="584200" y="14732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14304E"/>
                </a:solidFill>
                <a:latin typeface="微软雅黑" panose="020B0503020204020204" pitchFamily="34" charset="-122"/>
              </a:rPr>
              <a:t>示例：输入 </a:t>
            </a:r>
            <a:r>
              <a:rPr lang="en-US" altLang="zh-CN" sz="1600" b="1">
                <a:solidFill>
                  <a:srgbClr val="14304E"/>
                </a:solidFill>
                <a:latin typeface="微软雅黑" panose="020B0503020204020204" pitchFamily="34" charset="-122"/>
              </a:rPr>
              <a:t>10000000 </a:t>
            </a:r>
            <a:r>
              <a:rPr lang="zh-CN" altLang="en-US" sz="1600" b="1">
                <a:solidFill>
                  <a:srgbClr val="14304E"/>
                </a:solidFill>
                <a:latin typeface="微软雅黑" panose="020B0503020204020204" pitchFamily="34" charset="-122"/>
              </a:rPr>
              <a:t>元</a:t>
            </a:r>
            <a:endParaRPr lang="zh-CN" altLang="en-US" sz="1600" b="1">
              <a:solidFill>
                <a:srgbClr val="1430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84200" y="1841500"/>
            <a:ext cx="50800" cy="4229100"/>
          </a:xfrm>
          <a:prstGeom prst="rect">
            <a:avLst/>
          </a:prstGeom>
          <a:solidFill>
            <a:srgbClr val="F67C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/>
          <p:cNvPicPr/>
          <p:nvPr/>
        </p:nvPicPr>
        <p:blipFill>
          <a:blip r:embed="rId1"/>
          <a:stretch>
            <a:fillRect/>
          </a:stretch>
        </p:blipFill>
        <p:spPr>
          <a:xfrm>
            <a:off x="736600" y="1841500"/>
            <a:ext cx="3200400" cy="4216400"/>
          </a:xfrm>
          <a:prstGeom prst="rect">
            <a:avLst/>
          </a:prstGeom>
          <a:ln w="9525">
            <a:solidFill>
              <a:srgbClr val="D9E5EF"/>
            </a:solidFill>
          </a:ln>
        </p:spPr>
      </p:pic>
      <p:pic>
        <p:nvPicPr>
          <p:cNvPr id="21" name="图片 20"/>
          <p:cNvPicPr/>
          <p:nvPr/>
        </p:nvPicPr>
        <p:blipFill>
          <a:blip r:embed="rId2"/>
          <a:stretch>
            <a:fillRect/>
          </a:stretch>
        </p:blipFill>
        <p:spPr>
          <a:xfrm>
            <a:off x="4660900" y="1993900"/>
            <a:ext cx="4000500" cy="1041400"/>
          </a:xfrm>
          <a:prstGeom prst="rect">
            <a:avLst/>
          </a:prstGeom>
          <a:ln w="9525">
            <a:solidFill>
              <a:srgbClr val="D9E5EF"/>
            </a:solidFill>
          </a:ln>
        </p:spPr>
      </p:pic>
      <p:sp>
        <p:nvSpPr>
          <p:cNvPr id="22" name="文本框 21"/>
          <p:cNvSpPr txBox="1"/>
          <p:nvPr/>
        </p:nvSpPr>
        <p:spPr>
          <a:xfrm>
            <a:off x="4660900" y="3225800"/>
            <a:ext cx="666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600" b="1">
                <a:solidFill>
                  <a:srgbClr val="14304E"/>
                </a:solidFill>
                <a:latin typeface="微软雅黑" panose="020B0503020204020204" pitchFamily="34" charset="-122"/>
              </a:rPr>
              <a:t>public/admin.js </a:t>
            </a:r>
            <a:r>
              <a:rPr lang="zh-CN" altLang="en-US" sz="1600" b="1">
                <a:solidFill>
                  <a:srgbClr val="14304E"/>
                </a:solidFill>
                <a:latin typeface="微软雅黑" panose="020B0503020204020204" pitchFamily="34" charset="-122"/>
              </a:rPr>
              <a:t>的 </a:t>
            </a:r>
            <a:r>
              <a:rPr lang="en-US" altLang="zh-CN" sz="1600" b="1">
                <a:solidFill>
                  <a:srgbClr val="14304E"/>
                </a:solidFill>
                <a:latin typeface="微软雅黑" panose="020B0503020204020204" pitchFamily="34" charset="-122"/>
              </a:rPr>
              <a:t>validatePrice()</a:t>
            </a:r>
            <a:endParaRPr lang="zh-CN" altLang="en-US" sz="1600" b="1">
              <a:solidFill>
                <a:srgbClr val="1430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660900" y="38227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>
                <a:solidFill>
                  <a:srgbClr val="1F2F41"/>
                </a:solidFill>
                <a:latin typeface="微软雅黑" panose="020B0503020204020204" pitchFamily="34" charset="-122"/>
              </a:rPr>
              <a:t>正则检查整数位与小数位，限制最多两位小数。</a:t>
            </a:r>
            <a:endParaRPr lang="zh-CN" altLang="en-US" sz="1400">
              <a:solidFill>
                <a:srgbClr val="1F2F4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660900" y="45720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>
                <a:solidFill>
                  <a:srgbClr val="1F2F41"/>
                </a:solidFill>
                <a:latin typeface="微软雅黑" panose="020B0503020204020204" pitchFamily="34" charset="-122"/>
              </a:rPr>
              <a:t>再用 </a:t>
            </a:r>
            <a:r>
              <a:rPr lang="en-US" altLang="zh-CN" sz="1400">
                <a:solidFill>
                  <a:srgbClr val="1F2F41"/>
                </a:solidFill>
                <a:latin typeface="微软雅黑" panose="020B0503020204020204" pitchFamily="34" charset="-122"/>
              </a:rPr>
              <a:t>Number(value) </a:t>
            </a:r>
            <a:r>
              <a:rPr lang="zh-CN" altLang="en-US" sz="1400">
                <a:solidFill>
                  <a:srgbClr val="1F2F41"/>
                </a:solidFill>
                <a:latin typeface="微软雅黑" panose="020B0503020204020204" pitchFamily="34" charset="-122"/>
              </a:rPr>
              <a:t>检查大于 </a:t>
            </a:r>
            <a:r>
              <a:rPr lang="en-US" altLang="zh-CN" sz="1400">
                <a:solidFill>
                  <a:srgbClr val="1F2F41"/>
                </a:solidFill>
                <a:latin typeface="微软雅黑" panose="020B0503020204020204" pitchFamily="34" charset="-122"/>
              </a:rPr>
              <a:t>0 </a:t>
            </a:r>
            <a:r>
              <a:rPr lang="zh-CN" altLang="en-US" sz="1400">
                <a:solidFill>
                  <a:srgbClr val="1F2F41"/>
                </a:solidFill>
                <a:latin typeface="微软雅黑" panose="020B0503020204020204" pitchFamily="34" charset="-122"/>
              </a:rPr>
              <a:t>且不超过 </a:t>
            </a:r>
            <a:r>
              <a:rPr lang="en-US" altLang="zh-CN" sz="1400">
                <a:solidFill>
                  <a:srgbClr val="1F2F41"/>
                </a:solidFill>
                <a:latin typeface="微软雅黑" panose="020B0503020204020204" pitchFamily="34" charset="-122"/>
              </a:rPr>
              <a:t>9999999.99</a:t>
            </a:r>
            <a:r>
              <a:rPr lang="zh-CN" altLang="en-US" sz="1400">
                <a:solidFill>
                  <a:srgbClr val="1F2F41"/>
                </a:solidFill>
                <a:latin typeface="微软雅黑" panose="020B0503020204020204" pitchFamily="34" charset="-122"/>
              </a:rPr>
              <a:t>。</a:t>
            </a:r>
            <a:endParaRPr lang="zh-CN" altLang="en-US" sz="1400">
              <a:solidFill>
                <a:srgbClr val="1F2F4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660900" y="54356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00">
                <a:solidFill>
                  <a:srgbClr val="1F2F41"/>
                </a:solidFill>
                <a:latin typeface="微软雅黑" panose="020B0503020204020204" pitchFamily="34" charset="-122"/>
              </a:rPr>
              <a:t>失败后 </a:t>
            </a:r>
            <a:r>
              <a:rPr lang="en-US" altLang="zh-CN" sz="1300">
                <a:solidFill>
                  <a:srgbClr val="1F2F41"/>
                </a:solidFill>
                <a:latin typeface="微软雅黑" panose="020B0503020204020204" pitchFamily="34" charset="-122"/>
              </a:rPr>
              <a:t>message() </a:t>
            </a:r>
            <a:r>
              <a:rPr lang="zh-CN" altLang="en-US" sz="1300">
                <a:solidFill>
                  <a:srgbClr val="1F2F41"/>
                </a:solidFill>
                <a:latin typeface="微软雅黑" panose="020B0503020204020204" pitchFamily="34" charset="-122"/>
              </a:rPr>
              <a:t>提示、</a:t>
            </a:r>
            <a:r>
              <a:rPr lang="en-US" altLang="zh-CN" sz="1300">
                <a:solidFill>
                  <a:srgbClr val="1F2F41"/>
                </a:solidFill>
                <a:latin typeface="微软雅黑" panose="020B0503020204020204" pitchFamily="34" charset="-122"/>
              </a:rPr>
              <a:t>focus() </a:t>
            </a:r>
            <a:r>
              <a:rPr lang="zh-CN" altLang="en-US" sz="1300">
                <a:solidFill>
                  <a:srgbClr val="1F2F41"/>
                </a:solidFill>
                <a:latin typeface="微软雅黑" panose="020B0503020204020204" pitchFamily="34" charset="-122"/>
              </a:rPr>
              <a:t>聚焦并 </a:t>
            </a:r>
            <a:r>
              <a:rPr lang="en-US" altLang="zh-CN" sz="1300">
                <a:solidFill>
                  <a:srgbClr val="1F2F41"/>
                </a:solidFill>
                <a:latin typeface="微软雅黑" panose="020B0503020204020204" pitchFamily="34" charset="-122"/>
              </a:rPr>
              <a:t>return</a:t>
            </a:r>
            <a:r>
              <a:rPr lang="zh-CN" altLang="en-US" sz="1300">
                <a:solidFill>
                  <a:srgbClr val="1F2F41"/>
                </a:solidFill>
                <a:latin typeface="微软雅黑" panose="020B0503020204020204" pitchFamily="34" charset="-122"/>
              </a:rPr>
              <a:t>；不会发送 </a:t>
            </a:r>
            <a:r>
              <a:rPr lang="en-US" altLang="zh-CN" sz="1300">
                <a:solidFill>
                  <a:srgbClr val="1F2F41"/>
                </a:solidFill>
                <a:latin typeface="微软雅黑" panose="020B0503020204020204" pitchFamily="34" charset="-122"/>
              </a:rPr>
              <a:t>POST /api/products</a:t>
            </a:r>
            <a:r>
              <a:rPr lang="zh-CN" altLang="en-US" sz="1300">
                <a:solidFill>
                  <a:srgbClr val="1F2F41"/>
                </a:solidFill>
                <a:latin typeface="微软雅黑" panose="020B0503020204020204" pitchFamily="34" charset="-122"/>
              </a:rPr>
              <a:t>。</a:t>
            </a:r>
            <a:endParaRPr lang="zh-CN" altLang="en-US" sz="1300">
              <a:solidFill>
                <a:srgbClr val="1F2F4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图片与密码：独立的提交前校验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607040" y="292608"/>
            <a:ext cx="1097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10-5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777240" cy="64008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5" name="Text 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软件工程实践 · 第 2 组 · 在线购物系统</a:t>
            </a:r>
            <a:endParaRPr lang="en-US" sz="900" dirty="0"/>
          </a:p>
        </p:txBody>
      </p:sp>
      <p:sp>
        <p:nvSpPr>
          <p:cNvPr id="16" name="文本框 15"/>
          <p:cNvSpPr txBox="1"/>
          <p:nvPr/>
        </p:nvSpPr>
        <p:spPr>
          <a:xfrm>
            <a:off x="584200" y="1473200"/>
            <a:ext cx="463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14304E"/>
                </a:solidFill>
                <a:latin typeface="微软雅黑" panose="020B0503020204020204" pitchFamily="34" charset="-122"/>
              </a:rPr>
              <a:t>商品图片</a:t>
            </a:r>
            <a:endParaRPr lang="zh-CN" altLang="en-US" sz="1600" b="1">
              <a:solidFill>
                <a:srgbClr val="1430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84200" y="18796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50">
                <a:solidFill>
                  <a:srgbClr val="1F2F41"/>
                </a:solidFill>
                <a:latin typeface="微软雅黑" panose="020B0503020204020204" pitchFamily="34" charset="-122"/>
              </a:rPr>
              <a:t>validateImage() </a:t>
            </a:r>
            <a:r>
              <a:rPr lang="zh-CN" altLang="en-US" sz="1250">
                <a:solidFill>
                  <a:srgbClr val="1F2F41"/>
                </a:solidFill>
                <a:latin typeface="微软雅黑" panose="020B0503020204020204" pitchFamily="34" charset="-122"/>
              </a:rPr>
              <a:t>检查 </a:t>
            </a:r>
            <a:r>
              <a:rPr lang="en-US" altLang="zh-CN" sz="1250">
                <a:solidFill>
                  <a:srgbClr val="1F2F41"/>
                </a:solidFill>
                <a:latin typeface="微软雅黑" panose="020B0503020204020204" pitchFamily="34" charset="-122"/>
              </a:rPr>
              <a:t>MIME </a:t>
            </a:r>
            <a:r>
              <a:rPr lang="zh-CN" altLang="en-US" sz="1250">
                <a:solidFill>
                  <a:srgbClr val="1F2F41"/>
                </a:solidFill>
                <a:latin typeface="微软雅黑" panose="020B0503020204020204" pitchFamily="34" charset="-122"/>
              </a:rPr>
              <a:t>和 </a:t>
            </a:r>
            <a:r>
              <a:rPr lang="en-US" altLang="zh-CN" sz="1250">
                <a:solidFill>
                  <a:srgbClr val="1F2F41"/>
                </a:solidFill>
                <a:latin typeface="微软雅黑" panose="020B0503020204020204" pitchFamily="34" charset="-122"/>
              </a:rPr>
              <a:t>5 MiB </a:t>
            </a:r>
            <a:r>
              <a:rPr lang="zh-CN" altLang="en-US" sz="1250">
                <a:solidFill>
                  <a:srgbClr val="1F2F41"/>
                </a:solidFill>
                <a:latin typeface="微软雅黑" panose="020B0503020204020204" pitchFamily="34" charset="-122"/>
              </a:rPr>
              <a:t>上限</a:t>
            </a:r>
            <a:endParaRPr lang="zh-CN" altLang="en-US" sz="1250">
              <a:solidFill>
                <a:srgbClr val="1F2F41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9" name="图片 18"/>
          <p:cNvPicPr/>
          <p:nvPr/>
        </p:nvPicPr>
        <p:blipFill>
          <a:blip r:embed="rId1"/>
          <a:stretch>
            <a:fillRect/>
          </a:stretch>
        </p:blipFill>
        <p:spPr>
          <a:xfrm>
            <a:off x="1079500" y="2362200"/>
            <a:ext cx="3175000" cy="952500"/>
          </a:xfrm>
          <a:prstGeom prst="rect">
            <a:avLst/>
          </a:prstGeom>
          <a:ln w="9525">
            <a:solidFill>
              <a:srgbClr val="D9E5EF"/>
            </a:solidFill>
          </a:ln>
        </p:spPr>
      </p:pic>
      <p:pic>
        <p:nvPicPr>
          <p:cNvPr id="21" name="图片 20"/>
          <p:cNvPicPr/>
          <p:nvPr/>
        </p:nvPicPr>
        <p:blipFill>
          <a:blip r:embed="rId2"/>
          <a:stretch>
            <a:fillRect/>
          </a:stretch>
        </p:blipFill>
        <p:spPr>
          <a:xfrm>
            <a:off x="800100" y="3403600"/>
            <a:ext cx="4610100" cy="2921000"/>
          </a:xfrm>
          <a:prstGeom prst="rect">
            <a:avLst/>
          </a:prstGeom>
          <a:ln w="9525">
            <a:solidFill>
              <a:srgbClr val="D9E5EF"/>
            </a:solidFill>
          </a:ln>
        </p:spPr>
      </p:pic>
      <p:sp>
        <p:nvSpPr>
          <p:cNvPr id="22" name="文本框 21"/>
          <p:cNvSpPr txBox="1"/>
          <p:nvPr/>
        </p:nvSpPr>
        <p:spPr>
          <a:xfrm>
            <a:off x="6477000" y="1473200"/>
            <a:ext cx="463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14304E"/>
                </a:solidFill>
                <a:latin typeface="微软雅黑" panose="020B0503020204020204" pitchFamily="34" charset="-122"/>
              </a:rPr>
              <a:t>新密码</a:t>
            </a:r>
            <a:endParaRPr lang="zh-CN" altLang="en-US" sz="1600" b="1">
              <a:solidFill>
                <a:srgbClr val="1430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477000" y="18796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50">
                <a:solidFill>
                  <a:srgbClr val="1F2F41"/>
                </a:solidFill>
                <a:latin typeface="微软雅黑" panose="020B0503020204020204" pitchFamily="34" charset="-122"/>
              </a:rPr>
              <a:t>validatePassword() </a:t>
            </a:r>
            <a:r>
              <a:rPr lang="zh-CN" altLang="en-US" sz="1250">
                <a:solidFill>
                  <a:srgbClr val="1F2F41"/>
                </a:solidFill>
                <a:latin typeface="微软雅黑" panose="020B0503020204020204" pitchFamily="34" charset="-122"/>
              </a:rPr>
              <a:t>要求至少 </a:t>
            </a:r>
            <a:r>
              <a:rPr lang="en-US" altLang="zh-CN" sz="1250">
                <a:solidFill>
                  <a:srgbClr val="1F2F41"/>
                </a:solidFill>
                <a:latin typeface="微软雅黑" panose="020B0503020204020204" pitchFamily="34" charset="-122"/>
              </a:rPr>
              <a:t>8 </a:t>
            </a:r>
            <a:r>
              <a:rPr lang="zh-CN" altLang="en-US" sz="1250">
                <a:solidFill>
                  <a:srgbClr val="1F2F41"/>
                </a:solidFill>
                <a:latin typeface="微软雅黑" panose="020B0503020204020204" pitchFamily="34" charset="-122"/>
              </a:rPr>
              <a:t>位，含字母和数字</a:t>
            </a:r>
            <a:endParaRPr lang="zh-CN" altLang="en-US" sz="1250">
              <a:solidFill>
                <a:srgbClr val="1F2F41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5" name="图片 24"/>
          <p:cNvPicPr/>
          <p:nvPr/>
        </p:nvPicPr>
        <p:blipFill>
          <a:blip r:embed="rId3"/>
          <a:stretch>
            <a:fillRect/>
          </a:stretch>
        </p:blipFill>
        <p:spPr>
          <a:xfrm>
            <a:off x="7175500" y="2362200"/>
            <a:ext cx="2984500" cy="952500"/>
          </a:xfrm>
          <a:prstGeom prst="rect">
            <a:avLst/>
          </a:prstGeom>
          <a:ln w="9525">
            <a:solidFill>
              <a:srgbClr val="D9E5EF"/>
            </a:solidFill>
          </a:ln>
        </p:spPr>
      </p:pic>
      <p:pic>
        <p:nvPicPr>
          <p:cNvPr id="27" name="图片 26"/>
          <p:cNvPicPr/>
          <p:nvPr/>
        </p:nvPicPr>
        <p:blipFill>
          <a:blip r:embed="rId4"/>
          <a:stretch>
            <a:fillRect/>
          </a:stretch>
        </p:blipFill>
        <p:spPr>
          <a:xfrm>
            <a:off x="6959600" y="3403600"/>
            <a:ext cx="3911600" cy="2921000"/>
          </a:xfrm>
          <a:prstGeom prst="rect">
            <a:avLst/>
          </a:prstGeom>
          <a:ln w="9525">
            <a:solidFill>
              <a:srgbClr val="D9E5EF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联调回归：口令与队列仍可用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607040" y="292608"/>
            <a:ext cx="1097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10-6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777240" cy="64008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5" name="Text 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软件工程实践 · 第 2 组 · 在线购物系统</a:t>
            </a:r>
            <a:endParaRPr lang="en-US" sz="900" dirty="0"/>
          </a:p>
        </p:txBody>
      </p:sp>
      <p:sp>
        <p:nvSpPr>
          <p:cNvPr id="16" name="文本框 15"/>
          <p:cNvSpPr txBox="1"/>
          <p:nvPr/>
        </p:nvSpPr>
        <p:spPr>
          <a:xfrm>
            <a:off x="584200" y="1422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14304E"/>
                </a:solidFill>
                <a:latin typeface="微软雅黑" panose="020B0503020204020204" pitchFamily="34" charset="-122"/>
              </a:rPr>
              <a:t>买家查询及修改联系信息</a:t>
            </a:r>
            <a:endParaRPr lang="zh-CN" altLang="en-US" sz="1600" b="1">
              <a:solidFill>
                <a:srgbClr val="14304E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8" name="图片 17"/>
          <p:cNvPicPr/>
          <p:nvPr/>
        </p:nvPicPr>
        <p:blipFill>
          <a:blip r:embed="rId1"/>
          <a:stretch>
            <a:fillRect/>
          </a:stretch>
        </p:blipFill>
        <p:spPr>
          <a:xfrm>
            <a:off x="927100" y="1879600"/>
            <a:ext cx="3898900" cy="3543300"/>
          </a:xfrm>
          <a:prstGeom prst="rect">
            <a:avLst/>
          </a:prstGeom>
          <a:ln w="9525">
            <a:solidFill>
              <a:srgbClr val="D9E5EF"/>
            </a:solidFill>
          </a:ln>
        </p:spPr>
      </p:pic>
      <p:sp>
        <p:nvSpPr>
          <p:cNvPr id="19" name="文本框 18"/>
          <p:cNvSpPr txBox="1"/>
          <p:nvPr/>
        </p:nvSpPr>
        <p:spPr>
          <a:xfrm>
            <a:off x="711200" y="55880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50">
                <a:solidFill>
                  <a:srgbClr val="1F2F41"/>
                </a:solidFill>
                <a:latin typeface="微软雅黑" panose="020B0503020204020204" pitchFamily="34" charset="-122"/>
              </a:rPr>
              <a:t>POST /api/intents/query + PUT /api/intents</a:t>
            </a:r>
            <a:endParaRPr lang="zh-CN" altLang="en-US" sz="1150">
              <a:solidFill>
                <a:srgbClr val="1F2F4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451600" y="1422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14304E"/>
                </a:solidFill>
                <a:latin typeface="微软雅黑" panose="020B0503020204020204" pitchFamily="34" charset="-122"/>
              </a:rPr>
              <a:t>卖家查看排队结果</a:t>
            </a:r>
            <a:endParaRPr lang="zh-CN" altLang="en-US" sz="1600" b="1">
              <a:solidFill>
                <a:srgbClr val="14304E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2" name="图片 21"/>
          <p:cNvPicPr/>
          <p:nvPr/>
        </p:nvPicPr>
        <p:blipFill>
          <a:blip r:embed="rId2"/>
          <a:stretch>
            <a:fillRect/>
          </a:stretch>
        </p:blipFill>
        <p:spPr>
          <a:xfrm>
            <a:off x="6807200" y="1879600"/>
            <a:ext cx="4191000" cy="3543300"/>
          </a:xfrm>
          <a:prstGeom prst="rect">
            <a:avLst/>
          </a:prstGeom>
          <a:ln w="9525">
            <a:solidFill>
              <a:srgbClr val="D9E5EF"/>
            </a:solidFill>
          </a:ln>
        </p:spPr>
      </p:pic>
      <p:sp>
        <p:nvSpPr>
          <p:cNvPr id="23" name="文本框 22"/>
          <p:cNvSpPr txBox="1"/>
          <p:nvPr/>
        </p:nvSpPr>
        <p:spPr>
          <a:xfrm>
            <a:off x="6464300" y="5588000"/>
            <a:ext cx="525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50">
                <a:solidFill>
                  <a:srgbClr val="1F2F41"/>
                </a:solidFill>
                <a:latin typeface="微软雅黑" panose="020B0503020204020204" pitchFamily="34" charset="-122"/>
              </a:rPr>
              <a:t>GET /api/admin/intents </a:t>
            </a:r>
            <a:r>
              <a:rPr lang="zh-CN" altLang="en-US" sz="1150">
                <a:solidFill>
                  <a:srgbClr val="1F2F41"/>
                </a:solidFill>
                <a:latin typeface="微软雅黑" panose="020B0503020204020204" pitchFamily="34" charset="-122"/>
              </a:rPr>
              <a:t>显示更新后的买家信息</a:t>
            </a:r>
            <a:endParaRPr lang="zh-CN" altLang="en-US" sz="1150">
              <a:solidFill>
                <a:srgbClr val="1F2F4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84200" y="61468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>
                <a:solidFill>
                  <a:srgbClr val="2554D7"/>
                </a:solidFill>
                <a:latin typeface="微软雅黑" panose="020B0503020204020204" pitchFamily="34" charset="-122"/>
                <a:hlinkClick r:id="rId3"/>
              </a:rPr>
              <a:t>本页是原有业务流程的联调回归；前端演示视频见项目 </a:t>
            </a:r>
            <a:r>
              <a:rPr lang="en-US" altLang="zh-CN" sz="1050">
                <a:solidFill>
                  <a:srgbClr val="2554D7"/>
                </a:solidFill>
                <a:latin typeface="微软雅黑" panose="020B0503020204020204" pitchFamily="34" charset="-122"/>
                <a:hlinkClick r:id="rId3"/>
              </a:rPr>
              <a:t>Wiki</a:t>
            </a:r>
            <a:endParaRPr lang="zh-CN" altLang="en-US" sz="1050">
              <a:solidFill>
                <a:srgbClr val="2554D7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陈心冉：</a:t>
            </a:r>
            <a:r>
              <a:rPr lang="en-US" sz="2600" b="1" kern="0" spc="150" dirty="0">
                <a:solidFill>
                  <a:srgbClr val="0A25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  <a:sym typeface="+mn-ea"/>
              </a:rPr>
              <a:t>技术栈对比</a:t>
            </a:r>
            <a:r>
              <a:rPr lang="zh-CN" altLang="en-US" sz="2600" b="1" kern="0" spc="150" dirty="0">
                <a:solidFill>
                  <a:srgbClr val="0A25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  <a:sym typeface="+mn-ea"/>
              </a:rPr>
              <a:t>与</a:t>
            </a:r>
            <a:r>
              <a:rPr lang="en-US" sz="2600" b="1" kern="0" spc="150" dirty="0">
                <a:solidFill>
                  <a:srgbClr val="0A25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  <a:sym typeface="+mn-ea"/>
              </a:rPr>
              <a:t>代码结构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607040" y="292608"/>
            <a:ext cx="1097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777240" cy="64008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5" name="Text 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软件工程实践 · 第 2 组 · 在线购物系统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390015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技术栈对比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0" y="1188720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代码结构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772400" y="5349240"/>
            <a:ext cx="1280160" cy="566928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772400" y="5916168"/>
            <a:ext cx="1280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Java 版本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052560" y="5349240"/>
            <a:ext cx="1280160" cy="566928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3.4.5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052560" y="5916168"/>
            <a:ext cx="1280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332720" y="5349240"/>
            <a:ext cx="1371600" cy="566928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A84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UTF-8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0332720" y="5916168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统一编码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/>
        </p:nvGraphicFramePr>
        <p:xfrm>
          <a:off x="523875" y="1762760"/>
          <a:ext cx="5831205" cy="4545330"/>
        </p:xfrm>
        <a:graphic>
          <a:graphicData uri="http://schemas.openxmlformats.org/drawingml/2006/table">
            <a:tbl>
              <a:tblPr/>
              <a:tblGrid>
                <a:gridCol w="1193165"/>
                <a:gridCol w="1987550"/>
                <a:gridCol w="2650490"/>
              </a:tblGrid>
              <a:tr h="7575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类别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重构前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7A8B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重构后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</a:tr>
              <a:tr h="7575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语言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Python 3.12</a:t>
                      </a:r>
                      <a:endParaRPr lang="en-US" sz="10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Java 17</a:t>
                      </a:r>
                      <a:endParaRPr lang="en-US" sz="10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7575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框架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Flask</a:t>
                      </a:r>
                      <a:endParaRPr lang="en-US" sz="10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Spring Boot 3.4</a:t>
                      </a:r>
                      <a:endParaRPr lang="en-US" sz="10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7575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构建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pip</a:t>
                      </a:r>
                      <a:endParaRPr lang="en-US" sz="10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Maven + mvnw</a:t>
                      </a:r>
                      <a:endParaRPr lang="en-US" sz="10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7575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存储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data.json</a:t>
                      </a:r>
                      <a:endParaRPr lang="en-US" sz="10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data.json（不变）</a:t>
                      </a:r>
                      <a:endParaRPr lang="en-US" sz="10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7575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密码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hashlib.scrypt</a:t>
                      </a:r>
                      <a:endParaRPr lang="en-US" sz="10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SCryptPasswordEncoder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8" name="文本框 27"/>
          <p:cNvSpPr txBox="1"/>
          <p:nvPr/>
        </p:nvSpPr>
        <p:spPr>
          <a:xfrm>
            <a:off x="7790815" y="1717040"/>
            <a:ext cx="33718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1.ShoppingController</a:t>
            </a:r>
            <a:endParaRPr 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888605" y="2154555"/>
            <a:ext cx="32740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dirty="0">
                <a:solidFill>
                  <a:srgbClr val="B8D4E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控制层 · 路由 / 请求响应</a:t>
            </a:r>
            <a:endParaRPr lang="en-US" dirty="0"/>
          </a:p>
          <a:p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7905750" y="2799715"/>
            <a:ext cx="2695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2.ShoppingService</a:t>
            </a:r>
            <a:endParaRPr 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751445" y="3369310"/>
            <a:ext cx="4307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dirty="0">
                <a:solidFill>
                  <a:srgbClr val="D4E6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业务逻辑层 · 状态机 / 队列 / 数据读写</a:t>
            </a:r>
            <a:endParaRPr lang="en-US" dirty="0"/>
          </a:p>
          <a:p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7882255" y="4014470"/>
            <a:ext cx="4013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3.ShoppingApplication  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308975" y="4423410"/>
            <a:ext cx="1889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dirty="0">
                <a:solidFill>
                  <a:srgbClr val="D4E6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应用入口</a:t>
            </a:r>
            <a:endParaRPr lang="en-US" dirty="0">
              <a:solidFill>
                <a:srgbClr val="D4E6F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1"/>
          <p:cNvSpPr/>
          <p:nvPr/>
        </p:nvSpPr>
        <p:spPr>
          <a:xfrm>
            <a:off x="685800" y="457200"/>
            <a:ext cx="7955280" cy="457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接口兼容与关键实现</a:t>
            </a:r>
            <a:endParaRPr lang="en-US" sz="27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18288"/>
          </a:xfrm>
          <a:prstGeom prst="rect">
            <a:avLst/>
          </a:prstGeom>
          <a:solidFill>
            <a:srgbClr val="E8F4F8"/>
          </a:solidFill>
        </p:spPr>
      </p:sp>
      <p:sp>
        <p:nvSpPr>
          <p:cNvPr id="8" name="Shape 6"/>
          <p:cNvSpPr/>
          <p:nvPr/>
        </p:nvSpPr>
        <p:spPr>
          <a:xfrm>
            <a:off x="457200" y="1554480"/>
            <a:ext cx="25603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54480"/>
            <a:ext cx="2560320" cy="347472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0" name="Text 8"/>
          <p:cNvSpPr/>
          <p:nvPr/>
        </p:nvSpPr>
        <p:spPr>
          <a:xfrm>
            <a:off x="457200" y="1554480"/>
            <a:ext cx="256032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买家端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075688"/>
            <a:ext cx="73152" cy="73152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2" name="Text 10"/>
          <p:cNvSpPr/>
          <p:nvPr/>
        </p:nvSpPr>
        <p:spPr>
          <a:xfrm>
            <a:off x="749808" y="2011680"/>
            <a:ext cx="214884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 /api/product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" y="2350008"/>
            <a:ext cx="73152" cy="73152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4" name="Text 12"/>
          <p:cNvSpPr/>
          <p:nvPr/>
        </p:nvSpPr>
        <p:spPr>
          <a:xfrm>
            <a:off x="749808" y="2286000"/>
            <a:ext cx="214884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 /api/intents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" y="2624328"/>
            <a:ext cx="73152" cy="73152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6" name="Text 14"/>
          <p:cNvSpPr/>
          <p:nvPr/>
        </p:nvSpPr>
        <p:spPr>
          <a:xfrm>
            <a:off x="749808" y="2560320"/>
            <a:ext cx="214884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 /api/intents/query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" y="2898648"/>
            <a:ext cx="73152" cy="73152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8" name="Text 16"/>
          <p:cNvSpPr/>
          <p:nvPr/>
        </p:nvSpPr>
        <p:spPr>
          <a:xfrm>
            <a:off x="749808" y="2834640"/>
            <a:ext cx="214884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PUT /api/intents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" y="3172968"/>
            <a:ext cx="73152" cy="73152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20" name="Text 18"/>
          <p:cNvSpPr/>
          <p:nvPr/>
        </p:nvSpPr>
        <p:spPr>
          <a:xfrm>
            <a:off x="749808" y="3108960"/>
            <a:ext cx="214884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 /api/intents/cancel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21100" y="1554480"/>
            <a:ext cx="25603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21100" y="1554480"/>
            <a:ext cx="2560320" cy="347472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23" name="Text 21"/>
          <p:cNvSpPr/>
          <p:nvPr/>
        </p:nvSpPr>
        <p:spPr>
          <a:xfrm>
            <a:off x="3584575" y="1554480"/>
            <a:ext cx="256032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  证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843655" y="2075688"/>
            <a:ext cx="73152" cy="73152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25" name="Text 23"/>
          <p:cNvSpPr/>
          <p:nvPr/>
        </p:nvSpPr>
        <p:spPr>
          <a:xfrm>
            <a:off x="4114673" y="2011680"/>
            <a:ext cx="214884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 /api/auth/login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3655" y="2350008"/>
            <a:ext cx="73152" cy="73152"/>
          </a:xfrm>
          <a:prstGeom prst="ellipse">
            <a:avLst/>
          </a:prstGeom>
          <a:solidFill>
            <a:srgbClr val="02C39A"/>
          </a:solidFill>
        </p:spPr>
        <p:txBody>
          <a:bodyPr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114673" y="2286000"/>
            <a:ext cx="214884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 /api/auth/password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43655" y="2624328"/>
            <a:ext cx="73152" cy="73152"/>
          </a:xfrm>
          <a:prstGeom prst="ellipse">
            <a:avLst/>
          </a:prstGeom>
          <a:solidFill>
            <a:srgbClr val="02C39A"/>
          </a:solidFill>
        </p:spPr>
        <p:txBody>
          <a:bodyPr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132453" y="2560320"/>
            <a:ext cx="214884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HttpOnly Cookie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43655" y="2898648"/>
            <a:ext cx="73152" cy="73152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31" name="Text 29"/>
          <p:cNvSpPr/>
          <p:nvPr/>
        </p:nvSpPr>
        <p:spPr>
          <a:xfrm>
            <a:off x="4114673" y="2834640"/>
            <a:ext cx="214884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SameSite=Strict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667500" y="1554480"/>
            <a:ext cx="25603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67500" y="1554480"/>
            <a:ext cx="2560320" cy="347472"/>
          </a:xfrm>
          <a:prstGeom prst="rect">
            <a:avLst/>
          </a:prstGeom>
          <a:solidFill>
            <a:srgbClr val="2E86AB"/>
          </a:solidFill>
        </p:spPr>
        <p:txBody>
          <a:bodyPr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583045" y="1554480"/>
            <a:ext cx="256032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卖家端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769100" y="2075688"/>
            <a:ext cx="73152" cy="73152"/>
          </a:xfrm>
          <a:prstGeom prst="ellipse">
            <a:avLst/>
          </a:prstGeom>
          <a:solidFill>
            <a:srgbClr val="02C39A"/>
          </a:solidFill>
        </p:spPr>
        <p:txBody>
          <a:bodyPr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994398" y="2011680"/>
            <a:ext cx="214884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 /api/products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69100" y="2350008"/>
            <a:ext cx="73152" cy="73152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38" name="Text 36"/>
          <p:cNvSpPr/>
          <p:nvPr/>
        </p:nvSpPr>
        <p:spPr>
          <a:xfrm>
            <a:off x="7078853" y="2286000"/>
            <a:ext cx="214884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 /api/admin/product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69100" y="2624328"/>
            <a:ext cx="73152" cy="73152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40" name="Text 38"/>
          <p:cNvSpPr/>
          <p:nvPr/>
        </p:nvSpPr>
        <p:spPr>
          <a:xfrm>
            <a:off x="7078853" y="2560320"/>
            <a:ext cx="214884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 /api/admin/intents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69100" y="2898648"/>
            <a:ext cx="73152" cy="73152"/>
          </a:xfrm>
          <a:prstGeom prst="ellipse">
            <a:avLst/>
          </a:prstGeom>
          <a:solidFill>
            <a:srgbClr val="02C39A"/>
          </a:solidFill>
        </p:spPr>
        <p:txBody>
          <a:bodyPr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7078853" y="2834640"/>
            <a:ext cx="214884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 /api/admin/trade/*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769100" y="3172968"/>
            <a:ext cx="73152" cy="73152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44" name="Text 42"/>
          <p:cNvSpPr/>
          <p:nvPr/>
        </p:nvSpPr>
        <p:spPr>
          <a:xfrm>
            <a:off x="7078853" y="3108960"/>
            <a:ext cx="214884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 /api/admin/history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</p:spPr>
        <p:txBody>
          <a:bodyPr wrap="square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▎关键实现要点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57200" y="3931920"/>
            <a:ext cx="195453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3931920"/>
            <a:ext cx="54864" cy="64008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48" name="Text 46"/>
          <p:cNvSpPr/>
          <p:nvPr/>
        </p:nvSpPr>
        <p:spPr>
          <a:xfrm>
            <a:off x="566928" y="3977640"/>
            <a:ext cx="365760" cy="274320"/>
          </a:xfrm>
          <a:prstGeom prst="rect">
            <a:avLst/>
          </a:prstGeom>
          <a:noFill/>
        </p:spPr>
        <p:txBody>
          <a:bodyPr wrap="square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🔐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914400" y="3977640"/>
            <a:ext cx="1477010" cy="255905"/>
          </a:xfrm>
          <a:prstGeom prst="rect">
            <a:avLst/>
          </a:prstGeom>
          <a:noFill/>
        </p:spPr>
        <p:txBody>
          <a:bodyPr wrap="square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密码哈希兼容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66928" y="4251960"/>
            <a:ext cx="1771650" cy="274320"/>
          </a:xfrm>
          <a:prstGeom prst="rect">
            <a:avLst/>
          </a:prstGeom>
          <a:noFill/>
        </p:spPr>
        <p:txBody>
          <a:bodyPr wrap="square" rtlCol="0" anchor="ctr">
            <a:normAutofit fontScale="70000"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算法参数一致，已有密码哈希可直接沿用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017520" y="3931920"/>
            <a:ext cx="195453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844165" y="3931920"/>
            <a:ext cx="54864" cy="64008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54" name="Text 52"/>
          <p:cNvSpPr/>
          <p:nvPr/>
        </p:nvSpPr>
        <p:spPr>
          <a:xfrm>
            <a:off x="3429000" y="3977640"/>
            <a:ext cx="1405890" cy="256032"/>
          </a:xfrm>
          <a:prstGeom prst="rect">
            <a:avLst/>
          </a:prstGeom>
          <a:noFill/>
        </p:spPr>
        <p:txBody>
          <a:bodyPr wrap="square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静态资源打包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3063113" y="4297680"/>
            <a:ext cx="1771650" cy="274320"/>
          </a:xfrm>
          <a:prstGeom prst="rect">
            <a:avLst/>
          </a:prstGeom>
          <a:noFill/>
        </p:spPr>
        <p:txBody>
          <a:bodyPr wrap="square" rtlCol="0" anchor="ctr">
            <a:normAutofit fontScale="70000"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public/ 打进 jar，不依赖外部目录独立运行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581650" y="3931920"/>
            <a:ext cx="195453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5336540" y="3931920"/>
            <a:ext cx="54864" cy="64008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59" name="Text 57"/>
          <p:cNvSpPr/>
          <p:nvPr/>
        </p:nvSpPr>
        <p:spPr>
          <a:xfrm>
            <a:off x="5801995" y="3996055"/>
            <a:ext cx="1405890" cy="256032"/>
          </a:xfrm>
          <a:prstGeom prst="rect">
            <a:avLst/>
          </a:prstGeom>
          <a:noFill/>
        </p:spPr>
        <p:txBody>
          <a:bodyPr wrap="square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环境变量前缀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733288" y="4251960"/>
            <a:ext cx="1771650" cy="274320"/>
          </a:xfrm>
          <a:prstGeom prst="rect">
            <a:avLst/>
          </a:prstGeom>
          <a:noFill/>
        </p:spPr>
        <p:txBody>
          <a:bodyPr wrap="square" rtlCol="0" anchor="ctr">
            <a:normAutofit fontScale="70000"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统一加 SHOP_ 前缀，避免被宿主变量覆盖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954645" y="3931920"/>
            <a:ext cx="195453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835900" y="3931920"/>
            <a:ext cx="54864" cy="64008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63" name="Text 61"/>
          <p:cNvSpPr/>
          <p:nvPr/>
        </p:nvSpPr>
        <p:spPr>
          <a:xfrm>
            <a:off x="6841998" y="3977640"/>
            <a:ext cx="365760" cy="274320"/>
          </a:xfrm>
          <a:prstGeom prst="rect">
            <a:avLst/>
          </a:prstGeom>
          <a:noFill/>
        </p:spPr>
        <p:txBody>
          <a:bodyPr wrap="square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🔤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8137525" y="3996055"/>
            <a:ext cx="1405890" cy="256032"/>
          </a:xfrm>
          <a:prstGeom prst="rect">
            <a:avLst/>
          </a:prstGeom>
          <a:noFill/>
        </p:spPr>
        <p:txBody>
          <a:bodyPr wrap="square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UTF-8 编码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7954518" y="4251960"/>
            <a:ext cx="1771650" cy="274320"/>
          </a:xfrm>
          <a:prstGeom prst="rect">
            <a:avLst/>
          </a:prstGeom>
          <a:noFill/>
        </p:spPr>
        <p:txBody>
          <a:bodyPr wrap="square" rtlCol="0" anchor="ctr">
            <a:normAutofit fontScale="70000"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pom.xml 显式设置，消除 Windows 乱码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046720" y="4796028"/>
            <a:ext cx="73152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4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57200" y="4796028"/>
            <a:ext cx="3657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在线购物系统 · 后端 Java 重构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Java 重构：技术选型与工程化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607040" y="292608"/>
            <a:ext cx="1097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08-1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777240" cy="64008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5" name="Text 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软件工程实践 · 第 2 组 · 在线购物系统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548640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435608"/>
            <a:ext cx="64008" cy="2157984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704088" y="1435608"/>
            <a:ext cx="51206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8952" y="1856232"/>
            <a:ext cx="5029200" cy="17190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Java 17 + Spring Boot 3.4.5（spring-boot-starter-web）；</a:t>
            </a:r>
            <a:endParaRPr lang="en-US" sz="12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Maven 构建，提供 Maven Wrapper（mvnw.cmd），本地无需预装 Maven；</a:t>
            </a:r>
            <a:endParaRPr lang="en-US" sz="12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spring-security-crypto + BouncyCastle 完成密码哈希；</a:t>
            </a:r>
            <a:endParaRPr lang="en-US" sz="12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构建产物为可执行 jar（shopping-system-1.0.0.jar）。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931920"/>
            <a:ext cx="548640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4041648"/>
            <a:ext cx="64008" cy="1975104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12" name="Text 10"/>
          <p:cNvSpPr/>
          <p:nvPr/>
        </p:nvSpPr>
        <p:spPr>
          <a:xfrm>
            <a:off x="704088" y="4041648"/>
            <a:ext cx="51206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代码组织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8952" y="4462272"/>
            <a:ext cx="5029200" cy="15361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包结构 com.coursewise.shopping，按职责分层；</a:t>
            </a:r>
            <a:endParaRPr lang="en-US" sz="12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 public/ 打进 jar（BOOT-INF/classes/static/），打包产物可独立运行；</a:t>
            </a:r>
            <a:endParaRPr lang="en-US" sz="12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 UTF-8 源码编码，修复中文乱码问题。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1325880"/>
            <a:ext cx="5394960" cy="48006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435608"/>
            <a:ext cx="64008" cy="4581144"/>
          </a:xfrm>
          <a:prstGeom prst="rect">
            <a:avLst/>
          </a:prstGeom>
          <a:solidFill>
            <a:srgbClr val="EA841B"/>
          </a:solidFill>
        </p:spPr>
      </p:sp>
      <p:sp>
        <p:nvSpPr>
          <p:cNvPr id="16" name="Text 14"/>
          <p:cNvSpPr/>
          <p:nvPr/>
        </p:nvSpPr>
        <p:spPr>
          <a:xfrm>
            <a:off x="6510528" y="1435608"/>
            <a:ext cx="5029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重构原则与验收口径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65392" y="1856232"/>
            <a:ext cx="4937760" cy="4142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以第 1 次评审意见为输入：后端语言不统一、中英文混杂问题全部处理；</a:t>
            </a:r>
            <a:endParaRPr lang="en-US" sz="12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接口路径与行为保持兼容，前端无需大改；</a:t>
            </a:r>
            <a:endParaRPr lang="en-US" sz="12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输入校验、登录认证、业务状态管理在服务端统一实现；</a:t>
            </a:r>
            <a:endParaRPr lang="en-US" sz="12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重构过程与关键决策记录在 Java 重构记录，评审现场可打开核对；</a:t>
            </a:r>
            <a:endParaRPr lang="en-US" sz="125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为下一次迭代的容器化部署提供统一、可打包的运行时。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主标题"/>
          <p:cNvSpPr txBox="1"/>
          <p:nvPr/>
        </p:nvSpPr>
        <p:spPr>
          <a:xfrm>
            <a:off x="658368" y="384048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27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周展羽：第二次阶段性评审 · 工作概览</a:t>
            </a:r>
            <a:endParaRPr lang="zh-CN" sz="27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分隔线"/>
          <p:cNvSpPr/>
          <p:nvPr/>
        </p:nvSpPr>
        <p:spPr>
          <a:xfrm>
            <a:off x="658368" y="1024128"/>
            <a:ext cx="1088136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页脚"/>
          <p:cNvSpPr txBox="1"/>
          <p:nvPr/>
        </p:nvSpPr>
        <p:spPr>
          <a:xfrm>
            <a:off x="658368" y="6473952"/>
            <a:ext cx="7498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900" b="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软件工程实践 · 第 2 组 · 在线购物系统 MVP</a:t>
            </a:r>
            <a:endParaRPr lang="zh-CN" sz="900" b="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工作一卡"/>
          <p:cNvSpPr/>
          <p:nvPr/>
        </p:nvSpPr>
        <p:spPr>
          <a:xfrm>
            <a:off x="660400" y="1422400"/>
            <a:ext cx="6731000" cy="17272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工作一卡 竖条"/>
          <p:cNvSpPr/>
          <p:nvPr/>
        </p:nvSpPr>
        <p:spPr>
          <a:xfrm>
            <a:off x="660400" y="1422400"/>
            <a:ext cx="76200" cy="1727200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工作一标题"/>
          <p:cNvSpPr/>
          <p:nvPr/>
        </p:nvSpPr>
        <p:spPr>
          <a:xfrm>
            <a:off x="939800" y="1574800"/>
            <a:ext cx="6223000" cy="3048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8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需求规格修订 · 依据评审意见</a:t>
            </a:r>
            <a:endParaRPr lang="zh-CN" sz="18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工作一正文"/>
          <p:cNvSpPr/>
          <p:nvPr/>
        </p:nvSpPr>
        <p:spPr>
          <a:xfrm>
            <a:off x="939800" y="1955800"/>
            <a:ext cx="6223000" cy="8382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30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补齐 4 项输入约束：价格、名称、描述、新密码；</a:t>
            </a:r>
            <a:endParaRPr lang="zh-CN" sz="130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sz="130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SRS 由 V1.4 升至 V1.5，四项改动逐条写入修订记录。</a:t>
            </a:r>
            <a:endParaRPr lang="zh-CN" sz="130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工作一依据"/>
          <p:cNvSpPr/>
          <p:nvPr/>
        </p:nvSpPr>
        <p:spPr>
          <a:xfrm>
            <a:off x="939800" y="2819400"/>
            <a:ext cx="6223000" cy="2032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100" b="0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依据 第 1 次评审意见 + DEF-001 迭代结论</a:t>
            </a:r>
            <a:endParaRPr lang="zh-CN" sz="1100" b="0" dirty="0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工作二卡"/>
          <p:cNvSpPr/>
          <p:nvPr/>
        </p:nvSpPr>
        <p:spPr>
          <a:xfrm>
            <a:off x="660400" y="3327400"/>
            <a:ext cx="6731000" cy="17272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工作二卡 竖条"/>
          <p:cNvSpPr/>
          <p:nvPr/>
        </p:nvSpPr>
        <p:spPr>
          <a:xfrm>
            <a:off x="660400" y="3327400"/>
            <a:ext cx="76200" cy="1727200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工作二标题"/>
          <p:cNvSpPr/>
          <p:nvPr/>
        </p:nvSpPr>
        <p:spPr>
          <a:xfrm>
            <a:off x="939800" y="3479800"/>
            <a:ext cx="6223000" cy="3048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8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接入数据库 · SQLite</a:t>
            </a:r>
            <a:endParaRPr lang="zh-CN" sz="18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工作二正文"/>
          <p:cNvSpPr/>
          <p:nvPr/>
        </p:nvSpPr>
        <p:spPr>
          <a:xfrm>
            <a:off x="939800" y="3860800"/>
            <a:ext cx="6223000" cy="8382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30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 17 + Spring Boot 3.4 + JPA / Hibernate 6；</a:t>
            </a:r>
            <a:endParaRPr lang="zh-CN" sz="130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sz="130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三张表自动建表，旧 data.json 一次性迁移且不覆盖。</a:t>
            </a:r>
            <a:endParaRPr lang="zh-CN" sz="130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工作二依据"/>
          <p:cNvSpPr/>
          <p:nvPr/>
        </p:nvSpPr>
        <p:spPr>
          <a:xfrm>
            <a:off x="939800" y="4724400"/>
            <a:ext cx="6223000" cy="2032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100" b="0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commit 943418e · 2026-10-12</a:t>
            </a:r>
            <a:endParaRPr lang="zh-CN" sz="1100" b="0" dirty="0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成果物卡"/>
          <p:cNvSpPr/>
          <p:nvPr/>
        </p:nvSpPr>
        <p:spPr>
          <a:xfrm>
            <a:off x="7569200" y="1422400"/>
            <a:ext cx="3975100" cy="36322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成果物卡 竖条"/>
          <p:cNvSpPr/>
          <p:nvPr/>
        </p:nvSpPr>
        <p:spPr>
          <a:xfrm>
            <a:off x="7569200" y="1422400"/>
            <a:ext cx="76200" cy="3632200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成果物标题"/>
          <p:cNvSpPr/>
          <p:nvPr/>
        </p:nvSpPr>
        <p:spPr>
          <a:xfrm>
            <a:off x="7848600" y="1574800"/>
            <a:ext cx="3454400" cy="3048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8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本阶段成果物</a:t>
            </a:r>
            <a:endParaRPr lang="zh-CN" sz="18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成果物正文"/>
          <p:cNvSpPr/>
          <p:nvPr/>
        </p:nvSpPr>
        <p:spPr>
          <a:xfrm>
            <a:off x="7848600" y="1955800"/>
            <a:ext cx="3454400" cy="254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30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需求规格说明书 V1.5（2026-10-21）</a:t>
            </a:r>
            <a:endParaRPr lang="zh-CN" sz="130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sz="130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data/shop.db：3 张表 + 3 个索引</a:t>
            </a:r>
            <a:endParaRPr lang="zh-CN" sz="130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sz="130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docs/ 数据库构建说明.md</a:t>
            </a:r>
            <a:endParaRPr lang="zh-CN" sz="130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sz="130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DataMigrationRunner.java</a:t>
            </a:r>
            <a:endParaRPr lang="zh-CN" sz="130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成果物脚注"/>
          <p:cNvSpPr/>
          <p:nvPr/>
        </p:nvSpPr>
        <p:spPr>
          <a:xfrm>
            <a:off x="7848600" y="4724400"/>
            <a:ext cx="3454400" cy="2032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000" b="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文档随仓库 docs/ 与 Wiki 同步</a:t>
            </a:r>
            <a:endParaRPr lang="zh-CN" sz="1000" b="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数字一"/>
          <p:cNvSpPr/>
          <p:nvPr/>
        </p:nvSpPr>
        <p:spPr>
          <a:xfrm>
            <a:off x="660400" y="5207000"/>
            <a:ext cx="889000" cy="635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36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sz="3600" b="1" dirty="0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数字一签"/>
          <p:cNvSpPr/>
          <p:nvPr/>
        </p:nvSpPr>
        <p:spPr>
          <a:xfrm>
            <a:off x="1651000" y="5384800"/>
            <a:ext cx="2286000" cy="254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100" b="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条输入约束补齐</a:t>
            </a:r>
            <a:endParaRPr lang="zh-CN" sz="1100" b="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数字二"/>
          <p:cNvSpPr/>
          <p:nvPr/>
        </p:nvSpPr>
        <p:spPr>
          <a:xfrm>
            <a:off x="4064000" y="5207000"/>
            <a:ext cx="889000" cy="635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36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sz="3600" b="1" dirty="0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数字二签"/>
          <p:cNvSpPr/>
          <p:nvPr/>
        </p:nvSpPr>
        <p:spPr>
          <a:xfrm>
            <a:off x="5054600" y="5384800"/>
            <a:ext cx="2286000" cy="254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100" b="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张数据表（含索引）</a:t>
            </a:r>
            <a:endParaRPr lang="zh-CN" sz="1100" b="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数字三"/>
          <p:cNvSpPr/>
          <p:nvPr/>
        </p:nvSpPr>
        <p:spPr>
          <a:xfrm>
            <a:off x="7467600" y="5207000"/>
            <a:ext cx="889000" cy="635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36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sz="3600" b="1" dirty="0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数字三签"/>
          <p:cNvSpPr/>
          <p:nvPr/>
        </p:nvSpPr>
        <p:spPr>
          <a:xfrm>
            <a:off x="8458200" y="5384800"/>
            <a:ext cx="2286000" cy="254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100" b="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次升版（V1.4 → V1.5）</a:t>
            </a:r>
            <a:endParaRPr lang="zh-CN" sz="1100" b="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底部说明"/>
          <p:cNvSpPr/>
          <p:nvPr/>
        </p:nvSpPr>
        <p:spPr>
          <a:xfrm>
            <a:off x="660400" y="5943600"/>
            <a:ext cx="10883900" cy="2032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000" b="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同一条约束，需求文档 = 浏览器端 = 服务端，三处口径一致</a:t>
            </a:r>
            <a:endParaRPr lang="zh-CN" sz="1000" b="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已完成注"/>
          <p:cNvSpPr/>
          <p:nvPr/>
        </p:nvSpPr>
        <p:spPr>
          <a:xfrm>
            <a:off x="660400" y="6172200"/>
            <a:ext cx="10883900" cy="2032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000" b="0" dirty="0">
                <a:solidFill>
                  <a:srgbClr val="1089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已完成：SRS V1.5 定稿 · 84 项自动化回归全部通过 · 服务端价格常量与前端口径对齐</a:t>
            </a:r>
            <a:endParaRPr lang="zh-CN" sz="1000" b="0" dirty="0">
              <a:solidFill>
                <a:srgbClr val="10895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主标题"/>
          <p:cNvSpPr txBox="1"/>
          <p:nvPr/>
        </p:nvSpPr>
        <p:spPr>
          <a:xfrm>
            <a:off x="658368" y="384048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27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周展羽：评审意见 → 需求规格修订</a:t>
            </a:r>
            <a:endParaRPr lang="zh-CN" sz="27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分隔线"/>
          <p:cNvSpPr/>
          <p:nvPr/>
        </p:nvSpPr>
        <p:spPr>
          <a:xfrm>
            <a:off x="658368" y="1024128"/>
            <a:ext cx="1088136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页脚"/>
          <p:cNvSpPr txBox="1"/>
          <p:nvPr/>
        </p:nvSpPr>
        <p:spPr>
          <a:xfrm>
            <a:off x="658368" y="6473952"/>
            <a:ext cx="7498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900" b="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软件工程实践 · 第 2 组 · 在线购物系统 MVP</a:t>
            </a:r>
            <a:endParaRPr lang="zh-CN" sz="900" b="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意见卡"/>
          <p:cNvSpPr/>
          <p:nvPr/>
        </p:nvSpPr>
        <p:spPr>
          <a:xfrm>
            <a:off x="660400" y="1270000"/>
            <a:ext cx="10883900" cy="787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意见卡 竖条"/>
          <p:cNvSpPr/>
          <p:nvPr/>
        </p:nvSpPr>
        <p:spPr>
          <a:xfrm>
            <a:off x="660400" y="1270000"/>
            <a:ext cx="76200" cy="787400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意见标题"/>
          <p:cNvSpPr/>
          <p:nvPr/>
        </p:nvSpPr>
        <p:spPr>
          <a:xfrm>
            <a:off x="939800" y="1371600"/>
            <a:ext cx="5080000" cy="3048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8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1 次评审意见</a:t>
            </a:r>
            <a:endParaRPr lang="zh-CN" sz="18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意见正文"/>
          <p:cNvSpPr/>
          <p:nvPr/>
        </p:nvSpPr>
        <p:spPr>
          <a:xfrm>
            <a:off x="939800" y="1701800"/>
            <a:ext cx="10325100" cy="2794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150" b="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「输入字段检查要在前端做好，并在需求文档里说明」—— 实测 5000 位价格，一路提交到后端才被判定。</a:t>
            </a:r>
            <a:endParaRPr lang="zh-CN" sz="1150" b="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小节标题"/>
          <p:cNvSpPr/>
          <p:nvPr/>
        </p:nvSpPr>
        <p:spPr>
          <a:xfrm>
            <a:off x="660400" y="2209800"/>
            <a:ext cx="6350000" cy="3048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8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V1.4 → V1.5：4 项输入字段约束</a:t>
            </a:r>
            <a:endParaRPr lang="zh-CN" sz="18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对照卡0"/>
          <p:cNvSpPr/>
          <p:nvPr/>
        </p:nvSpPr>
        <p:spPr>
          <a:xfrm>
            <a:off x="660400" y="2540000"/>
            <a:ext cx="10883900" cy="4318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对照卡0 竖条"/>
          <p:cNvSpPr/>
          <p:nvPr/>
        </p:nvSpPr>
        <p:spPr>
          <a:xfrm>
            <a:off x="660400" y="2540000"/>
            <a:ext cx="76200" cy="431800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字段名0"/>
          <p:cNvSpPr/>
          <p:nvPr/>
        </p:nvSpPr>
        <p:spPr>
          <a:xfrm>
            <a:off x="939800" y="2628900"/>
            <a:ext cx="1016000" cy="254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3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</a:t>
            </a:r>
            <a:endParaRPr lang="zh-CN" sz="13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修订前0"/>
          <p:cNvSpPr/>
          <p:nvPr/>
        </p:nvSpPr>
        <p:spPr>
          <a:xfrm>
            <a:off x="2133600" y="2628900"/>
            <a:ext cx="2057400" cy="25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zh-CN" sz="1000" b="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无上限</a:t>
            </a:r>
            <a:endParaRPr lang="zh-CN" sz="1000" b="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对照箭头0"/>
          <p:cNvSpPr/>
          <p:nvPr/>
        </p:nvSpPr>
        <p:spPr>
          <a:xfrm>
            <a:off x="4267200" y="2603500"/>
            <a:ext cx="279400" cy="304800"/>
          </a:xfrm>
          <a:prstGeom prst="rect">
            <a:avLst/>
          </a:prstGeom>
          <a:noFill/>
        </p:spPr>
        <p:txBody>
          <a:bodyPr rtlCol="0" anchor="ctr"/>
          <a:lstStyle/>
          <a:p>
            <a:pPr algn="ctr"/>
            <a:r>
              <a:rPr lang="zh-CN" sz="1300" b="0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endParaRPr lang="zh-CN" sz="1300" b="0" dirty="0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修订后0"/>
          <p:cNvSpPr/>
          <p:nvPr/>
        </p:nvSpPr>
        <p:spPr>
          <a:xfrm>
            <a:off x="4622800" y="2628900"/>
            <a:ext cx="2921000" cy="25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zh-CN" sz="12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≤ 9,999,999.99 元</a:t>
            </a:r>
            <a:endParaRPr lang="zh-CN" sz="12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落点0"/>
          <p:cNvSpPr/>
          <p:nvPr/>
        </p:nvSpPr>
        <p:spPr>
          <a:xfrm>
            <a:off x="7874000" y="2628900"/>
            <a:ext cx="3429000" cy="25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zh-CN" sz="1000" b="0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max=9999999.99 + 服务端常量</a:t>
            </a:r>
            <a:endParaRPr lang="zh-CN" sz="1000" b="0" dirty="0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对照卡1"/>
          <p:cNvSpPr/>
          <p:nvPr/>
        </p:nvSpPr>
        <p:spPr>
          <a:xfrm>
            <a:off x="660400" y="3048000"/>
            <a:ext cx="10883900" cy="4318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对照卡1 竖条"/>
          <p:cNvSpPr/>
          <p:nvPr/>
        </p:nvSpPr>
        <p:spPr>
          <a:xfrm>
            <a:off x="660400" y="3048000"/>
            <a:ext cx="76200" cy="431800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字段名1"/>
          <p:cNvSpPr/>
          <p:nvPr/>
        </p:nvSpPr>
        <p:spPr>
          <a:xfrm>
            <a:off x="939800" y="3136900"/>
            <a:ext cx="1016000" cy="254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3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名称</a:t>
            </a:r>
            <a:endParaRPr lang="zh-CN" sz="13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修订前1"/>
          <p:cNvSpPr/>
          <p:nvPr/>
        </p:nvSpPr>
        <p:spPr>
          <a:xfrm>
            <a:off x="2133600" y="3136900"/>
            <a:ext cx="2057400" cy="25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zh-CN" sz="1000" b="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无长度限制</a:t>
            </a:r>
            <a:endParaRPr lang="zh-CN" sz="1000" b="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对照箭头1"/>
          <p:cNvSpPr/>
          <p:nvPr/>
        </p:nvSpPr>
        <p:spPr>
          <a:xfrm>
            <a:off x="4267200" y="3111500"/>
            <a:ext cx="279400" cy="304800"/>
          </a:xfrm>
          <a:prstGeom prst="rect">
            <a:avLst/>
          </a:prstGeom>
          <a:noFill/>
        </p:spPr>
        <p:txBody>
          <a:bodyPr rtlCol="0" anchor="ctr"/>
          <a:lstStyle/>
          <a:p>
            <a:pPr algn="ctr"/>
            <a:r>
              <a:rPr lang="zh-CN" sz="1300" b="0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endParaRPr lang="zh-CN" sz="1300" b="0" dirty="0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修订后1"/>
          <p:cNvSpPr/>
          <p:nvPr/>
        </p:nvSpPr>
        <p:spPr>
          <a:xfrm>
            <a:off x="4622800" y="3136900"/>
            <a:ext cx="2921000" cy="25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zh-CN" sz="12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≤ 128 字符</a:t>
            </a:r>
            <a:endParaRPr lang="zh-CN" sz="12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落点1"/>
          <p:cNvSpPr/>
          <p:nvPr/>
        </p:nvSpPr>
        <p:spPr>
          <a:xfrm>
            <a:off x="7874000" y="3136900"/>
            <a:ext cx="3429000" cy="25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zh-CN" sz="1000" b="0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maxlength=128 · varchar(128)</a:t>
            </a:r>
            <a:endParaRPr lang="zh-CN" sz="1000" b="0" dirty="0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对照卡2"/>
          <p:cNvSpPr/>
          <p:nvPr/>
        </p:nvSpPr>
        <p:spPr>
          <a:xfrm>
            <a:off x="660400" y="3556000"/>
            <a:ext cx="10883900" cy="4318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25" name="对照卡2 竖条"/>
          <p:cNvSpPr/>
          <p:nvPr/>
        </p:nvSpPr>
        <p:spPr>
          <a:xfrm>
            <a:off x="660400" y="3556000"/>
            <a:ext cx="76200" cy="431800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字段名2"/>
          <p:cNvSpPr/>
          <p:nvPr/>
        </p:nvSpPr>
        <p:spPr>
          <a:xfrm>
            <a:off x="939800" y="3644900"/>
            <a:ext cx="1016000" cy="254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3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</a:t>
            </a:r>
            <a:endParaRPr lang="zh-CN" sz="13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修订前2"/>
          <p:cNvSpPr/>
          <p:nvPr/>
        </p:nvSpPr>
        <p:spPr>
          <a:xfrm>
            <a:off x="2133600" y="3644900"/>
            <a:ext cx="2057400" cy="25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zh-CN" sz="1000" b="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无长度限制</a:t>
            </a:r>
            <a:endParaRPr lang="zh-CN" sz="1000" b="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对照箭头2"/>
          <p:cNvSpPr/>
          <p:nvPr/>
        </p:nvSpPr>
        <p:spPr>
          <a:xfrm>
            <a:off x="4267200" y="3619500"/>
            <a:ext cx="279400" cy="304800"/>
          </a:xfrm>
          <a:prstGeom prst="rect">
            <a:avLst/>
          </a:prstGeom>
          <a:noFill/>
        </p:spPr>
        <p:txBody>
          <a:bodyPr rtlCol="0" anchor="ctr"/>
          <a:lstStyle/>
          <a:p>
            <a:pPr algn="ctr"/>
            <a:r>
              <a:rPr lang="zh-CN" sz="1300" b="0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endParaRPr lang="zh-CN" sz="1300" b="0" dirty="0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修订后2"/>
          <p:cNvSpPr/>
          <p:nvPr/>
        </p:nvSpPr>
        <p:spPr>
          <a:xfrm>
            <a:off x="4622800" y="3644900"/>
            <a:ext cx="2921000" cy="25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zh-CN" sz="12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≤ 2000 字符</a:t>
            </a:r>
            <a:endParaRPr lang="zh-CN" sz="12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落点2"/>
          <p:cNvSpPr/>
          <p:nvPr/>
        </p:nvSpPr>
        <p:spPr>
          <a:xfrm>
            <a:off x="7874000" y="3644900"/>
            <a:ext cx="3429000" cy="25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zh-CN" sz="1000" b="0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maxlength=2000 · varchar(2000)</a:t>
            </a:r>
            <a:endParaRPr lang="zh-CN" sz="1000" b="0" dirty="0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对照卡3"/>
          <p:cNvSpPr/>
          <p:nvPr/>
        </p:nvSpPr>
        <p:spPr>
          <a:xfrm>
            <a:off x="660400" y="4064000"/>
            <a:ext cx="10883900" cy="4318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32" name="对照卡3 竖条"/>
          <p:cNvSpPr/>
          <p:nvPr/>
        </p:nvSpPr>
        <p:spPr>
          <a:xfrm>
            <a:off x="660400" y="4064000"/>
            <a:ext cx="76200" cy="431800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字段名3"/>
          <p:cNvSpPr/>
          <p:nvPr/>
        </p:nvSpPr>
        <p:spPr>
          <a:xfrm>
            <a:off x="939800" y="4152900"/>
            <a:ext cx="1016000" cy="254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3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</a:t>
            </a:r>
            <a:endParaRPr lang="zh-CN" sz="13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修订前3"/>
          <p:cNvSpPr/>
          <p:nvPr/>
        </p:nvSpPr>
        <p:spPr>
          <a:xfrm>
            <a:off x="2133600" y="4152900"/>
            <a:ext cx="2057400" cy="25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zh-CN" sz="1000" b="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无长度要求</a:t>
            </a:r>
            <a:endParaRPr lang="zh-CN" sz="1000" b="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对照箭头3"/>
          <p:cNvSpPr/>
          <p:nvPr/>
        </p:nvSpPr>
        <p:spPr>
          <a:xfrm>
            <a:off x="4267200" y="4127500"/>
            <a:ext cx="279400" cy="304800"/>
          </a:xfrm>
          <a:prstGeom prst="rect">
            <a:avLst/>
          </a:prstGeom>
          <a:noFill/>
        </p:spPr>
        <p:txBody>
          <a:bodyPr rtlCol="0" anchor="ctr"/>
          <a:lstStyle/>
          <a:p>
            <a:pPr algn="ctr"/>
            <a:r>
              <a:rPr lang="zh-CN" sz="1300" b="0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endParaRPr lang="zh-CN" sz="1300" b="0" dirty="0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修订后3"/>
          <p:cNvSpPr/>
          <p:nvPr/>
        </p:nvSpPr>
        <p:spPr>
          <a:xfrm>
            <a:off x="4622800" y="4152900"/>
            <a:ext cx="2921000" cy="25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zh-CN" sz="12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≥ 8 位（不设上限）</a:t>
            </a:r>
            <a:endParaRPr lang="zh-CN" sz="12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落点3"/>
          <p:cNvSpPr/>
          <p:nvPr/>
        </p:nvSpPr>
        <p:spPr>
          <a:xfrm>
            <a:off x="7874000" y="4152900"/>
            <a:ext cx="3429000" cy="25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zh-CN" sz="1000" b="0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minlength=8 + pattern</a:t>
            </a:r>
            <a:endParaRPr lang="zh-CN" sz="1000" b="0" dirty="0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防线卡0"/>
          <p:cNvSpPr/>
          <p:nvPr/>
        </p:nvSpPr>
        <p:spPr>
          <a:xfrm>
            <a:off x="660400" y="4673600"/>
            <a:ext cx="3403600" cy="5588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39" name="防线卡0 竖条"/>
          <p:cNvSpPr/>
          <p:nvPr/>
        </p:nvSpPr>
        <p:spPr>
          <a:xfrm>
            <a:off x="660400" y="4673600"/>
            <a:ext cx="76200" cy="55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防线文0"/>
          <p:cNvSpPr/>
          <p:nvPr/>
        </p:nvSpPr>
        <p:spPr>
          <a:xfrm>
            <a:off x="939800" y="4673600"/>
            <a:ext cx="2895600" cy="5588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lang="zh-CN" sz="13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HTML 约束属性先挡</a:t>
            </a:r>
            <a:endParaRPr lang="zh-CN" sz="13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防线卡1"/>
          <p:cNvSpPr/>
          <p:nvPr/>
        </p:nvSpPr>
        <p:spPr>
          <a:xfrm>
            <a:off x="4521200" y="4673600"/>
            <a:ext cx="3403600" cy="5588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42" name="防线卡1 竖条"/>
          <p:cNvSpPr/>
          <p:nvPr/>
        </p:nvSpPr>
        <p:spPr>
          <a:xfrm>
            <a:off x="4521200" y="4673600"/>
            <a:ext cx="76200" cy="55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防线文1"/>
          <p:cNvSpPr/>
          <p:nvPr/>
        </p:nvSpPr>
        <p:spPr>
          <a:xfrm>
            <a:off x="4800600" y="4673600"/>
            <a:ext cx="2895600" cy="5588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lang="zh-CN" sz="13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提交前脚本校验</a:t>
            </a:r>
            <a:endParaRPr lang="zh-CN" sz="13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防线卡2"/>
          <p:cNvSpPr/>
          <p:nvPr/>
        </p:nvSpPr>
        <p:spPr>
          <a:xfrm>
            <a:off x="8382000" y="4673600"/>
            <a:ext cx="3162300" cy="5588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45" name="防线卡2 竖条"/>
          <p:cNvSpPr/>
          <p:nvPr/>
        </p:nvSpPr>
        <p:spPr>
          <a:xfrm>
            <a:off x="8382000" y="4673600"/>
            <a:ext cx="76200" cy="55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防线文2"/>
          <p:cNvSpPr/>
          <p:nvPr/>
        </p:nvSpPr>
        <p:spPr>
          <a:xfrm>
            <a:off x="8661400" y="4673600"/>
            <a:ext cx="2654300" cy="5588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lang="zh-CN" sz="13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服务端兜底</a:t>
            </a:r>
            <a:endParaRPr lang="zh-CN" sz="13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防线箭头一"/>
          <p:cNvSpPr/>
          <p:nvPr/>
        </p:nvSpPr>
        <p:spPr>
          <a:xfrm>
            <a:off x="4114800" y="4826000"/>
            <a:ext cx="355600" cy="279400"/>
          </a:xfrm>
          <a:prstGeom prst="rect">
            <a:avLst/>
          </a:prstGeom>
          <a:noFill/>
        </p:spPr>
        <p:txBody>
          <a:bodyPr rtlCol="0" anchor="ctr"/>
          <a:lstStyle/>
          <a:p>
            <a:pPr algn="ctr"/>
            <a:r>
              <a:rPr lang="zh-CN" sz="1400" b="0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endParaRPr lang="zh-CN" sz="1400" b="0" dirty="0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防线箭头二"/>
          <p:cNvSpPr/>
          <p:nvPr/>
        </p:nvSpPr>
        <p:spPr>
          <a:xfrm>
            <a:off x="7975600" y="4826000"/>
            <a:ext cx="355600" cy="279400"/>
          </a:xfrm>
          <a:prstGeom prst="rect">
            <a:avLst/>
          </a:prstGeom>
          <a:noFill/>
        </p:spPr>
        <p:txBody>
          <a:bodyPr rtlCol="0" anchor="ctr"/>
          <a:lstStyle/>
          <a:p>
            <a:pPr algn="ctr"/>
            <a:r>
              <a:rPr lang="zh-CN" sz="1400" b="0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endParaRPr lang="zh-CN" sz="1400" b="0" dirty="0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结论卡"/>
          <p:cNvSpPr/>
          <p:nvPr/>
        </p:nvSpPr>
        <p:spPr>
          <a:xfrm>
            <a:off x="660400" y="5384800"/>
            <a:ext cx="10883900" cy="5842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50" name="结论卡 竖条"/>
          <p:cNvSpPr/>
          <p:nvPr/>
        </p:nvSpPr>
        <p:spPr>
          <a:xfrm>
            <a:off x="660400" y="5384800"/>
            <a:ext cx="76200" cy="584200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结论文"/>
          <p:cNvSpPr/>
          <p:nvPr/>
        </p:nvSpPr>
        <p:spPr>
          <a:xfrm>
            <a:off x="939800" y="5384800"/>
            <a:ext cx="10325100" cy="5842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lang="zh-CN" sz="14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约束的判定点前移：需求文档先写清楚，实现才有依据</a:t>
            </a:r>
            <a:endParaRPr lang="zh-CN" sz="14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验证注"/>
          <p:cNvSpPr/>
          <p:nvPr/>
        </p:nvSpPr>
        <p:spPr>
          <a:xfrm>
            <a:off x="660400" y="6096000"/>
            <a:ext cx="10883900" cy="2032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000" b="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DEF-001 验证：修复后浏览器端即时拒绝 5000 位价格、不产生请求；绕过前端直连接口仍返回 400</a:t>
            </a:r>
            <a:endParaRPr lang="zh-CN" sz="1000" b="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主标题"/>
          <p:cNvSpPr txBox="1"/>
          <p:nvPr/>
        </p:nvSpPr>
        <p:spPr>
          <a:xfrm>
            <a:off x="658368" y="384048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27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周展羽：表的设计思路</a:t>
            </a:r>
            <a:endParaRPr lang="zh-CN" sz="27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分隔线"/>
          <p:cNvSpPr/>
          <p:nvPr/>
        </p:nvSpPr>
        <p:spPr>
          <a:xfrm>
            <a:off x="658368" y="1024128"/>
            <a:ext cx="1088136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页脚"/>
          <p:cNvSpPr txBox="1"/>
          <p:nvPr/>
        </p:nvSpPr>
        <p:spPr>
          <a:xfrm>
            <a:off x="658368" y="6473952"/>
            <a:ext cx="7498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900" b="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软件工程实践 · 第 2 组 · 在线购物系统 MVP</a:t>
            </a:r>
            <a:endParaRPr lang="zh-CN" sz="900" b="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表卡0"/>
          <p:cNvSpPr/>
          <p:nvPr/>
        </p:nvSpPr>
        <p:spPr>
          <a:xfrm>
            <a:off x="660400" y="1270000"/>
            <a:ext cx="3454400" cy="17780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表卡0 竖条"/>
          <p:cNvSpPr/>
          <p:nvPr/>
        </p:nvSpPr>
        <p:spPr>
          <a:xfrm>
            <a:off x="660400" y="1270000"/>
            <a:ext cx="76200" cy="1778000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表标题0"/>
          <p:cNvSpPr/>
          <p:nvPr/>
        </p:nvSpPr>
        <p:spPr>
          <a:xfrm>
            <a:off x="939800" y="1397000"/>
            <a:ext cx="2895600" cy="2794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6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seller · 4 列</a:t>
            </a:r>
            <a:endParaRPr lang="zh-CN" sz="16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表正文0"/>
          <p:cNvSpPr/>
          <p:nvPr/>
        </p:nvSpPr>
        <p:spPr>
          <a:xfrm>
            <a:off x="939800" y="1752600"/>
            <a:ext cx="2895600" cy="11938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10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username 唯一（登录名）</a:t>
            </a:r>
            <a:endParaRPr lang="zh-CN" sz="110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sz="110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密码只存 scrypt 哈希，无明文</a:t>
            </a:r>
            <a:endParaRPr lang="zh-CN" sz="110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sz="110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系统预置且仅一个卖家账号</a:t>
            </a:r>
            <a:endParaRPr lang="zh-CN" sz="110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表卡1"/>
          <p:cNvSpPr/>
          <p:nvPr/>
        </p:nvSpPr>
        <p:spPr>
          <a:xfrm>
            <a:off x="4318000" y="1270000"/>
            <a:ext cx="3454400" cy="17780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表卡1 竖条"/>
          <p:cNvSpPr/>
          <p:nvPr/>
        </p:nvSpPr>
        <p:spPr>
          <a:xfrm>
            <a:off x="4318000" y="1270000"/>
            <a:ext cx="76200" cy="1778000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表标题1"/>
          <p:cNvSpPr/>
          <p:nvPr/>
        </p:nvSpPr>
        <p:spPr>
          <a:xfrm>
            <a:off x="4597400" y="1397000"/>
            <a:ext cx="2895600" cy="2794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6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product · 11 列</a:t>
            </a:r>
            <a:endParaRPr lang="zh-CN" sz="16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表正文1"/>
          <p:cNvSpPr/>
          <p:nvPr/>
        </p:nvSpPr>
        <p:spPr>
          <a:xfrm>
            <a:off x="4597400" y="1752600"/>
            <a:ext cx="2895600" cy="11938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10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price_cents 存「分」，避免浮点误差</a:t>
            </a:r>
            <a:endParaRPr lang="zh-CN" sz="110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sz="110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status 四态 + 索引 idx_product_status</a:t>
            </a:r>
            <a:endParaRPr lang="zh-CN" sz="110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sz="110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任意时刻至多一件未售出商品</a:t>
            </a:r>
            <a:endParaRPr lang="zh-CN" sz="110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表卡2"/>
          <p:cNvSpPr/>
          <p:nvPr/>
        </p:nvSpPr>
        <p:spPr>
          <a:xfrm>
            <a:off x="7975600" y="1270000"/>
            <a:ext cx="3568700" cy="17780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表卡2 竖条"/>
          <p:cNvSpPr/>
          <p:nvPr/>
        </p:nvSpPr>
        <p:spPr>
          <a:xfrm>
            <a:off x="7975600" y="1270000"/>
            <a:ext cx="76200" cy="1778000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表标题2"/>
          <p:cNvSpPr/>
          <p:nvPr/>
        </p:nvSpPr>
        <p:spPr>
          <a:xfrm>
            <a:off x="8255000" y="1397000"/>
            <a:ext cx="3009900" cy="2794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6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intent · 8 列</a:t>
            </a:r>
            <a:endParaRPr lang="zh-CN" sz="16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表正文2"/>
          <p:cNvSpPr/>
          <p:nvPr/>
        </p:nvSpPr>
        <p:spPr>
          <a:xfrm>
            <a:off x="8255000" y="1752600"/>
            <a:ext cx="3009900" cy="11938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10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passcode 唯一（买家认领凭证）</a:t>
            </a:r>
            <a:endParaRPr lang="zh-CN" sz="110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sz="110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submitted_at 决定位次，不可变</a:t>
            </a:r>
            <a:endParaRPr lang="zh-CN" sz="110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sz="110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三态 · 2 个索引</a:t>
            </a:r>
            <a:endParaRPr lang="zh-CN" sz="110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取舍标题"/>
          <p:cNvSpPr/>
          <p:nvPr/>
        </p:nvSpPr>
        <p:spPr>
          <a:xfrm>
            <a:off x="660400" y="3149600"/>
            <a:ext cx="6350000" cy="3048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8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三个刻意的设计取舍</a:t>
            </a:r>
            <a:endParaRPr lang="zh-CN" sz="18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取舍卡0"/>
          <p:cNvSpPr/>
          <p:nvPr/>
        </p:nvSpPr>
        <p:spPr>
          <a:xfrm>
            <a:off x="660400" y="3530600"/>
            <a:ext cx="3454400" cy="1422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取舍卡0 竖条"/>
          <p:cNvSpPr/>
          <p:nvPr/>
        </p:nvSpPr>
        <p:spPr>
          <a:xfrm>
            <a:off x="660400" y="3530600"/>
            <a:ext cx="76200" cy="1422400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取舍标题0"/>
          <p:cNvSpPr/>
          <p:nvPr/>
        </p:nvSpPr>
        <p:spPr>
          <a:xfrm>
            <a:off x="939800" y="3657600"/>
            <a:ext cx="2895600" cy="254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4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排队位次不落库</a:t>
            </a:r>
            <a:endParaRPr lang="zh-CN" sz="14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取舍正文0"/>
          <p:cNvSpPr/>
          <p:nvPr/>
        </p:nvSpPr>
        <p:spPr>
          <a:xfrm>
            <a:off x="939800" y="3962400"/>
            <a:ext cx="2895600" cy="8382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10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位次按（提交时间, id）实时算；</a:t>
            </a:r>
            <a:endParaRPr lang="zh-CN" sz="110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sz="110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落库反而每次撤销都要重排，容易错。</a:t>
            </a:r>
            <a:endParaRPr lang="zh-CN" sz="110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取舍卡1"/>
          <p:cNvSpPr/>
          <p:nvPr/>
        </p:nvSpPr>
        <p:spPr>
          <a:xfrm>
            <a:off x="4318000" y="3530600"/>
            <a:ext cx="3454400" cy="1422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取舍卡1 竖条"/>
          <p:cNvSpPr/>
          <p:nvPr/>
        </p:nvSpPr>
        <p:spPr>
          <a:xfrm>
            <a:off x="4318000" y="3530600"/>
            <a:ext cx="76200" cy="1422400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取舍标题1"/>
          <p:cNvSpPr/>
          <p:nvPr/>
        </p:nvSpPr>
        <p:spPr>
          <a:xfrm>
            <a:off x="4597400" y="3657600"/>
            <a:ext cx="2895600" cy="254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4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不建硬外键</a:t>
            </a:r>
            <a:endParaRPr lang="zh-CN" sz="14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取舍正文1"/>
          <p:cNvSpPr/>
          <p:nvPr/>
        </p:nvSpPr>
        <p:spPr>
          <a:xfrm>
            <a:off x="4597400" y="3962400"/>
            <a:ext cx="2895600" cy="8382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10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SQLite 默认外键不生效；交易失败要</a:t>
            </a:r>
            <a:endParaRPr lang="zh-CN" sz="110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sz="110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「先解绑后结案」，一致性由服务层保证。</a:t>
            </a:r>
            <a:endParaRPr lang="zh-CN" sz="110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取舍卡2"/>
          <p:cNvSpPr/>
          <p:nvPr/>
        </p:nvSpPr>
        <p:spPr>
          <a:xfrm>
            <a:off x="7975600" y="3530600"/>
            <a:ext cx="3568700" cy="1422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27" name="取舍卡2 竖条"/>
          <p:cNvSpPr/>
          <p:nvPr/>
        </p:nvSpPr>
        <p:spPr>
          <a:xfrm>
            <a:off x="7975600" y="3530600"/>
            <a:ext cx="76200" cy="1422400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取舍标题2"/>
          <p:cNvSpPr/>
          <p:nvPr/>
        </p:nvSpPr>
        <p:spPr>
          <a:xfrm>
            <a:off x="8255000" y="3657600"/>
            <a:ext cx="3009900" cy="254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4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枚举存小写字面量</a:t>
            </a:r>
            <a:endParaRPr lang="zh-CN" sz="14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取舍正文2"/>
          <p:cNvSpPr/>
          <p:nvPr/>
        </p:nvSpPr>
        <p:spPr>
          <a:xfrm>
            <a:off x="8255000" y="3962400"/>
            <a:ext cx="3009900" cy="8382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10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不用 @Enumerated —— 它会生成 check</a:t>
            </a:r>
            <a:endParaRPr lang="zh-CN" sz="110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sz="110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约束，SQLite 不支持，ddl-auto 会报错。</a:t>
            </a:r>
            <a:endParaRPr lang="zh-CN" sz="110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结论卡"/>
          <p:cNvSpPr/>
          <p:nvPr/>
        </p:nvSpPr>
        <p:spPr>
          <a:xfrm>
            <a:off x="660400" y="5105400"/>
            <a:ext cx="10883900" cy="5842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31" name="结论卡 竖条"/>
          <p:cNvSpPr/>
          <p:nvPr/>
        </p:nvSpPr>
        <p:spPr>
          <a:xfrm>
            <a:off x="660400" y="5105400"/>
            <a:ext cx="76200" cy="584200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结论文"/>
          <p:cNvSpPr/>
          <p:nvPr/>
        </p:nvSpPr>
        <p:spPr>
          <a:xfrm>
            <a:off x="939800" y="5105400"/>
            <a:ext cx="10325100" cy="5842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lang="zh-CN" sz="14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每一条取舍都写进了 Wiki《数据库构建说明》，可现场打开逐条核对</a:t>
            </a:r>
            <a:endParaRPr lang="zh-CN" sz="14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表结构注"/>
          <p:cNvSpPr/>
          <p:nvPr/>
        </p:nvSpPr>
        <p:spPr>
          <a:xfrm>
            <a:off x="660400" y="5816600"/>
            <a:ext cx="10883900" cy="2032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000" b="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三张表共 23 列 · 3 个索引 · 逐列定义见 Wiki《数据库构建说明》第 3 节</a:t>
            </a:r>
            <a:endParaRPr lang="zh-CN" sz="1000" b="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主标题"/>
          <p:cNvSpPr txBox="1"/>
          <p:nvPr/>
        </p:nvSpPr>
        <p:spPr>
          <a:xfrm>
            <a:off x="658368" y="384048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27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周展羽：如何建表 · 旧数据迁移</a:t>
            </a:r>
            <a:endParaRPr lang="zh-CN" sz="27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分隔线"/>
          <p:cNvSpPr/>
          <p:nvPr/>
        </p:nvSpPr>
        <p:spPr>
          <a:xfrm>
            <a:off x="658368" y="1024128"/>
            <a:ext cx="1088136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页脚"/>
          <p:cNvSpPr txBox="1"/>
          <p:nvPr/>
        </p:nvSpPr>
        <p:spPr>
          <a:xfrm>
            <a:off x="658368" y="6473952"/>
            <a:ext cx="7498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900" b="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软件工程实践 · 第 2 组 · 在线购物系统 MVP</a:t>
            </a:r>
            <a:endParaRPr lang="zh-CN" sz="900" b="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选型卡"/>
          <p:cNvSpPr/>
          <p:nvPr/>
        </p:nvSpPr>
        <p:spPr>
          <a:xfrm>
            <a:off x="660400" y="1270000"/>
            <a:ext cx="10883900" cy="5588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选型卡 竖条"/>
          <p:cNvSpPr/>
          <p:nvPr/>
        </p:nvSpPr>
        <p:spPr>
          <a:xfrm>
            <a:off x="660400" y="1270000"/>
            <a:ext cx="76200" cy="558800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选型文"/>
          <p:cNvSpPr/>
          <p:nvPr/>
        </p:nvSpPr>
        <p:spPr>
          <a:xfrm>
            <a:off x="939800" y="1270000"/>
            <a:ext cx="10325100" cy="5588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lang="zh-CN" sz="13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数据库选 SQLite：单文件 data/shop.db，免安装、拷走即跑；表由实体类自动建出来</a:t>
            </a:r>
            <a:endParaRPr lang="zh-CN" sz="13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步骤卡0"/>
          <p:cNvSpPr/>
          <p:nvPr/>
        </p:nvSpPr>
        <p:spPr>
          <a:xfrm>
            <a:off x="660400" y="1981200"/>
            <a:ext cx="340360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步骤卡0 竖条"/>
          <p:cNvSpPr/>
          <p:nvPr/>
        </p:nvSpPr>
        <p:spPr>
          <a:xfrm>
            <a:off x="660400" y="1981200"/>
            <a:ext cx="76200" cy="53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步骤文0"/>
          <p:cNvSpPr/>
          <p:nvPr/>
        </p:nvSpPr>
        <p:spPr>
          <a:xfrm>
            <a:off x="939800" y="1981200"/>
            <a:ext cx="2895600" cy="5334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lang="zh-CN" sz="13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写 Java 类描述表</a:t>
            </a:r>
            <a:endParaRPr lang="zh-CN" sz="13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步骤卡1"/>
          <p:cNvSpPr/>
          <p:nvPr/>
        </p:nvSpPr>
        <p:spPr>
          <a:xfrm>
            <a:off x="4521200" y="1981200"/>
            <a:ext cx="340360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步骤卡1 竖条"/>
          <p:cNvSpPr/>
          <p:nvPr/>
        </p:nvSpPr>
        <p:spPr>
          <a:xfrm>
            <a:off x="4521200" y="1981200"/>
            <a:ext cx="76200" cy="53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步骤文1"/>
          <p:cNvSpPr/>
          <p:nvPr/>
        </p:nvSpPr>
        <p:spPr>
          <a:xfrm>
            <a:off x="4800600" y="1981200"/>
            <a:ext cx="2895600" cy="5334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lang="zh-CN" sz="13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启动时框架生成 SQL</a:t>
            </a:r>
            <a:endParaRPr lang="zh-CN" sz="13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步骤卡2"/>
          <p:cNvSpPr/>
          <p:nvPr/>
        </p:nvSpPr>
        <p:spPr>
          <a:xfrm>
            <a:off x="8382000" y="1981200"/>
            <a:ext cx="3162300" cy="533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步骤卡2 竖条"/>
          <p:cNvSpPr/>
          <p:nvPr/>
        </p:nvSpPr>
        <p:spPr>
          <a:xfrm>
            <a:off x="8382000" y="1981200"/>
            <a:ext cx="76200" cy="53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步骤文2"/>
          <p:cNvSpPr/>
          <p:nvPr/>
        </p:nvSpPr>
        <p:spPr>
          <a:xfrm>
            <a:off x="8661400" y="1981200"/>
            <a:ext cx="2654300" cy="5334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lang="zh-CN" sz="13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字段变了自动补列</a:t>
            </a:r>
            <a:endParaRPr lang="zh-CN" sz="13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步骤箭头一"/>
          <p:cNvSpPr/>
          <p:nvPr/>
        </p:nvSpPr>
        <p:spPr>
          <a:xfrm>
            <a:off x="4114800" y="2120900"/>
            <a:ext cx="355600" cy="279400"/>
          </a:xfrm>
          <a:prstGeom prst="rect">
            <a:avLst/>
          </a:prstGeom>
          <a:noFill/>
        </p:spPr>
        <p:txBody>
          <a:bodyPr rtlCol="0" anchor="ctr"/>
          <a:lstStyle/>
          <a:p>
            <a:pPr algn="ctr"/>
            <a:r>
              <a:rPr lang="zh-CN" sz="1400" b="0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endParaRPr lang="zh-CN" sz="1400" b="0" dirty="0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步骤箭头二"/>
          <p:cNvSpPr/>
          <p:nvPr/>
        </p:nvSpPr>
        <p:spPr>
          <a:xfrm>
            <a:off x="7975600" y="2120900"/>
            <a:ext cx="355600" cy="279400"/>
          </a:xfrm>
          <a:prstGeom prst="rect">
            <a:avLst/>
          </a:prstGeom>
          <a:noFill/>
        </p:spPr>
        <p:txBody>
          <a:bodyPr rtlCol="0" anchor="ctr"/>
          <a:lstStyle/>
          <a:p>
            <a:pPr algn="ctr"/>
            <a:r>
              <a:rPr lang="zh-CN" sz="1400" b="0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endParaRPr lang="zh-CN" sz="1400" b="0" dirty="0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实体卡"/>
          <p:cNvSpPr/>
          <p:nvPr/>
        </p:nvSpPr>
        <p:spPr>
          <a:xfrm>
            <a:off x="660400" y="2667000"/>
            <a:ext cx="4927600" cy="154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实体卡 竖条"/>
          <p:cNvSpPr/>
          <p:nvPr/>
        </p:nvSpPr>
        <p:spPr>
          <a:xfrm>
            <a:off x="660400" y="2667000"/>
            <a:ext cx="76200" cy="1549400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实体标题"/>
          <p:cNvSpPr/>
          <p:nvPr/>
        </p:nvSpPr>
        <p:spPr>
          <a:xfrm>
            <a:off x="939800" y="2768600"/>
            <a:ext cx="4368800" cy="3048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8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我写的：ProductEntity.java</a:t>
            </a:r>
            <a:endParaRPr lang="zh-CN" sz="18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实体代码"/>
          <p:cNvSpPr/>
          <p:nvPr/>
        </p:nvSpPr>
        <p:spPr>
          <a:xfrm>
            <a:off x="939800" y="3098800"/>
            <a:ext cx="4368800" cy="1016000"/>
          </a:xfrm>
          <a:prstGeom prst="roundRect">
            <a:avLst>
              <a:gd name="adj" fmla="val 437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algn="l"/>
            <a:r>
              <a:rPr lang="zh-CN" sz="95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@Entity</a:t>
            </a:r>
            <a:endParaRPr lang="zh-CN" sz="95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sz="95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@Table(name = "product", indexes = @Index(...))</a:t>
            </a:r>
            <a:endParaRPr lang="zh-CN" sz="95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sz="95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public class ProductEntity {</a:t>
            </a:r>
            <a:endParaRPr lang="zh-CN" sz="95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sz="95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@Id @GeneratedValue(IDENTITY) Long id;</a:t>
            </a:r>
            <a:endParaRPr lang="zh-CN" sz="95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sz="95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@Column(nullable=false, length=128)  String name;</a:t>
            </a:r>
            <a:endParaRPr lang="zh-CN" sz="95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sz="95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@Column(name="price_cents")          long priceCents;</a:t>
            </a:r>
            <a:endParaRPr lang="zh-CN" sz="95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生成箭头"/>
          <p:cNvSpPr/>
          <p:nvPr/>
        </p:nvSpPr>
        <p:spPr>
          <a:xfrm>
            <a:off x="5689600" y="3276600"/>
            <a:ext cx="558800" cy="457200"/>
          </a:xfrm>
          <a:prstGeom prst="rect">
            <a:avLst/>
          </a:prstGeom>
          <a:noFill/>
        </p:spPr>
        <p:txBody>
          <a:bodyPr rtlCol="0" anchor="ctr"/>
          <a:lstStyle/>
          <a:p>
            <a:pPr algn="ctr"/>
            <a:r>
              <a:rPr lang="zh-CN" sz="2200" b="0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endParaRPr lang="zh-CN" sz="2200" b="0" dirty="0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生成卡"/>
          <p:cNvSpPr/>
          <p:nvPr/>
        </p:nvSpPr>
        <p:spPr>
          <a:xfrm>
            <a:off x="6350000" y="2667000"/>
            <a:ext cx="5194300" cy="1549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25" name="生成卡 竖条"/>
          <p:cNvSpPr/>
          <p:nvPr/>
        </p:nvSpPr>
        <p:spPr>
          <a:xfrm>
            <a:off x="6350000" y="2667000"/>
            <a:ext cx="76200" cy="1549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生成标题"/>
          <p:cNvSpPr/>
          <p:nvPr/>
        </p:nvSpPr>
        <p:spPr>
          <a:xfrm>
            <a:off x="6629400" y="2768600"/>
            <a:ext cx="4635500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Hibernate</a:t>
            </a:r>
            <a:r>
              <a:rPr lang="zh-CN" sz="18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框架生成的：</a:t>
            </a:r>
            <a:endParaRPr lang="zh-CN" sz="18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生成代码"/>
          <p:cNvSpPr/>
          <p:nvPr/>
        </p:nvSpPr>
        <p:spPr>
          <a:xfrm>
            <a:off x="6629400" y="3098800"/>
            <a:ext cx="4635500" cy="1016000"/>
          </a:xfrm>
          <a:prstGeom prst="roundRect">
            <a:avLst>
              <a:gd name="adj" fmla="val 437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algn="l"/>
            <a:r>
              <a:rPr lang="zh-CN" sz="95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CREATE TABLE product (</a:t>
            </a:r>
            <a:endParaRPr lang="zh-CN" sz="95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sz="95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id INTEGER PRIMARY KEY AUTOINCREMENT,</a:t>
            </a:r>
            <a:endParaRPr lang="zh-CN" sz="95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sz="95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name varchar(128) not null,</a:t>
            </a:r>
            <a:endParaRPr lang="zh-CN" sz="95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sz="95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price_cents integer not null,  … );</a:t>
            </a:r>
            <a:endParaRPr lang="zh-CN" sz="95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sz="95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CREATE INDEX idx_product_status ON product(status);</a:t>
            </a:r>
            <a:endParaRPr lang="zh-CN" sz="95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迁移卡"/>
          <p:cNvSpPr/>
          <p:nvPr/>
        </p:nvSpPr>
        <p:spPr>
          <a:xfrm>
            <a:off x="660400" y="4368800"/>
            <a:ext cx="10883900" cy="11176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29" name="迁移卡 竖条"/>
          <p:cNvSpPr/>
          <p:nvPr/>
        </p:nvSpPr>
        <p:spPr>
          <a:xfrm>
            <a:off x="660400" y="4368800"/>
            <a:ext cx="76200" cy="1117600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迁移标题"/>
          <p:cNvSpPr/>
          <p:nvPr/>
        </p:nvSpPr>
        <p:spPr>
          <a:xfrm>
            <a:off x="939800" y="4470400"/>
            <a:ext cx="4953000" cy="3048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8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旧 data.json 怎么搬进来</a:t>
            </a:r>
            <a:endParaRPr lang="zh-CN" sz="18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映射正文"/>
          <p:cNvSpPr/>
          <p:nvPr/>
        </p:nvSpPr>
        <p:spPr>
          <a:xfrm>
            <a:off x="939800" y="4800600"/>
            <a:ext cx="4953000" cy="6096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10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seller / products[] / intents[] 分别搬进三张表；</a:t>
            </a:r>
            <a:endParaRPr lang="zh-CN" sz="110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sz="110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 与密码哈希原样搬运，引用关系不断；</a:t>
            </a:r>
            <a:endParaRPr lang="zh-CN" sz="110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sz="110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两个计数器作废，交给数据库自增。</a:t>
            </a:r>
            <a:endParaRPr lang="zh-CN" sz="110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保险标题"/>
          <p:cNvSpPr/>
          <p:nvPr/>
        </p:nvSpPr>
        <p:spPr>
          <a:xfrm>
            <a:off x="6350000" y="4470400"/>
            <a:ext cx="4826000" cy="304800"/>
          </a:xfrm>
          <a:prstGeom prst="rect">
            <a:avLst/>
          </a:prstGeom>
          <a:noFill/>
        </p:spPr>
        <p:txBody>
          <a:bodyPr/>
          <a:lstStyle/>
          <a:p>
            <a:pPr algn="l"/>
            <a:endParaRPr lang="zh-CN" sz="1800" b="1" dirty="0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保险正文"/>
          <p:cNvSpPr/>
          <p:nvPr/>
        </p:nvSpPr>
        <p:spPr>
          <a:xfrm>
            <a:off x="6350000" y="4800600"/>
            <a:ext cx="4826000" cy="6096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10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三表全空且旧文件存在才迁移，否则跳过；</a:t>
            </a:r>
            <a:endParaRPr lang="zh-CN" sz="110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sz="110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一个事务内完成，失败整体回滚；</a:t>
            </a:r>
            <a:endParaRPr lang="zh-CN" sz="110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sz="110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搬完打日志：N 个商品、M 条意向。</a:t>
            </a:r>
            <a:endParaRPr lang="zh-CN" sz="110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提示词条"/>
          <p:cNvSpPr/>
          <p:nvPr/>
        </p:nvSpPr>
        <p:spPr>
          <a:xfrm>
            <a:off x="660400" y="5613400"/>
            <a:ext cx="10883900" cy="406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35" name="提示词条 竖条"/>
          <p:cNvSpPr/>
          <p:nvPr/>
        </p:nvSpPr>
        <p:spPr>
          <a:xfrm>
            <a:off x="660400" y="5613400"/>
            <a:ext cx="76200" cy="406400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提示词正文"/>
          <p:cNvSpPr/>
          <p:nvPr/>
        </p:nvSpPr>
        <p:spPr>
          <a:xfrm>
            <a:off x="939800" y="5689600"/>
            <a:ext cx="10325100" cy="2794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000" b="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关键提示词 · 迁移轮：「启动时把 data.json 迁进 SQLite：有数据绝不迁、旧 id 原样保留、哈希原样搬运、整个过程在一个事务里。」</a:t>
            </a:r>
            <a:endParaRPr lang="zh-CN" sz="1000" b="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表结构注"/>
          <p:cNvSpPr/>
          <p:nvPr/>
        </p:nvSpPr>
        <p:spPr>
          <a:xfrm>
            <a:off x="660400" y="6121400"/>
            <a:ext cx="10883900" cy="2032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zh-CN" sz="1000" b="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三张表共 23 列 · 逐列定义见 Wiki《数据库构建说明》，可随时打开核对</a:t>
            </a:r>
            <a:endParaRPr lang="zh-CN" sz="1000" b="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itle"/>
          <p:cNvSpPr>
            <a:spLocks noGrp="1"/>
          </p:cNvSpPr>
          <p:nvPr/>
        </p:nvSpPr>
        <p:spPr>
          <a:xfrm>
            <a:off x="502920" y="292608"/>
            <a:ext cx="9810750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谭梓良：系统功能测试与缺陷修复</a:t>
            </a:r>
            <a:endParaRPr sz="2600" b="1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section-tag"/>
          <p:cNvSpPr>
            <a:spLocks noGrp="1"/>
          </p:cNvSpPr>
          <p:nvPr/>
        </p:nvSpPr>
        <p:spPr>
          <a:xfrm>
            <a:off x="10607040" y="292608"/>
            <a:ext cx="1097280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r">
              <a:lnSpc>
                <a:spcPct val="113000"/>
              </a:lnSpc>
              <a:buNone/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11</a:t>
            </a:r>
            <a:endParaRPr sz="1800" b="1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mplate-accent"/>
          <p:cNvSpPr>
            <a:spLocks noGrp="1"/>
          </p:cNvSpPr>
          <p:nvPr/>
        </p:nvSpPr>
        <p:spPr>
          <a:xfrm>
            <a:off x="502920" y="969264"/>
            <a:ext cx="777240" cy="64008"/>
          </a:xfrm>
          <a:prstGeom prst="rect">
            <a:avLst/>
          </a:prstGeom>
          <a:solidFill>
            <a:srgbClr val="0EA5E9"/>
          </a:solidFill>
          <a:ln w="0">
            <a:noFill/>
            <a:prstDash val="solid"/>
          </a:ln>
        </p:spPr>
      </p:sp>
      <p:sp>
        <p:nvSpPr>
          <p:cNvPr id="5" name="template-footer"/>
          <p:cNvSpPr>
            <a:spLocks noGrp="1"/>
          </p:cNvSpPr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软件工程实践 · 第 2 组 · 在线购物系统</a:t>
            </a:r>
            <a:endParaRPr sz="90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role-heading"/>
          <p:cNvSpPr>
            <a:spLocks noGrp="1"/>
          </p:cNvSpPr>
          <p:nvPr/>
        </p:nvSpPr>
        <p:spPr>
          <a:xfrm>
            <a:off x="502920" y="1188720"/>
            <a:ext cx="66675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个人负责内容</a:t>
            </a:r>
            <a:endParaRPr sz="1700" b="1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role-row-0"/>
          <p:cNvSpPr>
            <a:spLocks noGrp="1"/>
          </p:cNvSpPr>
          <p:nvPr/>
        </p:nvSpPr>
        <p:spPr>
          <a:xfrm>
            <a:off x="502920" y="1691640"/>
            <a:ext cx="6949440" cy="731520"/>
          </a:xfrm>
          <a:prstGeom prst="rect">
            <a:avLst/>
          </a:prstGeom>
          <a:solidFill>
            <a:srgbClr val="F0F4F9"/>
          </a:solidFill>
          <a:ln w="0">
            <a:noFill/>
            <a:prstDash val="solid"/>
          </a:ln>
        </p:spPr>
      </p:sp>
      <p:sp>
        <p:nvSpPr>
          <p:cNvPr id="8" name="role-text-0"/>
          <p:cNvSpPr>
            <a:spLocks noGrp="1"/>
          </p:cNvSpPr>
          <p:nvPr/>
        </p:nvSpPr>
        <p:spPr>
          <a:xfrm>
            <a:off x="731520" y="1691640"/>
            <a:ext cx="6537960" cy="731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 设计并执行 84 项 Java 接口与静态资源测试用例。</a:t>
            </a:r>
            <a:endParaRPr sz="135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role-row-1"/>
          <p:cNvSpPr>
            <a:spLocks noGrp="1"/>
          </p:cNvSpPr>
          <p:nvPr/>
        </p:nvSpPr>
        <p:spPr>
          <a:xfrm>
            <a:off x="502920" y="2560320"/>
            <a:ext cx="6949440" cy="731520"/>
          </a:xfrm>
          <a:prstGeom prst="rect">
            <a:avLst/>
          </a:prstGeom>
          <a:solidFill>
            <a:srgbClr val="F0F4F9"/>
          </a:solidFill>
          <a:ln w="0">
            <a:noFill/>
            <a:prstDash val="solid"/>
          </a:ln>
        </p:spPr>
      </p:sp>
      <p:sp>
        <p:nvSpPr>
          <p:cNvPr id="10" name="role-text-1"/>
          <p:cNvSpPr>
            <a:spLocks noGrp="1"/>
          </p:cNvSpPr>
          <p:nvPr/>
        </p:nvSpPr>
        <p:spPr>
          <a:xfrm>
            <a:off x="731520" y="2560320"/>
            <a:ext cx="6537960" cy="731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 核对商品、意向队列、交易状态和异常输入的处理结果。</a:t>
            </a:r>
            <a:endParaRPr sz="135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role-row-2"/>
          <p:cNvSpPr>
            <a:spLocks noGrp="1"/>
          </p:cNvSpPr>
          <p:nvPr/>
        </p:nvSpPr>
        <p:spPr>
          <a:xfrm>
            <a:off x="502920" y="3429000"/>
            <a:ext cx="6949440" cy="731520"/>
          </a:xfrm>
          <a:prstGeom prst="rect">
            <a:avLst/>
          </a:prstGeom>
          <a:solidFill>
            <a:srgbClr val="F0F4F9"/>
          </a:solidFill>
          <a:ln w="0">
            <a:noFill/>
            <a:prstDash val="solid"/>
          </a:ln>
        </p:spPr>
      </p:sp>
      <p:sp>
        <p:nvSpPr>
          <p:cNvPr id="12" name="role-text-2"/>
          <p:cNvSpPr>
            <a:spLocks noGrp="1"/>
          </p:cNvSpPr>
          <p:nvPr/>
        </p:nvSpPr>
        <p:spPr>
          <a:xfrm>
            <a:off x="731520" y="3429000"/>
            <a:ext cx="6537960" cy="731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③ 复现缺陷，记录问题原因、修复内容及对应回归用例。</a:t>
            </a:r>
            <a:endParaRPr sz="135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role-row-3"/>
          <p:cNvSpPr>
            <a:spLocks noGrp="1"/>
          </p:cNvSpPr>
          <p:nvPr/>
        </p:nvSpPr>
        <p:spPr>
          <a:xfrm>
            <a:off x="502920" y="4297680"/>
            <a:ext cx="6949440" cy="731520"/>
          </a:xfrm>
          <a:prstGeom prst="rect">
            <a:avLst/>
          </a:prstGeom>
          <a:solidFill>
            <a:srgbClr val="F0F4F9"/>
          </a:solidFill>
          <a:ln w="0">
            <a:noFill/>
            <a:prstDash val="solid"/>
          </a:ln>
        </p:spPr>
      </p:sp>
      <p:sp>
        <p:nvSpPr>
          <p:cNvPr id="14" name="role-text-3"/>
          <p:cNvSpPr>
            <a:spLocks noGrp="1"/>
          </p:cNvSpPr>
          <p:nvPr/>
        </p:nvSpPr>
        <p:spPr>
          <a:xfrm>
            <a:off x="731520" y="4297680"/>
            <a:ext cx="6537960" cy="731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④ 编写 Java 自动化脚本，完成 Edge 网页流程录屏。</a:t>
            </a:r>
            <a:endParaRPr sz="135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role-row-4"/>
          <p:cNvSpPr>
            <a:spLocks noGrp="1"/>
          </p:cNvSpPr>
          <p:nvPr/>
        </p:nvSpPr>
        <p:spPr>
          <a:xfrm>
            <a:off x="502920" y="5166360"/>
            <a:ext cx="6949440" cy="731520"/>
          </a:xfrm>
          <a:prstGeom prst="rect">
            <a:avLst/>
          </a:prstGeom>
          <a:solidFill>
            <a:srgbClr val="F0F4F9"/>
          </a:solidFill>
          <a:ln w="0">
            <a:noFill/>
            <a:prstDash val="solid"/>
          </a:ln>
        </p:spPr>
      </p:sp>
      <p:sp>
        <p:nvSpPr>
          <p:cNvPr id="16" name="role-text-4"/>
          <p:cNvSpPr>
            <a:spLocks noGrp="1"/>
          </p:cNvSpPr>
          <p:nvPr/>
        </p:nvSpPr>
        <p:spPr>
          <a:xfrm>
            <a:off x="731520" y="5166360"/>
            <a:ext cx="6537960" cy="731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⑤ 整理四份测试成果，保留版本、执行记录和结果证据。</a:t>
            </a:r>
            <a:endParaRPr sz="135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deliverables-heading"/>
          <p:cNvSpPr>
            <a:spLocks noGrp="1"/>
          </p:cNvSpPr>
          <p:nvPr/>
        </p:nvSpPr>
        <p:spPr>
          <a:xfrm>
            <a:off x="7772400" y="1188720"/>
            <a:ext cx="38100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测试交付物</a:t>
            </a:r>
            <a:endParaRPr sz="1700" b="1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mplate-evidence-rule"/>
          <p:cNvSpPr>
            <a:spLocks noGrp="1"/>
          </p:cNvSpPr>
          <p:nvPr/>
        </p:nvSpPr>
        <p:spPr>
          <a:xfrm>
            <a:off x="7772400" y="1801368"/>
            <a:ext cx="64008" cy="2980944"/>
          </a:xfrm>
          <a:prstGeom prst="rect">
            <a:avLst/>
          </a:prstGeom>
          <a:solidFill>
            <a:srgbClr val="078657"/>
          </a:solidFill>
          <a:ln w="0">
            <a:noFill/>
            <a:prstDash val="solid"/>
          </a:ln>
        </p:spPr>
      </p:sp>
      <p:sp>
        <p:nvSpPr>
          <p:cNvPr id="19" name="delivery-title-0"/>
          <p:cNvSpPr>
            <a:spLocks noGrp="1"/>
          </p:cNvSpPr>
          <p:nvPr/>
        </p:nvSpPr>
        <p:spPr>
          <a:xfrm>
            <a:off x="8001000" y="1762125"/>
            <a:ext cx="35623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测试用例</a:t>
            </a:r>
            <a:endParaRPr sz="1350" b="1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delivery-path-0"/>
          <p:cNvSpPr>
            <a:spLocks noGrp="1"/>
          </p:cNvSpPr>
          <p:nvPr/>
        </p:nvSpPr>
        <p:spPr>
          <a:xfrm>
            <a:off x="8001000" y="2057400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docs/测试用例.md</a:t>
            </a:r>
            <a:endParaRPr sz="120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delivery-title-1"/>
          <p:cNvSpPr>
            <a:spLocks noGrp="1"/>
          </p:cNvSpPr>
          <p:nvPr/>
        </p:nvSpPr>
        <p:spPr>
          <a:xfrm>
            <a:off x="8001000" y="2524125"/>
            <a:ext cx="35623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Java 黑盒测试脚本</a:t>
            </a:r>
            <a:endParaRPr sz="1350" b="1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delivery-path-1"/>
          <p:cNvSpPr>
            <a:spLocks noGrp="1"/>
          </p:cNvSpPr>
          <p:nvPr/>
        </p:nvSpPr>
        <p:spPr>
          <a:xfrm>
            <a:off x="8001000" y="2819400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ShoppingSystemBlackBoxTest.java</a:t>
            </a:r>
            <a:endParaRPr sz="120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delivery-title-2"/>
          <p:cNvSpPr>
            <a:spLocks noGrp="1"/>
          </p:cNvSpPr>
          <p:nvPr/>
        </p:nvSpPr>
        <p:spPr>
          <a:xfrm>
            <a:off x="8001000" y="3286125"/>
            <a:ext cx="35623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测试报告</a:t>
            </a:r>
            <a:endParaRPr sz="1350" b="1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delivery-path-2"/>
          <p:cNvSpPr>
            <a:spLocks noGrp="1"/>
          </p:cNvSpPr>
          <p:nvPr/>
        </p:nvSpPr>
        <p:spPr>
          <a:xfrm>
            <a:off x="8001000" y="3581400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docs/测试报告.md</a:t>
            </a:r>
            <a:endParaRPr sz="120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delivery-title-3"/>
          <p:cNvSpPr>
            <a:spLocks noGrp="1"/>
          </p:cNvSpPr>
          <p:nvPr/>
        </p:nvSpPr>
        <p:spPr>
          <a:xfrm>
            <a:off x="8001000" y="4048125"/>
            <a:ext cx="35623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缺陷迭代记录</a:t>
            </a:r>
            <a:endParaRPr sz="1350" b="1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delivery-path-3"/>
          <p:cNvSpPr>
            <a:spLocks noGrp="1"/>
          </p:cNvSpPr>
          <p:nvPr/>
        </p:nvSpPr>
        <p:spPr>
          <a:xfrm>
            <a:off x="8001000" y="4343400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docs/缺陷迭代记录报告.md</a:t>
            </a:r>
            <a:endParaRPr sz="120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metric-0"/>
          <p:cNvSpPr>
            <a:spLocks noGrp="1"/>
          </p:cNvSpPr>
          <p:nvPr/>
        </p:nvSpPr>
        <p:spPr>
          <a:xfrm>
            <a:off x="7772400" y="5305425"/>
            <a:ext cx="128016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ctr">
              <a:defRPr sz="30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30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30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30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30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30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30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30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30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30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13000"/>
              </a:lnSpc>
              <a:buNone/>
              <a:defRPr sz="30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0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84</a:t>
            </a:r>
            <a:endParaRPr sz="3000" b="1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8" name="metric-label-0"/>
          <p:cNvSpPr>
            <a:spLocks noGrp="1"/>
          </p:cNvSpPr>
          <p:nvPr/>
        </p:nvSpPr>
        <p:spPr>
          <a:xfrm>
            <a:off x="7715250" y="5886450"/>
            <a:ext cx="139446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ctr">
              <a:def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13000"/>
              </a:lnSpc>
              <a:buNone/>
              <a:def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接口用例</a:t>
            </a:r>
            <a:endParaRPr sz="110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metric-1"/>
          <p:cNvSpPr>
            <a:spLocks noGrp="1"/>
          </p:cNvSpPr>
          <p:nvPr/>
        </p:nvSpPr>
        <p:spPr>
          <a:xfrm>
            <a:off x="9052560" y="5305425"/>
            <a:ext cx="128016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ctr">
              <a:defRPr sz="3000" b="1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3000" b="1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3000" b="1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3000" b="1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3000" b="1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3000" b="1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3000" b="1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3000" b="1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3000" b="1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3000" b="1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13000"/>
              </a:lnSpc>
              <a:buNone/>
              <a:defRPr sz="3000" b="1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000" b="1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17</a:t>
            </a:r>
            <a:endParaRPr sz="3000" b="1">
              <a:solidFill>
                <a:srgbClr val="0EA5E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metric-label-1"/>
          <p:cNvSpPr>
            <a:spLocks noGrp="1"/>
          </p:cNvSpPr>
          <p:nvPr/>
        </p:nvSpPr>
        <p:spPr>
          <a:xfrm>
            <a:off x="8995410" y="5886450"/>
            <a:ext cx="139446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ctr">
              <a:def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13000"/>
              </a:lnSpc>
              <a:buNone/>
              <a:def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网页检查（v4）</a:t>
            </a:r>
            <a:endParaRPr sz="110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1" name="metric-2"/>
          <p:cNvSpPr>
            <a:spLocks noGrp="1"/>
          </p:cNvSpPr>
          <p:nvPr/>
        </p:nvSpPr>
        <p:spPr>
          <a:xfrm>
            <a:off x="10332720" y="5305425"/>
            <a:ext cx="128016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ctr">
              <a:defRPr sz="3000" b="1">
                <a:solidFill>
                  <a:srgbClr val="EA84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3000" b="1">
                <a:solidFill>
                  <a:srgbClr val="EA84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3000" b="1">
                <a:solidFill>
                  <a:srgbClr val="EA84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3000" b="1">
                <a:solidFill>
                  <a:srgbClr val="EA84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3000" b="1">
                <a:solidFill>
                  <a:srgbClr val="EA84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3000" b="1">
                <a:solidFill>
                  <a:srgbClr val="EA84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3000" b="1">
                <a:solidFill>
                  <a:srgbClr val="EA84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3000" b="1">
                <a:solidFill>
                  <a:srgbClr val="EA84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3000" b="1">
                <a:solidFill>
                  <a:srgbClr val="EA84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3000" b="1">
                <a:solidFill>
                  <a:srgbClr val="EA84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13000"/>
              </a:lnSpc>
              <a:buNone/>
              <a:defRPr sz="3000" b="1">
                <a:solidFill>
                  <a:srgbClr val="EA84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000" b="1">
                <a:solidFill>
                  <a:srgbClr val="EA84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endParaRPr sz="3000" b="1">
              <a:solidFill>
                <a:srgbClr val="EA841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metric-label-2"/>
          <p:cNvSpPr>
            <a:spLocks noGrp="1"/>
          </p:cNvSpPr>
          <p:nvPr/>
        </p:nvSpPr>
        <p:spPr>
          <a:xfrm>
            <a:off x="10275570" y="5886450"/>
            <a:ext cx="139446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ctr">
              <a:def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ctr">
              <a:def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>
              <a:def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>
              <a:def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>
              <a:def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>
              <a:def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ctr">
              <a:def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ctr">
              <a:def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ctr">
              <a:def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ctr">
              <a:def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>
              <a:lnSpc>
                <a:spcPct val="113000"/>
              </a:lnSpc>
              <a:buNone/>
              <a:def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1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份测试交付</a:t>
            </a:r>
            <a:endParaRPr sz="110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itle"/>
          <p:cNvSpPr>
            <a:spLocks noGrp="1"/>
          </p:cNvSpPr>
          <p:nvPr/>
        </p:nvSpPr>
        <p:spPr>
          <a:xfrm>
            <a:off x="502920" y="292608"/>
            <a:ext cx="9810750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测试设计：84 项用例覆盖</a:t>
            </a:r>
            <a:endParaRPr sz="2600" b="1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section-tag"/>
          <p:cNvSpPr>
            <a:spLocks noGrp="1"/>
          </p:cNvSpPr>
          <p:nvPr/>
        </p:nvSpPr>
        <p:spPr>
          <a:xfrm>
            <a:off x="10607040" y="292608"/>
            <a:ext cx="1097280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r">
              <a:lnSpc>
                <a:spcPct val="113000"/>
              </a:lnSpc>
              <a:buNone/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11-1</a:t>
            </a:r>
            <a:endParaRPr sz="1800" b="1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mplate-accent"/>
          <p:cNvSpPr>
            <a:spLocks noGrp="1"/>
          </p:cNvSpPr>
          <p:nvPr/>
        </p:nvSpPr>
        <p:spPr>
          <a:xfrm>
            <a:off x="502920" y="969264"/>
            <a:ext cx="777240" cy="64008"/>
          </a:xfrm>
          <a:prstGeom prst="rect">
            <a:avLst/>
          </a:prstGeom>
          <a:solidFill>
            <a:srgbClr val="0EA5E9"/>
          </a:solidFill>
          <a:ln w="0">
            <a:noFill/>
            <a:prstDash val="solid"/>
          </a:ln>
        </p:spPr>
      </p:sp>
      <p:sp>
        <p:nvSpPr>
          <p:cNvPr id="5" name="template-footer"/>
          <p:cNvSpPr>
            <a:spLocks noGrp="1"/>
          </p:cNvSpPr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软件工程实践 · 第 2 组 · 在线购物系统</a:t>
            </a:r>
            <a:endParaRPr sz="90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coverage-caption"/>
          <p:cNvSpPr>
            <a:spLocks noGrp="1"/>
          </p:cNvSpPr>
          <p:nvPr/>
        </p:nvSpPr>
        <p:spPr>
          <a:xfrm>
            <a:off x="502920" y="1188720"/>
            <a:ext cx="676275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按功能、状态、边界和异常拆分用例</a:t>
            </a:r>
            <a:endParaRPr sz="1700" b="1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502920" y="1695450"/>
          <a:ext cx="6705600" cy="4000500"/>
        </p:xfrm>
        <a:graphic>
          <a:graphicData uri="http://schemas.openxmlformats.org/drawingml/2006/table">
            <a:tbl>
              <a:tblPr firstRow="1"/>
              <a:tblGrid>
                <a:gridCol w="3143250"/>
                <a:gridCol w="800100"/>
                <a:gridCol w="276225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测试范围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>
                      <a:solidFill>
                        <a:srgbClr val="DCE5F0"/>
                      </a:solidFill>
                      <a:prstDash val="soli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>
                      <a:solidFill>
                        <a:srgbClr val="DCE5F0"/>
                      </a:solidFill>
                      <a:prstDash val="soli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122D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项数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>
                      <a:solidFill>
                        <a:srgbClr val="DCE5F0"/>
                      </a:solidFill>
                      <a:prstDash val="soli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122D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用例编号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>
                      <a:solidFill>
                        <a:srgbClr val="DCE5F0"/>
                      </a:solidFill>
                      <a:prstDash val="soli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122D4E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空库与静态资源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>
                      <a:solidFill>
                        <a:srgbClr val="DCE5F0"/>
                      </a:solidFill>
                      <a:prstDash val="soli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AT-001～007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后台鉴权与登录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>
                      <a:solidFill>
                        <a:srgbClr val="DCE5F0"/>
                      </a:solidFill>
                      <a:prstDash val="soli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13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AT-008～020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密码修改与规则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>
                      <a:solidFill>
                        <a:srgbClr val="DCE5F0"/>
                      </a:solidFill>
                      <a:prstDash val="soli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AT-021～026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商品、金额与图片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>
                      <a:solidFill>
                        <a:srgbClr val="DCE5F0"/>
                      </a:solidFill>
                      <a:prstDash val="soli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AT-027～047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买家意向与冻结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>
                      <a:solidFill>
                        <a:srgbClr val="DCE5F0"/>
                      </a:solidFill>
                      <a:prstDash val="soli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AT-048～059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交易状态与递补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>
                      <a:solidFill>
                        <a:srgbClr val="DCE5F0"/>
                      </a:solidFill>
                      <a:prstDash val="soli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AT-060～067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持久化与旧数据迁移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>
                      <a:solidFill>
                        <a:srgbClr val="DCE5F0"/>
                      </a:solidFill>
                      <a:prstDash val="soli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AT-068～071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并发、非法请求与路径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>
                      <a:solidFill>
                        <a:srgbClr val="DCE5F0"/>
                      </a:solidFill>
                      <a:prstDash val="soli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13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AT-072～084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8" name="data-heading"/>
          <p:cNvSpPr>
            <a:spLocks noGrp="1"/>
          </p:cNvSpPr>
          <p:nvPr/>
        </p:nvSpPr>
        <p:spPr>
          <a:xfrm>
            <a:off x="7620000" y="1188720"/>
            <a:ext cx="40005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关键测试数据</a:t>
            </a:r>
            <a:endParaRPr sz="1700" b="1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boundary-heading-0"/>
          <p:cNvSpPr>
            <a:spLocks noGrp="1"/>
          </p:cNvSpPr>
          <p:nvPr/>
        </p:nvSpPr>
        <p:spPr>
          <a:xfrm>
            <a:off x="7620000" y="1743075"/>
            <a:ext cx="4000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价格</a:t>
            </a:r>
            <a:endParaRPr sz="1500" b="1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boundary-detail-0"/>
          <p:cNvSpPr>
            <a:spLocks noGrp="1"/>
          </p:cNvSpPr>
          <p:nvPr/>
        </p:nvSpPr>
        <p:spPr>
          <a:xfrm>
            <a:off x="7620000" y="2085975"/>
            <a:ext cx="40005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 元、负数、三位小数、5000 位输入</a:t>
            </a:r>
            <a:endParaRPr sz="135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boundary-heading-1"/>
          <p:cNvSpPr>
            <a:spLocks noGrp="1"/>
          </p:cNvSpPr>
          <p:nvPr/>
        </p:nvSpPr>
        <p:spPr>
          <a:xfrm>
            <a:off x="7620000" y="2724150"/>
            <a:ext cx="4000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图片</a:t>
            </a:r>
            <a:endParaRPr sz="1500" b="1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boundary-detail-1"/>
          <p:cNvSpPr>
            <a:spLocks noGrp="1"/>
          </p:cNvSpPr>
          <p:nvPr/>
        </p:nvSpPr>
        <p:spPr>
          <a:xfrm>
            <a:off x="7620000" y="3067050"/>
            <a:ext cx="40005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有效与伪造图片，5 MiB 和超出 1 字节</a:t>
            </a:r>
            <a:endParaRPr sz="135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boundary-heading-2"/>
          <p:cNvSpPr>
            <a:spLocks noGrp="1"/>
          </p:cNvSpPr>
          <p:nvPr/>
        </p:nvSpPr>
        <p:spPr>
          <a:xfrm>
            <a:off x="7620000" y="3705225"/>
            <a:ext cx="4000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并发</a:t>
            </a:r>
            <a:endParaRPr sz="1500" b="1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boundary-detail-2"/>
          <p:cNvSpPr>
            <a:spLocks noGrp="1"/>
          </p:cNvSpPr>
          <p:nvPr/>
        </p:nvSpPr>
        <p:spPr>
          <a:xfrm>
            <a:off x="7620000" y="4048125"/>
            <a:ext cx="40005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 个买家提交，两名卖家同时操作</a:t>
            </a:r>
            <a:endParaRPr sz="135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boundary-heading-3"/>
          <p:cNvSpPr>
            <a:spLocks noGrp="1"/>
          </p:cNvSpPr>
          <p:nvPr/>
        </p:nvSpPr>
        <p:spPr>
          <a:xfrm>
            <a:off x="7620000" y="4686300"/>
            <a:ext cx="4000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迁移</a:t>
            </a:r>
            <a:endParaRPr sz="1500" b="1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boundary-detail-3"/>
          <p:cNvSpPr>
            <a:spLocks noGrp="1"/>
          </p:cNvSpPr>
          <p:nvPr/>
        </p:nvSpPr>
        <p:spPr>
          <a:xfrm>
            <a:off x="7620000" y="5029200"/>
            <a:ext cx="40005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商品 ID 41、意向 ID 73 及原有口令</a:t>
            </a:r>
            <a:endParaRPr sz="135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coverage-total"/>
          <p:cNvSpPr>
            <a:spLocks noGrp="1"/>
          </p:cNvSpPr>
          <p:nvPr/>
        </p:nvSpPr>
        <p:spPr>
          <a:xfrm>
            <a:off x="502920" y="5886450"/>
            <a:ext cx="11125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35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35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35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35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35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35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35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35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35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35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35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AT-001～AT-084 与 Java 脚本中的用例编号一一对应</a:t>
            </a:r>
            <a:endParaRPr sz="135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itle"/>
          <p:cNvSpPr>
            <a:spLocks noGrp="1"/>
          </p:cNvSpPr>
          <p:nvPr/>
        </p:nvSpPr>
        <p:spPr>
          <a:xfrm>
            <a:off x="502920" y="292608"/>
            <a:ext cx="9810750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最终版复测：84 项全部通过</a:t>
            </a:r>
            <a:endParaRPr sz="2600" b="1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section-tag"/>
          <p:cNvSpPr>
            <a:spLocks noGrp="1"/>
          </p:cNvSpPr>
          <p:nvPr/>
        </p:nvSpPr>
        <p:spPr>
          <a:xfrm>
            <a:off x="10607040" y="292608"/>
            <a:ext cx="1097280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r">
              <a:lnSpc>
                <a:spcPct val="113000"/>
              </a:lnSpc>
              <a:buNone/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11-2</a:t>
            </a:r>
            <a:endParaRPr sz="1800" b="1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mplate-accent"/>
          <p:cNvSpPr>
            <a:spLocks noGrp="1"/>
          </p:cNvSpPr>
          <p:nvPr/>
        </p:nvSpPr>
        <p:spPr>
          <a:xfrm>
            <a:off x="502920" y="969264"/>
            <a:ext cx="777240" cy="64008"/>
          </a:xfrm>
          <a:prstGeom prst="rect">
            <a:avLst/>
          </a:prstGeom>
          <a:solidFill>
            <a:srgbClr val="0EA5E9"/>
          </a:solidFill>
          <a:ln w="0">
            <a:noFill/>
            <a:prstDash val="solid"/>
          </a:ln>
        </p:spPr>
      </p:sp>
      <p:sp>
        <p:nvSpPr>
          <p:cNvPr id="5" name="template-footer"/>
          <p:cNvSpPr>
            <a:spLocks noGrp="1"/>
          </p:cNvSpPr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软件工程实践 · 第 2 组 · 在线购物系统</a:t>
            </a:r>
            <a:endParaRPr sz="90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result-total"/>
          <p:cNvSpPr>
            <a:spLocks noGrp="1"/>
          </p:cNvSpPr>
          <p:nvPr/>
        </p:nvSpPr>
        <p:spPr>
          <a:xfrm>
            <a:off x="502920" y="1323975"/>
            <a:ext cx="52387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51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51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51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51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51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51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51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51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51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51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51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51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84 / 84</a:t>
            </a:r>
            <a:endParaRPr sz="5100" b="1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result-title"/>
          <p:cNvSpPr>
            <a:spLocks noGrp="1"/>
          </p:cNvSpPr>
          <p:nvPr/>
        </p:nvSpPr>
        <p:spPr>
          <a:xfrm>
            <a:off x="502920" y="2352675"/>
            <a:ext cx="5334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8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8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8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8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8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8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8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8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8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8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8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First_accept 最终版接口回归</a:t>
            </a:r>
            <a:endParaRPr sz="1800" b="1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502920" y="2952750"/>
          <a:ext cx="5353050" cy="2428875"/>
        </p:xfrm>
        <a:graphic>
          <a:graphicData uri="http://schemas.openxmlformats.org/drawingml/2006/table">
            <a:tbl>
              <a:tblPr firstRow="1"/>
              <a:tblGrid>
                <a:gridCol w="3390900"/>
                <a:gridCol w="1962150"/>
              </a:tblGrid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执行结果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>
                      <a:solidFill>
                        <a:srgbClr val="DCE5F0"/>
                      </a:solidFill>
                      <a:prstDash val="soli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>
                      <a:solidFill>
                        <a:srgbClr val="DCE5F0"/>
                      </a:solidFill>
                      <a:prstDash val="soli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122D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数量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>
                      <a:solidFill>
                        <a:srgbClr val="DCE5F0"/>
                      </a:solidFill>
                      <a:prstDash val="soli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122D4E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通过</a:t>
                      </a:r>
                      <a:endParaRPr sz="16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>
                      <a:solidFill>
                        <a:srgbClr val="DCE5F0"/>
                      </a:solidFill>
                      <a:prstDash val="soli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7865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84</a:t>
                      </a:r>
                      <a:endParaRPr sz="1650">
                        <a:solidFill>
                          <a:srgbClr val="07865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失败</a:t>
                      </a:r>
                      <a:endParaRPr sz="16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>
                      <a:solidFill>
                        <a:srgbClr val="DCE5F0"/>
                      </a:solidFill>
                      <a:prstDash val="soli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7865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</a:t>
                      </a:r>
                      <a:endParaRPr sz="1650">
                        <a:solidFill>
                          <a:srgbClr val="07865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错误</a:t>
                      </a:r>
                      <a:endParaRPr sz="16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>
                      <a:solidFill>
                        <a:srgbClr val="DCE5F0"/>
                      </a:solidFill>
                      <a:prstDash val="soli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7865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</a:t>
                      </a:r>
                      <a:endParaRPr sz="1650">
                        <a:solidFill>
                          <a:srgbClr val="07865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跳过</a:t>
                      </a:r>
                      <a:endParaRPr sz="16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>
                      <a:solidFill>
                        <a:srgbClr val="DCE5F0"/>
                      </a:solidFill>
                      <a:prstDash val="soli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7865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</a:t>
                      </a:r>
                      <a:endParaRPr sz="1650">
                        <a:solidFill>
                          <a:srgbClr val="07865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9" name="release-heading"/>
          <p:cNvSpPr>
            <a:spLocks noGrp="1"/>
          </p:cNvSpPr>
          <p:nvPr/>
        </p:nvSpPr>
        <p:spPr>
          <a:xfrm>
            <a:off x="6400800" y="1371600"/>
            <a:ext cx="523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本次核验版本</a:t>
            </a:r>
            <a:endParaRPr sz="1700" b="1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release-version"/>
          <p:cNvSpPr>
            <a:spLocks noGrp="1"/>
          </p:cNvSpPr>
          <p:nvPr/>
        </p:nvSpPr>
        <p:spPr>
          <a:xfrm>
            <a:off x="6400800" y="1847850"/>
            <a:ext cx="5238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2025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2025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2025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2025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2025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2025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2025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2025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2025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2025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2025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First_accept   b390e8b</a:t>
            </a:r>
            <a:endParaRPr sz="2025" b="1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result-label-0"/>
          <p:cNvSpPr>
            <a:spLocks noGrp="1"/>
          </p:cNvSpPr>
          <p:nvPr/>
        </p:nvSpPr>
        <p:spPr>
          <a:xfrm>
            <a:off x="6400800" y="2524125"/>
            <a:ext cx="1181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复测日期</a:t>
            </a:r>
            <a:endParaRPr sz="1350" b="1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result-value-0"/>
          <p:cNvSpPr>
            <a:spLocks noGrp="1"/>
          </p:cNvSpPr>
          <p:nvPr/>
        </p:nvSpPr>
        <p:spPr>
          <a:xfrm>
            <a:off x="7581900" y="2524125"/>
            <a:ext cx="40576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2026-10-21</a:t>
            </a:r>
            <a:endParaRPr sz="135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result-label-1"/>
          <p:cNvSpPr>
            <a:spLocks noGrp="1"/>
          </p:cNvSpPr>
          <p:nvPr/>
        </p:nvSpPr>
        <p:spPr>
          <a:xfrm>
            <a:off x="6400800" y="3095625"/>
            <a:ext cx="1181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执行方式</a:t>
            </a:r>
            <a:endParaRPr sz="1350" b="1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result-value-1"/>
          <p:cNvSpPr>
            <a:spLocks noGrp="1"/>
          </p:cNvSpPr>
          <p:nvPr/>
        </p:nvSpPr>
        <p:spPr>
          <a:xfrm>
            <a:off x="7581900" y="3095625"/>
            <a:ext cx="40576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JUnit 5，通过 HTTP 检查真实服务</a:t>
            </a:r>
            <a:endParaRPr sz="135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result-label-2"/>
          <p:cNvSpPr>
            <a:spLocks noGrp="1"/>
          </p:cNvSpPr>
          <p:nvPr/>
        </p:nvSpPr>
        <p:spPr>
          <a:xfrm>
            <a:off x="6400800" y="3667125"/>
            <a:ext cx="1181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运行环境</a:t>
            </a:r>
            <a:endParaRPr sz="1350" b="1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result-value-2"/>
          <p:cNvSpPr>
            <a:spLocks noGrp="1"/>
          </p:cNvSpPr>
          <p:nvPr/>
        </p:nvSpPr>
        <p:spPr>
          <a:xfrm>
            <a:off x="7581900" y="3667125"/>
            <a:ext cx="40576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Java 25.0.1，项目编译目标为 Java 17</a:t>
            </a:r>
            <a:endParaRPr sz="135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result-label-3"/>
          <p:cNvSpPr>
            <a:spLocks noGrp="1"/>
          </p:cNvSpPr>
          <p:nvPr/>
        </p:nvSpPr>
        <p:spPr>
          <a:xfrm>
            <a:off x="6400800" y="4238625"/>
            <a:ext cx="1181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测试隔离</a:t>
            </a:r>
            <a:endParaRPr sz="1350" b="1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result-value-3"/>
          <p:cNvSpPr>
            <a:spLocks noGrp="1"/>
          </p:cNvSpPr>
          <p:nvPr/>
        </p:nvSpPr>
        <p:spPr>
          <a:xfrm>
            <a:off x="7581900" y="4238625"/>
            <a:ext cx="40576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临时项目副本、SQLite 与图片目录</a:t>
            </a:r>
            <a:endParaRPr sz="135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result-label-4"/>
          <p:cNvSpPr>
            <a:spLocks noGrp="1"/>
          </p:cNvSpPr>
          <p:nvPr/>
        </p:nvSpPr>
        <p:spPr>
          <a:xfrm>
            <a:off x="6400800" y="4810125"/>
            <a:ext cx="1181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套件耗时</a:t>
            </a:r>
            <a:endParaRPr sz="1350" b="1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result-value-4"/>
          <p:cNvSpPr>
            <a:spLocks noGrp="1"/>
          </p:cNvSpPr>
          <p:nvPr/>
        </p:nvSpPr>
        <p:spPr>
          <a:xfrm>
            <a:off x="7581900" y="4810125"/>
            <a:ext cx="40576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70.29 秒</a:t>
            </a:r>
            <a:endParaRPr sz="135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itle"/>
          <p:cNvSpPr>
            <a:spLocks noGrp="1"/>
          </p:cNvSpPr>
          <p:nvPr/>
        </p:nvSpPr>
        <p:spPr>
          <a:xfrm>
            <a:off x="502920" y="292608"/>
            <a:ext cx="9810750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缺陷迭代：问题、修复与复测</a:t>
            </a:r>
            <a:endParaRPr sz="2600" b="1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section-tag"/>
          <p:cNvSpPr>
            <a:spLocks noGrp="1"/>
          </p:cNvSpPr>
          <p:nvPr/>
        </p:nvSpPr>
        <p:spPr>
          <a:xfrm>
            <a:off x="10607040" y="292608"/>
            <a:ext cx="1097280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r">
              <a:lnSpc>
                <a:spcPct val="113000"/>
              </a:lnSpc>
              <a:buNone/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11-3</a:t>
            </a:r>
            <a:endParaRPr sz="1800" b="1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mplate-accent"/>
          <p:cNvSpPr>
            <a:spLocks noGrp="1"/>
          </p:cNvSpPr>
          <p:nvPr/>
        </p:nvSpPr>
        <p:spPr>
          <a:xfrm>
            <a:off x="502920" y="969264"/>
            <a:ext cx="777240" cy="64008"/>
          </a:xfrm>
          <a:prstGeom prst="rect">
            <a:avLst/>
          </a:prstGeom>
          <a:solidFill>
            <a:srgbClr val="0EA5E9"/>
          </a:solidFill>
          <a:ln w="0">
            <a:noFill/>
            <a:prstDash val="solid"/>
          </a:ln>
        </p:spPr>
      </p:sp>
      <p:sp>
        <p:nvSpPr>
          <p:cNvPr id="5" name="template-footer"/>
          <p:cNvSpPr>
            <a:spLocks noGrp="1"/>
          </p:cNvSpPr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软件工程实践 · 第 2 组 · 在线购物系统</a:t>
            </a:r>
            <a:endParaRPr sz="90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defect-subtitle"/>
          <p:cNvSpPr>
            <a:spLocks noGrp="1"/>
          </p:cNvSpPr>
          <p:nvPr/>
        </p:nvSpPr>
        <p:spPr>
          <a:xfrm>
            <a:off x="502920" y="1188720"/>
            <a:ext cx="112014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为每项问题保留修复前现象和对应回归用例</a:t>
            </a:r>
            <a:endParaRPr sz="1700" b="1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502920" y="1704975"/>
          <a:ext cx="11201400" cy="4210050"/>
        </p:xfrm>
        <a:graphic>
          <a:graphicData uri="http://schemas.openxmlformats.org/drawingml/2006/table">
            <a:tbl>
              <a:tblPr firstRow="1"/>
              <a:tblGrid>
                <a:gridCol w="2133600"/>
                <a:gridCol w="3124200"/>
                <a:gridCol w="3810000"/>
                <a:gridCol w="2133600"/>
              </a:tblGrid>
              <a:tr h="84201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缺陷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>
                      <a:solidFill>
                        <a:srgbClr val="DCE5F0"/>
                      </a:solidFill>
                      <a:prstDash val="soli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>
                      <a:solidFill>
                        <a:srgbClr val="DCE5F0"/>
                      </a:solidFill>
                      <a:prstDash val="soli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122D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原因与修复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>
                      <a:solidFill>
                        <a:srgbClr val="DCE5F0"/>
                      </a:solidFill>
                      <a:prstDash val="soli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122D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最终版复测结果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>
                      <a:solidFill>
                        <a:srgbClr val="DCE5F0"/>
                      </a:solidFill>
                      <a:prstDash val="soli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122D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对应用例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>
                      <a:solidFill>
                        <a:srgbClr val="DCE5F0"/>
                      </a:solidFill>
                      <a:prstDash val="soli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122D4E"/>
                    </a:solidFill>
                  </a:tcPr>
                </a:tc>
              </a:tr>
              <a:tr h="84201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DEF-001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极长价格输入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>
                      <a:solidFill>
                        <a:srgbClr val="DCE5F0"/>
                      </a:solidFill>
                      <a:prstDash val="soli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提前检查输入长度和金额范围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异常输入不进入保存流程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07865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5000 位价格返回 400 JSON</a:t>
                      </a:r>
                      <a:endParaRPr sz="1350">
                        <a:solidFill>
                          <a:srgbClr val="07865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/>
                      <a:r>
                        <a:rPr sz="1350">
                          <a:solidFill>
                            <a:srgbClr val="07865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未新增商品和图片</a:t>
                      </a:r>
                      <a:endParaRPr sz="1350">
                        <a:solidFill>
                          <a:srgbClr val="07865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AT-043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201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DEF-002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自定义目录图片 404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>
                      <a:solidFill>
                        <a:srgbClr val="DCE5F0"/>
                      </a:solidFill>
                      <a:prstDash val="soli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上传与读取统一使用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shopping.upload-dir 配置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07865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图片上传后可以读取</a:t>
                      </a:r>
                      <a:endParaRPr sz="1350">
                        <a:solidFill>
                          <a:srgbClr val="07865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/>
                      <a:r>
                        <a:rPr sz="1350">
                          <a:solidFill>
                            <a:srgbClr val="07865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新应用实例仍可读取</a:t>
                      </a:r>
                      <a:endParaRPr sz="1350">
                        <a:solidFill>
                          <a:srgbClr val="07865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AT-028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AT-068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84201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DEF-003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并发开始交易 500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>
                      <a:solidFill>
                        <a:srgbClr val="DCE5F0"/>
                      </a:solidFill>
                      <a:prstDash val="soli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锁的保护范围延续到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数据库事务提交或回滚完成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07865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并发响应为 200 和 409</a:t>
                      </a:r>
                      <a:endParaRPr sz="1350">
                        <a:solidFill>
                          <a:srgbClr val="07865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/>
                      <a:r>
                        <a:rPr sz="1350">
                          <a:solidFill>
                            <a:srgbClr val="07865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只有一位买家进入交易</a:t>
                      </a:r>
                      <a:endParaRPr sz="1350">
                        <a:solidFill>
                          <a:srgbClr val="07865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AT-075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AT-076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201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DEF-004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旧 ID 迁移失败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>
                      <a:solidFill>
                        <a:srgbClr val="DCE5F0"/>
                      </a:solidFill>
                      <a:prstDash val="soli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按原 ID 执行参数化插入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保留历史记录与状态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07865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商品 ID 41、意向 ID 73 保留</a:t>
                      </a:r>
                      <a:endParaRPr sz="1350">
                        <a:solidFill>
                          <a:srgbClr val="07865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/>
                      <a:r>
                        <a:rPr sz="1350">
                          <a:solidFill>
                            <a:srgbClr val="07865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口令与原 JSON 文件仍存在</a:t>
                      </a:r>
                      <a:endParaRPr sz="1350">
                        <a:solidFill>
                          <a:srgbClr val="07865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AT-069～071</a:t>
                      </a:r>
                      <a:endParaRPr sz="1350">
                        <a:solidFill>
                          <a:srgbClr val="1F29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95250" marT="66675" marB="66675" anchor="ctr">
                    <a:lnL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8" name="defect-baseline-note"/>
          <p:cNvSpPr>
            <a:spLocks noGrp="1"/>
          </p:cNvSpPr>
          <p:nvPr/>
        </p:nvSpPr>
        <p:spPr>
          <a:xfrm>
            <a:off x="502920" y="6019800"/>
            <a:ext cx="11201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DEF-001 为旧版价格问题的回归，DEF-002～004 为 Java 版缺陷修复记录。</a:t>
            </a:r>
            <a:endParaRPr sz="120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itle"/>
          <p:cNvSpPr>
            <a:spLocks noGrp="1"/>
          </p:cNvSpPr>
          <p:nvPr/>
        </p:nvSpPr>
        <p:spPr>
          <a:xfrm>
            <a:off x="502920" y="292608"/>
            <a:ext cx="9810750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6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浏览器自动化：17 项网页检查</a:t>
            </a:r>
            <a:endParaRPr sz="2600" b="1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section-tag"/>
          <p:cNvSpPr>
            <a:spLocks noGrp="1"/>
          </p:cNvSpPr>
          <p:nvPr/>
        </p:nvSpPr>
        <p:spPr>
          <a:xfrm>
            <a:off x="10607040" y="292608"/>
            <a:ext cx="1097280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r"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r">
              <a:lnSpc>
                <a:spcPct val="113000"/>
              </a:lnSpc>
              <a:buNone/>
              <a:def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11-4</a:t>
            </a:r>
            <a:endParaRPr sz="1800" b="1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mplate-accent"/>
          <p:cNvSpPr>
            <a:spLocks noGrp="1"/>
          </p:cNvSpPr>
          <p:nvPr/>
        </p:nvSpPr>
        <p:spPr>
          <a:xfrm>
            <a:off x="502920" y="969264"/>
            <a:ext cx="777240" cy="64008"/>
          </a:xfrm>
          <a:prstGeom prst="rect">
            <a:avLst/>
          </a:prstGeom>
          <a:solidFill>
            <a:srgbClr val="0EA5E9"/>
          </a:solidFill>
          <a:ln w="0">
            <a:noFill/>
            <a:prstDash val="solid"/>
          </a:ln>
        </p:spPr>
      </p:sp>
      <p:sp>
        <p:nvSpPr>
          <p:cNvPr id="5" name="template-footer"/>
          <p:cNvSpPr>
            <a:spLocks noGrp="1"/>
          </p:cNvSpPr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9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软件工程实践 · 第 2 组 · 在线购物系统</a:t>
            </a:r>
            <a:endParaRPr sz="90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browser-intro"/>
          <p:cNvSpPr>
            <a:spLocks noGrp="1"/>
          </p:cNvSpPr>
          <p:nvPr/>
        </p:nvSpPr>
        <p:spPr>
          <a:xfrm>
            <a:off x="502920" y="1188720"/>
            <a:ext cx="112014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0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Java Selenium 自动驱动 Edge，填写表单并核对页面结果</a:t>
            </a:r>
            <a:endParaRPr sz="1700" b="1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73578"/>
            <a:ext cx="7429500" cy="3882344"/>
          </a:xfrm>
          <a:prstGeom prst="rect">
            <a:avLst/>
          </a:prstGeom>
        </p:spPr>
      </p:pic>
      <p:sp>
        <p:nvSpPr>
          <p:cNvPr id="8" name="browser-result"/>
          <p:cNvSpPr>
            <a:spLocks noGrp="1"/>
          </p:cNvSpPr>
          <p:nvPr/>
        </p:nvSpPr>
        <p:spPr>
          <a:xfrm>
            <a:off x="8229600" y="1657350"/>
            <a:ext cx="342900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3525" b="1">
                <a:solidFill>
                  <a:srgbClr val="0786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3525" b="1">
                <a:solidFill>
                  <a:srgbClr val="0786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3525" b="1">
                <a:solidFill>
                  <a:srgbClr val="0786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3525" b="1">
                <a:solidFill>
                  <a:srgbClr val="0786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3525" b="1">
                <a:solidFill>
                  <a:srgbClr val="0786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3525" b="1">
                <a:solidFill>
                  <a:srgbClr val="0786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3525" b="1">
                <a:solidFill>
                  <a:srgbClr val="0786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3525" b="1">
                <a:solidFill>
                  <a:srgbClr val="0786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3525" b="1">
                <a:solidFill>
                  <a:srgbClr val="0786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3525" b="1">
                <a:solidFill>
                  <a:srgbClr val="0786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3525" b="1">
                <a:solidFill>
                  <a:srgbClr val="0786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525" b="1">
                <a:solidFill>
                  <a:srgbClr val="0786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17 / 17</a:t>
            </a:r>
            <a:endParaRPr sz="3525" b="1">
              <a:solidFill>
                <a:srgbClr val="07865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browser-result-label"/>
          <p:cNvSpPr>
            <a:spLocks noGrp="1"/>
          </p:cNvSpPr>
          <p:nvPr/>
        </p:nvSpPr>
        <p:spPr>
          <a:xfrm>
            <a:off x="8229600" y="2352675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6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6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6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6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6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6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6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6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6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6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6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50" b="1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网页检查通过</a:t>
            </a:r>
            <a:endParaRPr sz="1650" b="1">
              <a:solidFill>
                <a:srgbClr val="122D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browser-flow-0"/>
          <p:cNvSpPr>
            <a:spLocks noGrp="1"/>
          </p:cNvSpPr>
          <p:nvPr/>
        </p:nvSpPr>
        <p:spPr>
          <a:xfrm>
            <a:off x="8229600" y="2895600"/>
            <a:ext cx="3429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登录与错误密码</a:t>
            </a:r>
            <a:endParaRPr sz="135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browser-flow-1"/>
          <p:cNvSpPr>
            <a:spLocks noGrp="1"/>
          </p:cNvSpPr>
          <p:nvPr/>
        </p:nvSpPr>
        <p:spPr>
          <a:xfrm>
            <a:off x="8229600" y="3362325"/>
            <a:ext cx="3429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商品发布与图片加载</a:t>
            </a:r>
            <a:endParaRPr sz="135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browser-flow-2"/>
          <p:cNvSpPr>
            <a:spLocks noGrp="1"/>
          </p:cNvSpPr>
          <p:nvPr/>
        </p:nvSpPr>
        <p:spPr>
          <a:xfrm>
            <a:off x="8229600" y="3829050"/>
            <a:ext cx="3429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意向提交、口令查询与修改</a:t>
            </a:r>
            <a:endParaRPr sz="135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browser-flow-3"/>
          <p:cNvSpPr>
            <a:spLocks noGrp="1"/>
          </p:cNvSpPr>
          <p:nvPr/>
        </p:nvSpPr>
        <p:spPr>
          <a:xfrm>
            <a:off x="8229600" y="4295775"/>
            <a:ext cx="3429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 冻结、恢复与交易状态</a:t>
            </a:r>
            <a:endParaRPr sz="135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browser-flow-4"/>
          <p:cNvSpPr>
            <a:spLocks noGrp="1"/>
          </p:cNvSpPr>
          <p:nvPr/>
        </p:nvSpPr>
        <p:spPr>
          <a:xfrm>
            <a:off x="8229600" y="4762500"/>
            <a:ext cx="3429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 撤销递补与成交归档</a:t>
            </a:r>
            <a:endParaRPr sz="135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browser-evidence-caption"/>
          <p:cNvSpPr>
            <a:spLocks noGrp="1"/>
          </p:cNvSpPr>
          <p:nvPr/>
        </p:nvSpPr>
        <p:spPr>
          <a:xfrm>
            <a:off x="502920" y="571500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sz="120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browser-version-note"/>
          <p:cNvSpPr>
            <a:spLocks noGrp="1"/>
          </p:cNvSpPr>
          <p:nvPr/>
        </p:nvSpPr>
        <p:spPr>
          <a:xfrm>
            <a:off x="502920" y="6048375"/>
            <a:ext cx="112014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def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algn="l"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l">
              <a:lnSpc>
                <a:spcPct val="113000"/>
              </a:lnSpc>
              <a:buNone/>
              <a:def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图示为 2026-10-15 的 v4 网页录屏验证，独立于最终版 84 项接口复测。</a:t>
            </a:r>
            <a:endParaRPr sz="120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范君豪：打包部署（Docker 容器化）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607040" y="292608"/>
            <a:ext cx="1097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777240" cy="64008"/>
          </a:xfrm>
          <a:prstGeom prst="rect">
            <a:avLst/>
          </a:prstGeom>
          <a:solidFill>
            <a:srgbClr val="0EA5E9"/>
          </a:solidFill>
        </p:spPr>
        <p:txBody>
          <a:bodyPr/>
          <a:lstStyle/>
          <a:p/>
        </p:txBody>
      </p:sp>
      <p:sp>
        <p:nvSpPr>
          <p:cNvPr id="5" name="Text 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软件工程实践 · 第 2 组 · 在线购物系统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个人负责内容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6949440" cy="731520"/>
          </a:xfrm>
          <a:prstGeom prst="roundRect">
            <a:avLst>
              <a:gd name="adj" fmla="val 6250"/>
            </a:avLst>
          </a:prstGeom>
          <a:solidFill>
            <a:srgbClr val="F1F5F9"/>
          </a:solidFill>
        </p:spPr>
        <p:txBody>
          <a:bodyPr/>
          <a:lstStyle/>
          <a:p/>
        </p:txBody>
      </p:sp>
      <p:sp>
        <p:nvSpPr>
          <p:cNvPr id="8" name="Text 6"/>
          <p:cNvSpPr/>
          <p:nvPr/>
        </p:nvSpPr>
        <p:spPr>
          <a:xfrm>
            <a:off x="731520" y="1691640"/>
            <a:ext cx="6537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sz="1300">
                <a:solidFill>
                  <a:srgbClr val="1F2937"/>
                </a:solidFill>
                <a:latin typeface="微软雅黑" panose="020B0503020204020204" pitchFamily="34" charset="-122"/>
              </a:rPr>
              <a:t>① 补齐构建配置（Dockerfile），编写 docker-compose.yml 容器化运行系统；</a:t>
            </a:r>
            <a:endParaRPr sz="1300">
              <a:solidFill>
                <a:srgbClr val="1F2937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6949440" cy="731520"/>
          </a:xfrm>
          <a:prstGeom prst="roundRect">
            <a:avLst>
              <a:gd name="adj" fmla="val 6250"/>
            </a:avLst>
          </a:prstGeom>
          <a:solidFill>
            <a:srgbClr val="F1F5F9"/>
          </a:solidFill>
        </p:spPr>
        <p:txBody>
          <a:bodyPr/>
          <a:lstStyle/>
          <a:p/>
        </p:txBody>
      </p:sp>
      <p:sp>
        <p:nvSpPr>
          <p:cNvPr id="10" name="Text 8"/>
          <p:cNvSpPr/>
          <p:nvPr/>
        </p:nvSpPr>
        <p:spPr>
          <a:xfrm>
            <a:off x="731520" y="2560320"/>
            <a:ext cx="6537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sz="1300">
                <a:latin typeface="微软雅黑" panose="020B0503020204020204" pitchFamily="34" charset="-122"/>
              </a:rPr>
              <a:t>② 构建并导出 Docker 镜像包 shopping-system.tar，发布至 Docker Hub 仓库 1.0.0 版本；</a:t>
            </a:r>
            <a:endParaRPr sz="1300">
              <a:latin typeface="微软雅黑" panose="020B0503020204020204" pitchFamily="34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02920" y="3429000"/>
            <a:ext cx="6949440" cy="731520"/>
          </a:xfrm>
          <a:prstGeom prst="roundRect">
            <a:avLst>
              <a:gd name="adj" fmla="val 6250"/>
            </a:avLst>
          </a:prstGeom>
          <a:solidFill>
            <a:srgbClr val="F1F5F9"/>
          </a:solidFill>
        </p:spPr>
        <p:txBody>
          <a:bodyPr/>
          <a:lstStyle/>
          <a:p/>
        </p:txBody>
      </p:sp>
      <p:sp>
        <p:nvSpPr>
          <p:cNvPr id="12" name="Text 10"/>
          <p:cNvSpPr/>
          <p:nvPr/>
        </p:nvSpPr>
        <p:spPr>
          <a:xfrm>
            <a:off x="731520" y="3429000"/>
            <a:ext cx="6537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sz="1300">
                <a:solidFill>
                  <a:srgbClr val="1F2937"/>
                </a:solidFill>
                <a:latin typeface="微软雅黑" panose="020B0503020204020204" pitchFamily="34" charset="-122"/>
              </a:rPr>
              <a:t>③ 编写安装部署手册与一键启动脚本 run.sh / run.ps1。</a:t>
            </a:r>
            <a:endParaRPr sz="1300">
              <a:solidFill>
                <a:srgbClr val="1F293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72400" y="1188720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D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本页成果物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0" y="1691640"/>
            <a:ext cx="3913632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Shape 17"/>
          <p:cNvSpPr/>
          <p:nvPr/>
        </p:nvSpPr>
        <p:spPr>
          <a:xfrm>
            <a:off x="7772400" y="1801368"/>
            <a:ext cx="64008" cy="2980944"/>
          </a:xfrm>
          <a:prstGeom prst="rect">
            <a:avLst/>
          </a:prstGeom>
          <a:solidFill>
            <a:srgbClr val="0EA5E9"/>
          </a:solidFill>
        </p:spPr>
        <p:txBody>
          <a:bodyPr/>
          <a:lstStyle/>
          <a:p/>
        </p:txBody>
      </p:sp>
      <p:sp>
        <p:nvSpPr>
          <p:cNvPr id="20" name="Text 18"/>
          <p:cNvSpPr/>
          <p:nvPr/>
        </p:nvSpPr>
        <p:spPr>
          <a:xfrm>
            <a:off x="8001000" y="1874520"/>
            <a:ext cx="3520440" cy="3108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deploy/ 目录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Dockerfile · docker-compose.yml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shopping-system.tar · 部署手册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run.sh / run.ps1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Docker 镜像仓库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junhaofam/shopping-system:1.0.0</a:t>
            </a:r>
            <a:endParaRPr lang="en-US" sz="1300" dirty="0"/>
          </a:p>
        </p:txBody>
      </p:sp>
      <p:sp>
        <p:nvSpPr>
          <p:cNvPr id="21" name="Rounded Rectangle 20"/>
          <p:cNvSpPr/>
          <p:nvPr/>
        </p:nvSpPr>
        <p:spPr>
          <a:xfrm>
            <a:off x="502920" y="4572000"/>
            <a:ext cx="23774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22D4E"/>
                </a:solidFill>
                <a:latin typeface="微软雅黑" panose="020B0503020204020204" pitchFamily="34" charset="-122"/>
              </a:rPr>
              <a:t>Maven 构建 jar</a:t>
            </a:r>
            <a:endParaRPr sz="1400" b="1">
              <a:solidFill>
                <a:srgbClr val="122D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98648" y="4572000"/>
            <a:ext cx="512064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微软雅黑" panose="020B0503020204020204" pitchFamily="34" charset="-122"/>
              </a:rPr>
              <a:t>→</a:t>
            </a:r>
            <a:endParaRPr sz="2000" b="1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429000" y="4572000"/>
            <a:ext cx="23774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22D4E"/>
                </a:solidFill>
                <a:latin typeface="微软雅黑" panose="020B0503020204020204" pitchFamily="34" charset="-122"/>
              </a:rPr>
              <a:t>Dockerfile 打包镜像</a:t>
            </a:r>
            <a:endParaRPr sz="1400" b="1">
              <a:solidFill>
                <a:srgbClr val="122D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824728" y="4572000"/>
            <a:ext cx="512064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微软雅黑" panose="020B0503020204020204" pitchFamily="34" charset="-122"/>
              </a:rPr>
              <a:t>→</a:t>
            </a:r>
            <a:endParaRPr sz="2000" b="1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355080" y="4572000"/>
            <a:ext cx="23774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22D4E"/>
                </a:solidFill>
                <a:latin typeface="微软雅黑" panose="020B0503020204020204" pitchFamily="34" charset="-122"/>
              </a:rPr>
              <a:t>导出 shopping-system.tar</a:t>
            </a:r>
            <a:endParaRPr sz="1400" b="1">
              <a:solidFill>
                <a:srgbClr val="122D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750808" y="4572000"/>
            <a:ext cx="512064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微软雅黑" panose="020B0503020204020204" pitchFamily="34" charset="-122"/>
              </a:rPr>
              <a:t>→</a:t>
            </a:r>
            <a:endParaRPr sz="2000" b="1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281160" y="4572000"/>
            <a:ext cx="2377440" cy="914400"/>
          </a:xfrm>
          <a:prstGeom prst="roundRect">
            <a:avLst/>
          </a:prstGeom>
          <a:solidFill>
            <a:srgbClr val="10895E"/>
          </a:solidFill>
          <a:ln w="19050">
            <a:solidFill>
              <a:srgbClr val="108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pitchFamily="34" charset="-122"/>
              </a:rPr>
              <a:t>docker compose up</a:t>
            </a:r>
            <a:endParaRPr sz="14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7139</Words>
  <Application>WPS 演示</Application>
  <PresentationFormat>宽屏</PresentationFormat>
  <Paragraphs>859</Paragraphs>
  <Slides>22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宋体</vt:lpstr>
      <vt:lpstr>Consolas</vt:lpstr>
      <vt:lpstr>Consolas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WPS_1726206318</cp:lastModifiedBy>
  <cp:revision>9</cp:revision>
  <dcterms:created xsi:type="dcterms:W3CDTF">2026-10-21T11:20:00Z</dcterms:created>
  <dcterms:modified xsi:type="dcterms:W3CDTF">2026-10-21T16:03:45Z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C1938078ECE14D869A029024800887C3_13</vt:lpwstr>
  </property>
  <property fmtid="{D5CDD505-2E9C-101B-9397-08002B2CF9AE}" pid="3" name="KSOProductBuildVer">
    <vt:lpwstr>2052-12.1.0.29161</vt:lpwstr>
  </property>
</Properties>
</file>